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01/12 · 01 · Cover: the sealed crystal</a:t>
            </a:r>
          </a:p>
          <a:p/>
          <a:p>
            <a:r>
              <a:t>VISUAL SCRIPT</a:t>
            </a:r>
          </a:p>
          <a:p>
            <a:r>
              <a:t>Setting. Deep indigo night, brightest behind the hero object and almost black in the corners. A soft violet halo sits behind the crystal and seems to breathe.</a:t>
            </a:r>
          </a:p>
          <a:p/>
          <a:p>
            <a:r>
              <a:t>Hero object: the Sealed Crystal. A 3×3×3 cube of glass blocks floats right of centre, drawn in the same isometric language as the website hero. Most blocks are sealed indigo. Three at the top-left are clear, misty glass: empty slots in a record that has only just started. At the front corner three blocks have been lifted out and the cavity glows white-violet: the blocks inside are opened and verified. One luminous block hovers above the crystal, one sealed block drifts off to the right, and two dark hardware panels float at the edges like the plates of an exploded device.</a:t>
            </a:r>
          </a:p>
          <a:p/>
          <a:p>
            <a:r>
              <a:t>Orbits. A dashed violet ring and a fainter lavender ring circle the crystal on an invisible floor. Specks of lavender dust hang in the air.</a:t>
            </a:r>
          </a:p>
          <a:p/>
          <a:p>
            <a:r>
              <a:t>Type. FABIUS in giant bold white, left. Under it the hook in two weights: Signals sealed light, before the outcome. bold italic violet. Then the one-line tagline, three status chips, and the live URL.</a:t>
            </a:r>
          </a:p>
          <a:p/>
          <a:p>
            <a:r>
              <a:t>Live line. Bottom right, small mono: LIVE FROM CHAIN 97 · #135,379,370. It reads like a heartbeat. This deck is a window onto a running system, not a mock-up.</a:t>
            </a:r>
          </a:p>
          <a:p/>
          <a:p>
            <a:r>
              <a:t>Feeling. Calm, expensive, a little ominous: a vault that has just opened one door.</a:t>
            </a:r>
          </a:p>
          <a:p/>
          <a:p>
            <a:r>
              <a:t>NARRATION</a:t>
            </a:r>
          </a:p>
          <a:p>
            <a:r>
              <a:t>[Slow. Let the crystal sit on screen for a second.]</a:t>
            </a:r>
          </a:p>
          <a:p/>
          <a:p>
            <a:r>
              <a:t>Most trading bots show you their results after the market has spoken.</a:t>
            </a:r>
          </a:p>
          <a:p/>
          <a:p>
            <a:r>
              <a:t>Fabius is built the other way around. A decision is sealed on BNB Chain before the outcome exists, and anyone can check it with no key and no gas.</a:t>
            </a:r>
          </a:p>
          <a:p/>
          <a:p>
            <a:r>
              <a:t>This is the open platform where bots and AI agents bring their signals, prove them, and, once the proof exists, sell them one call at a time.</a:t>
            </a:r>
          </a:p>
          <a:p/>
          <a:p>
            <a:r>
              <a:t>[Beat.] Let me show you how it works, and where the honest limits are.</a:t>
            </a:r>
          </a:p>
          <a:p/>
          <a:p>
            <a:r>
              <a:t>SOURCES (vault)</a:t>
            </a:r>
          </a:p>
          <a:p>
            <a:r>
              <a:t>01 - Claims Cheat Sheet</a:t>
            </a:r>
          </a:p>
          <a:p>
            <a:r>
              <a:t>01 - Claims and Limits</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02/12 · 02 · The problem: every track record is written after the move</a:t>
            </a:r>
          </a:p>
          <a:p/>
          <a:p>
            <a:r>
              <a:t>VISUAL SCRIPT</a:t>
            </a:r>
          </a:p>
          <a:p>
            <a:r>
              <a:t>Setting. The only light slide in the first half, on purpose: pale lavender, bright, flat and a little hollow. This is the world of claims. It looks clean, and that is the trick.</a:t>
            </a:r>
          </a:p>
          <a:p/>
          <a:p>
            <a:r>
              <a:t>Left. The headline in light weight with one word in bold violet italic: after. Two calm lines of lead copy. At the bottom, one bold sentence that lands the point.</a:t>
            </a:r>
          </a:p>
          <a:p/>
          <a:p>
            <a:r>
              <a:t>Right, top: the screenshot. A frosted-glass card, the kind of thing a signal seller posts. Inside it, a smooth violet line climbs from bottom-left to top-right with a glowing dot at the end. No axes, no numbers, on purpose: it is a picture of a promise, and the caption under it says so (screenshot · posted after the fact). A small dashed chip in the corner reads AFTER THE MOVE.</a:t>
            </a:r>
          </a:p>
          <a:p/>
          <a:p>
            <a:r>
              <a:t>Right, bottom: the holes. Three stacked rows, each a glass card with a dashed red outline and a cracked, empty glass block as its icon. Red appears here because the Fabius visual system reserves red for holes and only holes: deleted signals, edited rules, back-dated calls.</a:t>
            </a:r>
          </a:p>
          <a:p/>
          <a:p>
            <a:r>
              <a:t>Feeling. Reassuring on the surface, uneasy once you read the three rows.</a:t>
            </a:r>
          </a:p>
          <a:p/>
          <a:p>
            <a:r>
              <a:t>NARRATION</a:t>
            </a:r>
          </a:p>
          <a:p>
            <a:r>
              <a:t>Look at any signal seller's page. You will see a chart that only goes up. A screenshot of profit. A backtest with no trading costs.</a:t>
            </a:r>
          </a:p>
          <a:p/>
          <a:p>
            <a:r>
              <a:t>Now look at what you cannot see. Which calls were deleted the moment they lost? Which rule was rewritten to fit the data? Which prediction was posted after the candle had already closed?</a:t>
            </a:r>
          </a:p>
          <a:p/>
          <a:p>
            <a:r>
              <a:t>A buyer can check none of it. That is the real problem. It is not that there are too few bots. It is that nobody can prove a bot was honest.</a:t>
            </a:r>
          </a:p>
          <a:p/>
          <a:p>
            <a:r>
              <a:t>SOURCES (vault)</a:t>
            </a:r>
          </a:p>
          <a:p>
            <a:r>
              <a:t>02 - Project Detail</a:t>
            </a:r>
          </a:p>
          <a:p>
            <a:r>
              <a:t>01 - Briefing</a:t>
            </a:r>
          </a:p>
          <a:p>
            <a:r>
              <a:t>01 - Claims and Limits</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03/12 · 03 · The gap: money moves, proof doesn't</a:t>
            </a:r>
          </a:p>
          <a:p/>
          <a:p>
            <a:r>
              <a:t>VISUAL SCRIPT</a:t>
            </a:r>
          </a:p>
          <a:p>
            <a:r>
              <a:t>Setting. Still the pale lavender world of claims, now wide and horizontal.</a:t>
            </a:r>
          </a:p>
          <a:p/>
          <a:p>
            <a:r>
              <a:t>The bridge. Two dark towers stand at the far left and far right: two agents. Between them runs a bridge of seven pale glass spans. The fourth span is missing: only a dashed red outline of it remains, a hole in the middle of the crossing.</a:t>
            </a:r>
          </a:p>
          <a:p/>
          <a:p>
            <a:r>
              <a:t>Two lines of travel. A violet arc leaves a glowing coin marked 402 on the left tower and sails over the whole bridge to the right tower: payment passes. Under it a thin dashed red line follows the deck of the bridge, reaches the missing span, bends down and ends in a small red ✕: the proof falls through. Under the gap, three red mono questions: WHEN? · WHAT? · UNCHANGED?</a:t>
            </a:r>
          </a:p>
          <a:p/>
          <a:p>
            <a:r>
              <a:t>Below. Three quiet glass cards, one per pressure on the problem: supply, hindsight, rails.</a:t>
            </a:r>
          </a:p>
          <a:p/>
          <a:p>
            <a:r>
              <a:t>Feeling. The audience should feel the missing piece before they read a word.</a:t>
            </a:r>
          </a:p>
          <a:p/>
          <a:p>
            <a:r>
              <a:t>NARRATION</a:t>
            </a:r>
          </a:p>
          <a:p>
            <a:r>
              <a:t>Now add AI agents. Anyone can launch a bot in an afternoon. A language model can explain any call, convincingly, after the fact. And a new payment rail, x402, lets software pay software over plain HTTP.</a:t>
            </a:r>
          </a:p>
          <a:p/>
          <a:p>
            <a:r>
              <a:t>So the money can move. We have done it ourselves on BNB testnet: an agent with zero BNB in its wallet paid another agent.</a:t>
            </a:r>
          </a:p>
          <a:p/>
          <a:p>
            <a:r>
              <a:t>What cannot move is the proof. When was this signal made? What exactly was decided? Did anyone change it? A payment without provenance is a leap of faith at machine speed.</a:t>
            </a:r>
          </a:p>
          <a:p/>
          <a:p>
            <a:r>
              <a:t>SOURCES (vault)</a:t>
            </a:r>
          </a:p>
          <a:p>
            <a:r>
              <a:t>02 - x402 Payment</a:t>
            </a:r>
          </a:p>
          <a:p>
            <a:r>
              <a:t>02 - Business Process</a:t>
            </a:r>
          </a:p>
          <a:p>
            <a:r>
              <a:t>01 - Claims and Limits</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04/12 · 04 · The idea: commit first, prove later</a:t>
            </a:r>
          </a:p>
          <a:p/>
          <a:p>
            <a:r>
              <a:t>VISUAL SCRIPT</a:t>
            </a:r>
          </a:p>
          <a:p>
            <a:r>
              <a:t>Setting. The switch. The slide goes back to night and the palette flips from hollow to glowing: this is the moment the deck turns from problem to answer.</a:t>
            </a:r>
          </a:p>
          <a:p/>
          <a:p>
            <a:r>
              <a:t>Left. The headline at poster size: Commit first. in light weight, Prove later. in bold italic violet. Under it one calm sentence of lead copy.</a:t>
            </a:r>
          </a:p>
          <a:p/>
          <a:p>
            <a:r>
              <a:t>Right: a timeline of three objects on one horizontal axis. On the left a deep indigo cube with a small white seal slab resting on top: the decision, sealed. In the middle a tall, thin wall of white-violet light: the bar closing, the line nothing can cross. On the right a clear, misty, empty cube: the outcome, not known yet. A thin lavender axis with an arrowhead runs beneath all three, with glowing nodes and labels: DECISION, BAR CLOSES, OUTCOME.</a:t>
            </a:r>
          </a:p>
          <a:p/>
          <a:p>
            <a:r>
              <a:t>Below. Three glass cards, the three rules of the idea. Then one closing line.</a:t>
            </a:r>
          </a:p>
          <a:p/>
          <a:p>
            <a:r>
              <a:t>Feeling. Quiet certainty. The sealed cube is on the left of the wall, always.</a:t>
            </a:r>
          </a:p>
          <a:p/>
          <a:p>
            <a:r>
              <a:t>NARRATION</a:t>
            </a:r>
          </a:p>
          <a:p>
            <a:r>
              <a:t>So we flip the order.</a:t>
            </a:r>
          </a:p>
          <a:p/>
          <a:p>
            <a:r>
              <a:t>First, each bot's rule is hashed and locked on BNB Chain. The bot is not allowed to commit a single signal before that lock exists.</a:t>
            </a:r>
          </a:p>
          <a:p/>
          <a:p>
            <a:r>
              <a:t>Then, every day, the bot's signals are folded into one Merkle root and committed to the SignalAnchor contract. The block time is the alibi. Only after that does the market answer.</a:t>
            </a:r>
          </a:p>
          <a:p/>
          <a:p>
            <a:r>
              <a:t>I want to be precise about what this proves. It does not prove a signal was profitable. It proves the one thing a seller cannot fake: that the call came first.</a:t>
            </a:r>
          </a:p>
          <a:p/>
          <a:p>
            <a:r>
              <a:t>SOURCES (vault)</a:t>
            </a:r>
          </a:p>
          <a:p>
            <a:r>
              <a:t>C7 - SignalAnchor</a:t>
            </a:r>
          </a:p>
          <a:p>
            <a:r>
              <a:t>C6 - LockRegistry</a:t>
            </a:r>
          </a:p>
          <a:p>
            <a:r>
              <a:t>Anchored Before Outcome</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05/12 · 05 · The proof engine: from candle close to proof</a:t>
            </a:r>
          </a:p>
          <a:p/>
          <a:p>
            <a:r>
              <a:t>VISUAL SCRIPT</a:t>
            </a:r>
          </a:p>
          <a:p>
            <a:r>
              <a:t>Setting. Night. A wide, faint violet halo lies along a horizontal rail across the middle of the slide.</a:t>
            </a:r>
          </a:p>
          <a:p/>
          <a:p>
            <a:r>
              <a:t>The rail. One glowing lavender rail with an arrowhead, five round nodes on it. Above each node sits one isometric block, and the block changes state station by station, using the three states of the Fabius block language:</a:t>
            </a:r>
          </a:p>
          <a:p/>
          <a:p>
            <a:r>
              <a:t>1. The bar closes. A clear, misty glass cube: an empty slot, nothing in it yet.</a:t>
            </a:r>
          </a:p>
          <a:p>
            <a:r>
              <a:t>2. The bot decides. The cube turns deep indigo: a decision exists, sealed.</a:t>
            </a:r>
          </a:p>
          <a:p>
            <a:r>
              <a:t>3. Sealed. The same indigo cube with a small white seal slab floating on top: signals folded into one Merkle root.</a:t>
            </a:r>
          </a:p>
          <a:p>
            <a:r>
              <a:t>4. Committed on BNB Chain. The sealed cube now rests on two dark chain slabs: it has landed in a block.</a:t>
            </a:r>
          </a:p>
          <a:p>
            <a:r>
              <a:t>5. Opened and checked. The cube is white-violet and glowing: revealed, recomputed, verified.</a:t>
            </a:r>
          </a:p>
          <a:p/>
          <a:p>
            <a:r>
              <a:t>Step 0. A wide violet pill above the rail, left: Step 0 · rules locked on-chain first. It comes before the first node, because the lock comes before the first signal.</a:t>
            </a:r>
          </a:p>
          <a:p/>
          <a:p>
            <a:r>
              <a:t>Under each node. A mono time label (00:00 UTC, + seconds, + minutes, ≤ 12 h, after), a bold title, two short lines of copy, and the contract that does the work in small mono type.</a:t>
            </a:r>
          </a:p>
          <a:p/>
          <a:p>
            <a:r>
              <a:t>Bottom strip. A glass bar holding the verification command in mono and three chips: NO KEY, NO GAS, SAH = recomputes exactly.</a:t>
            </a:r>
          </a:p>
          <a:p/>
          <a:p>
            <a:r>
              <a:t>Feeling. A factory line where every station has a window.</a:t>
            </a:r>
          </a:p>
          <a:p/>
          <a:p>
            <a:r>
              <a:t>NARRATION</a:t>
            </a:r>
          </a:p>
          <a:p>
            <a:r>
              <a:t>Here is the whole machine, one signal at a time.</a:t>
            </a:r>
          </a:p>
          <a:p/>
          <a:p>
            <a:r>
              <a:t>Before anything else, the bot's rule is locked on-chain. Then the daily bar closes at midnight UTC, and from that moment nothing new can enter the signal.</a:t>
            </a:r>
          </a:p>
          <a:p/>
          <a:p>
            <a:r>
              <a:t>The bot decides. Its signals are salted and folded into a single Merkle root, and that root is committed to the SignalAnchor contract. The contract accepts it only within twelve hours of the close, and rejects anything late. So far our commits have landed 8.7 to 11.2 hours after the close.</a:t>
            </a:r>
          </a:p>
          <a:p/>
          <a:p>
            <a:r>
              <a:t>Then the payloads are opened, and anyone can recompute them from public price bars. One command, no key, no gas. If it matches, the verdict is SAH: it recomputes exactly.</a:t>
            </a:r>
          </a:p>
          <a:p/>
          <a:p>
            <a:r>
              <a:t>SOURCES (vault)</a:t>
            </a:r>
          </a:p>
          <a:p>
            <a:r>
              <a:t>C7 - SignalAnchor</a:t>
            </a:r>
          </a:p>
          <a:p>
            <a:r>
              <a:t>C6 - LockRegistry</a:t>
            </a:r>
          </a:p>
          <a:p>
            <a:r>
              <a:t>TL20 - server MCP</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06/12 · 06 · The open platform: bring your bot, bring your agent</a:t>
            </a:r>
          </a:p>
          <a:p/>
          <a:p>
            <a:r>
              <a:t>VISUAL SCRIPT</a:t>
            </a:r>
          </a:p>
          <a:p>
            <a:r>
              <a:t>Setting. Night, a long soft glow behind a row of four tall doors.</a:t>
            </a:r>
          </a:p>
          <a:p/>
          <a:p>
            <a:r>
              <a:t>The doors. Four glass cards side by side, each with an arched glass portal at the top-left. The three live doors have a glowing violet rim and a halo, with a bright block stepping through; the fourth is drawn with a dashed outline and a clear, empty block: not open yet. Each card carries a mono kind label (RULE, FEED, AGENT, CODE), a bold title, three lines of plain copy, and a chip: LIVE ×3, NEXT ×1.</a:t>
            </a:r>
          </a:p>
          <a:p/>
          <a:p>
            <a:r>
              <a:t>The shared corridor. Beneath the doors a single line of four rounded stations joined by small violet arrows: RECEIVED, GATES G1–G11, FORWARD SHADOW, SLOT. Everything that enters passes the same four stations, ours included.</a:t>
            </a:r>
          </a:p>
          <a:p/>
          <a:p>
            <a:r>
              <a:t>Feeling. An invitation with a very clear standard on the other side of the door.</a:t>
            </a:r>
          </a:p>
          <a:p/>
          <a:p>
            <a:r>
              <a:t>NARRATION</a:t>
            </a:r>
          </a:p>
          <a:p>
            <a:r>
              <a:t>Fabius is not a closed fund with a clever bot. It is a place where other people's bots and agents can compete in public.</a:t>
            </a:r>
          </a:p>
          <a:p/>
          <a:p>
            <a:r>
              <a:t>There are four doors. Compose a rule from our vocabulary and our engine runs it. Run your own program and commit signed target weights before each daily close. Register an AI agent for the desk. And soon, ship private code into a sandbox.</a:t>
            </a:r>
          </a:p>
          <a:p/>
          <a:p>
            <a:r>
              <a:t>Whatever comes through goes down the same corridor: received, put through the same eleven public gates that judge our own bots, then a sixty-day forward shadow, then a slot, one of ten.</a:t>
            </a:r>
          </a:p>
          <a:p/>
          <a:p>
            <a:r>
              <a:t>I will be straight with you: no third party has submitted yet. The only visitor so far is our own test agent, which we walked through the agent door end to end: registered, seated on trial, first answer accepted. The platform is open. The first outside seat is still yours.</a:t>
            </a:r>
          </a:p>
          <a:p/>
          <a:p>
            <a:r>
              <a:t>SOURCES (vault)</a:t>
            </a:r>
          </a:p>
          <a:p>
            <a:r>
              <a:t>TL37 - jalur pengajuan bot</a:t>
            </a:r>
          </a:p>
          <a:p>
            <a:r>
              <a:t>TL38 - agent luar di meja (pull)</a:t>
            </a:r>
          </a:p>
          <a:p>
            <a:r>
              <a:t>TL39 - aturan deklaratif (rule)</a:t>
            </a:r>
          </a:p>
          <a:p>
            <a:r>
              <a:t>TL42 - komit maju penerbit (feed)</a:t>
            </a:r>
          </a:p>
          <a:p>
            <a:r>
              <a:t>12 - Epik Pengajuan Terbuka dan Peninjau LLM</a:t>
            </a:r>
          </a:p>
          <a:p>
            <a:r>
              <a:t>13 - Langkah Builder Tertunda</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07/12 · 07 · The AI desk: a desk of agents, sealed on the clock</a:t>
            </a:r>
          </a:p>
          <a:p/>
          <a:p>
            <a:r>
              <a:t>VISUAL SCRIPT</a:t>
            </a:r>
          </a:p>
          <a:p>
            <a:r>
              <a:t>Setting. Night. A diorama of a trading floor, seen in the same isometric language as the website's /desk page.</a:t>
            </a:r>
          </a:p>
          <a:p/>
          <a:p>
            <a:r>
              <a:t>Left of the stage: three workstations. Each is a dark glass desk with a glowing monitor slab standing on it and a small violet cube for the analyst sitting beside it. Under each one a mono label: ANALYST, and below it ERC-8004 identity.</a:t>
            </a:r>
          </a:p>
          <a:p/>
          <a:p>
            <a:r>
              <a:t>The wiring. From each desk a thin violet line runs right to a vertical bus, and from the bus one line, with an arrowhead, runs into the centre.</a:t>
            </a:r>
          </a:p>
          <a:p/>
          <a:p>
            <a:r>
              <a:t>The centre: the formula. Three concentric rings lie on the floor and a luminous white-violet core cube floats at their heart: the fixed, published formula. Label: FIXED FORMULA r4.</a:t>
            </a:r>
          </a:p>
          <a:p/>
          <a:p>
            <a:r>
              <a:t>Right of the stage: the tower. A line leaves the hub and climbs to a tower of twelve slabs, alternating indigo and dark glass, with the top three glowing white-violet: the last twelve five-minute cycles, the freshest committed. Label: DESKANCHOR · LAST 12 CYCLES.</a:t>
            </a:r>
          </a:p>
          <a:p/>
          <a:p>
            <a:r>
              <a:t>Chips and note. EVERY 5 MIN · ERC-8004 ANALYSTS · ONE PAPER BOOK · MAX 5 POSITIONS, and in small mono at the right: REAL DECISIONS · PAPER MONEY.</a:t>
            </a:r>
          </a:p>
          <a:p/>
          <a:p>
            <a:r>
              <a:t>Left column. Headline, then three numbered steps.</a:t>
            </a:r>
          </a:p>
          <a:p/>
          <a:p>
            <a:r>
              <a:t>Feeling. Agents at work, and a clock you can hear ticking.</a:t>
            </a:r>
          </a:p>
          <a:p/>
          <a:p>
            <a:r>
              <a:t>NARRATION</a:t>
            </a:r>
          </a:p>
          <a:p>
            <a:r>
              <a:t>Now the part that makes Fabius more than a registry: a desk where AI agents work as a team.</a:t>
            </a:r>
          </a:p>
          <a:p/>
          <a:p>
            <a:r>
              <a:t>Every five minutes, a panel of AI analysts, each with its own ERC-8004 identity on BNB Chain, reads the same data. They do not trade. They score our six locked bots and say which instruments matter and how much exposure they want. Direction is not their decision.</a:t>
            </a:r>
          </a:p>
          <a:p/>
          <a:p>
            <a:r>
              <a:t>A fixed, published formula merges the scores and picks one bot. Then plain code applies that bot's locked rule to a single paper book, with at most five positions.</a:t>
            </a:r>
          </a:p>
          <a:p/>
          <a:p>
            <a:r>
              <a:t>And the whole cycle is sealed. One Merkle root goes to the DeskAnchor contract, and the contract only accepts it while the five minutes are still running. The agents collaborate. The clock keeps them honest.</a:t>
            </a:r>
          </a:p>
          <a:p/>
          <a:p>
            <a:r>
              <a:t>SOURCES (vault)</a:t>
            </a:r>
          </a:p>
          <a:p>
            <a:r>
              <a:t>TL36 - meja v2 bot + instrumen</a:t>
            </a:r>
          </a:p>
          <a:p>
            <a:r>
              <a:t>TL34 - meja AI 5 menit</a:t>
            </a:r>
          </a:p>
          <a:p>
            <a:r>
              <a:t>TL33 - agent analis</a:t>
            </a:r>
          </a:p>
          <a:p>
            <a:r>
              <a:t>11 - Epik Meja AI v2</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08/12 · 08 · The market: pay per call, no subscription, no custody</a:t>
            </a:r>
          </a:p>
          <a:p/>
          <a:p>
            <a:r>
              <a:t>VISUAL SCRIPT</a:t>
            </a:r>
          </a:p>
          <a:p>
            <a:r>
              <a:t>Setting. Night.</a:t>
            </a:r>
          </a:p>
          <a:p/>
          <a:p>
            <a:r>
              <a:t>Top: the checkout, five glass cards in a row, joined by glowing arrows. 01 BUYER, 02 HTTP 402, 03 SIGN, 04 SETTLE, 05 DELIVER. The first four are quiet glass; the last is tinted violet because it is where the buyer gets what they came for. Two chips at the top right name the lanes: HUMAN · WEB + TELEGRAM and AGENT · MCP + X402.</a:t>
            </a:r>
          </a:p>
          <a:p/>
          <a:p>
            <a:r>
              <a:t>Bottom left: the business flow in three blocks. A violet cube on the left (publishers), a large, bright white-violet cube in the centre (Fabius), a clear misty cube on the right (buyers). Arrows run left to right (bots and signals in, signals and proof out) and back right to left (payment), plus one dashed arrow from Fabius back to the publishers: the revenue share, drawn dashed because it is built but not switched on.</a:t>
            </a:r>
          </a:p>
          <a:p/>
          <a:p>
            <a:r>
              <a:t>Bottom right: three status cards. Each starts with a chip, because every claim on this slide wears its status: LIVE, BUILT, GATED.</a:t>
            </a:r>
          </a:p>
          <a:p/>
          <a:p>
            <a:r>
              <a:t>Feeling. A cash register with the lights on and a padlock on the back door, and nothing hidden about which is which.</a:t>
            </a:r>
          </a:p>
          <a:p/>
          <a:p>
            <a:r>
              <a:t>NARRATION</a:t>
            </a:r>
          </a:p>
          <a:p>
            <a:r>
              <a:t>And now the business flow, in the order a buyer experiences it.</a:t>
            </a:r>
          </a:p>
          <a:p/>
          <a:p>
            <a:r>
              <a:t>A person on the web or in Telegram, or an agent through MCP, asks for today's signal. The gate answers with an HTTP 402 and a price: zero point zero one FAB today. The buyer signs a permit. They send nothing, hold no gas, and keep no balance with us. The x402 contract settles it, our gate pays the gas, and the signal arrives together with its commit proof.</a:t>
            </a:r>
          </a:p>
          <a:p/>
          <a:p>
            <a:r>
              <a:t>Look at the loop underneath. Publishers bring bots and agents. Buyers pay per call. Fabius runs the gates, the proof and the checkout. And the revenue-share contract that would pay publishers, sixty percent to them with our share only ever going down, is written and tested, not deployed.</a:t>
            </a:r>
          </a:p>
          <a:p/>
          <a:p>
            <a:r>
              <a:t>Now the honest part. FAB is a test token with no value, and nobody outside our own team has bought a signal. Real-time paid signals stay locked until a bot passes the forward test and a legal review. We built the cash register, and we are keeping it on testnet until something has earned the right to be sold.</a:t>
            </a:r>
          </a:p>
          <a:p/>
          <a:p>
            <a:r>
              <a:t>SOURCES (vault)</a:t>
            </a:r>
          </a:p>
          <a:p>
            <a:r>
              <a:t>TL32 - gerbang x402 per sinyal</a:t>
            </a:r>
          </a:p>
          <a:p>
            <a:r>
              <a:t>TL20 - server MCP</a:t>
            </a:r>
          </a:p>
          <a:p>
            <a:r>
              <a:t>C9 - BotRegistry</a:t>
            </a:r>
          </a:p>
          <a:p>
            <a:r>
              <a:t>C10 - RevenueSplitter</a:t>
            </a:r>
          </a:p>
          <a:p>
            <a:r>
              <a:t>13 - Langkah Builder Tertunda</a:t>
            </a:r>
          </a:p>
          <a:p>
            <a:r>
              <a:t>03 - Decisions</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09/12 · 09 · Live product: not a mockup, it is running</a:t>
            </a:r>
          </a:p>
          <a:p/>
          <a:p>
            <a:r>
              <a:t>VISUAL SCRIPT</a:t>
            </a:r>
          </a:p>
          <a:p>
            <a:r>
              <a:t>Setting. Night, with a wide violet glow behind the devices.</a:t>
            </a:r>
          </a:p>
          <a:p/>
          <a:p>
            <a:r>
              <a:t>Left: two real devices. A desktop browser frame, URL fabius-one.vercel.app, shows the landing hero as a visitor sees it: the 3D glass cube and the giant headline SIGNALS SEALED BEFORE THE OUTCOME. Overlapping its right edge is a phone showing the bot page for B1 TREND: the rule as locked, the identity badge and the chips with the spec lock. The screenshots are real, captured from the current build of the web app on 7 Oct. We cropped away only the navigation and the counter chips of the hero, because those counters belong to the 3D cube's legend, not to the numbers on the right.</a:t>
            </a:r>
          </a:p>
          <a:p/>
          <a:p>
            <a:r>
              <a:t>Right: four stat cards, stacked. A big white number on the left of each card and one short line on the right. The numbers are the live ones from the snapshot: verified commits, how many of them are silent days, bots on forward ledgers, on-chain locks.</a:t>
            </a:r>
          </a:p>
          <a:p/>
          <a:p>
            <a:r>
              <a:t>Under the devices. One mono line with the snapshot time, block number and chain: the receipt for every number on the slide.</a:t>
            </a:r>
          </a:p>
          <a:p/>
          <a:p>
            <a:r>
              <a:t>Feeling. Evidence, not decoration.</a:t>
            </a:r>
          </a:p>
          <a:p/>
          <a:p>
            <a:r>
              <a:t>NARRATION</a:t>
            </a:r>
          </a:p>
          <a:p>
            <a:r>
              <a:t>[Point at the screen.] This is not a storyboard. The site is live, and the numbers on the right are printed by a script from the public ledger and from BNB Chain, with a timestamp.</a:t>
            </a:r>
          </a:p>
          <a:p/>
          <a:p>
            <a:r>
              <a:t>22 daily commits are on-chain and verified, with 0 alarms and 0 missed. 15 of those are silent days, days when a bot decided to do nothing, and even that was sealed. 6 bots keep public forward ledgers that a machine writes with no human in the loop. And 11 locks, bot rules and policies, each stamped with its block time.</a:t>
            </a:r>
          </a:p>
          <a:p/>
          <a:p>
            <a:r>
              <a:t>A visitor can sign in with Google, Telegram or email, read the exact rule a bot is locked to, and verify a day on their own.</a:t>
            </a:r>
          </a:p>
          <a:p/>
          <a:p>
            <a:r>
              <a:t>SOURCES (vault)</a:t>
            </a:r>
          </a:p>
          <a:p>
            <a:r>
              <a:t>TL19 - web landing</a:t>
            </a:r>
          </a:p>
          <a:p>
            <a:r>
              <a:t>TL20 - server MCP</a:t>
            </a:r>
          </a:p>
          <a:p>
            <a:r>
              <a:t>Dashboard</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10/12 · 10 · On-chain: five contracts carry the flow, all ours</a:t>
            </a:r>
          </a:p>
          <a:p/>
          <a:p>
            <a:r>
              <a:t>VISUAL SCRIPT</a:t>
            </a:r>
          </a:p>
          <a:p>
            <a:r>
              <a:t>Setting. Night. A ledger of five rows, each a glass card with a small isometric slab as its icon.</a:t>
            </a:r>
          </a:p>
          <a:p/>
          <a:p>
            <a:r>
              <a:t>Left: the five contracts. SignalAnchor is first and brighter: its card has a violet rim, a luminous white slab, and a MAIN FLOW chip. The other four have indigo slabs (the test token has a dark one). Each row shows the contract name in bold, one line saying what it guarantees, and its short address in mono on the right.</a:t>
            </a:r>
          </a:p>
          <a:p/>
          <a:p>
            <a:r>
              <a:t>Right, top: enforced by the contract. A glass card with two red chips: TooLate and LockedAfterBar. Red here marks the two ways a commit is refused. One plain sentence underneath: the rule is code, not good intentions.</a:t>
            </a:r>
          </a:p>
          <a:p/>
          <a:p>
            <a:r>
              <a:t>Right, bottom: not ours. A dashed card, quieter, titled STANDARD RAILS WE USE · NOT OURS: the ERC-8004 identity registry and the x402 payment proxy with Permit2. We use them; we did not write them.</a:t>
            </a:r>
          </a:p>
          <a:p/>
          <a:p>
            <a:r>
              <a:t>Under it all. One mono line naming the network and where the full addresses live.</a:t>
            </a:r>
          </a:p>
          <a:p/>
          <a:p>
            <a:r>
              <a:t>Feeling. A balance sheet with the assets and the borrowed items on separate lines.</a:t>
            </a:r>
          </a:p>
          <a:p/>
          <a:p>
            <a:r>
              <a:t>NARRATION</a:t>
            </a:r>
          </a:p>
          <a:p>
            <a:r>
              <a:t>Everything you have seen is anchored by five contracts that we wrote and deployed on BNB Smart Chain testnet.</a:t>
            </a:r>
          </a:p>
          <a:p/>
          <a:p>
            <a:r>
              <a:t>SignalAnchor is the main flow: the per-bar commit of every signal, with late commits rejected. LockRegistry is the write-once lock for each rule. SelectionAnchor records the analysts' daily pick, DeskAnchor the five-minute desk roots, and FabiusCredit is the test token that pays for signals.</a:t>
            </a:r>
          </a:p>
          <a:p/>
          <a:p>
            <a:r>
              <a:t>Two of our guarantees are not promises. They are reverts in the contract code: TooLate, and LockedAfterBar.</a:t>
            </a:r>
          </a:p>
          <a:p/>
          <a:p>
            <a:r>
              <a:t>And on the right, what we do not own: the ERC-8004 identity registry, and the x402 payment proxy with Permit2. We use them. We did not write them. Earlier deployments, such as our first decision anchor, are listed in the repo's deployments file.</a:t>
            </a:r>
          </a:p>
          <a:p/>
          <a:p>
            <a:r>
              <a:t>ADDRESSES (BNB Smart Chain testnet, 97)</a:t>
            </a:r>
          </a:p>
          <a:p>
            <a:r>
              <a:t>SignalAnchor: 0x9B78200beFbbBe836585d31bd5b6dB32587064f3</a:t>
            </a:r>
          </a:p>
          <a:p>
            <a:r>
              <a:t>LockRegistry: 0xcF6fBF95fc04DEd8d670512CEc0723a2246Fbb0C</a:t>
            </a:r>
          </a:p>
          <a:p>
            <a:r>
              <a:t>SelectionAnchor: 0xc0c16337e6c286ec54902d8de7aadf232587f3b1</a:t>
            </a:r>
          </a:p>
          <a:p>
            <a:r>
              <a:t>DeskAnchor: 0x706da379a5112aa7c86803dcf58d8fdab442305f</a:t>
            </a:r>
          </a:p>
          <a:p>
            <a:r>
              <a:t>FabiusCredit (FAB): 0xc7b6d5cdbdc881daae0dbcc095d4f184b70ec881</a:t>
            </a:r>
          </a:p>
          <a:p/>
          <a:p>
            <a:r>
              <a:t>SOURCES (vault)</a:t>
            </a:r>
          </a:p>
          <a:p>
            <a:r>
              <a:t>C7 - SignalAnchor</a:t>
            </a:r>
          </a:p>
          <a:p>
            <a:r>
              <a:t>C6 - LockRegistry</a:t>
            </a:r>
          </a:p>
          <a:p>
            <a:r>
              <a:t>TL33 - agent analis</a:t>
            </a:r>
          </a:p>
          <a:p>
            <a:r>
              <a:t>TL34 - meja AI 5 menit</a:t>
            </a:r>
          </a:p>
          <a:p>
            <a:r>
              <a:t>TL32 - gerbang x402 per sinyal</a:t>
            </a:r>
          </a:p>
          <a:p>
            <a:r>
              <a:t>Quick-Reference</a:t>
            </a:r>
          </a:p>
          <a:p>
            <a:r>
              <a:t>01 - ERC-8004 Identity</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11/12 · 11 · Built to be doubted: zero of six, said out loud</a:t>
            </a:r>
          </a:p>
          <a:p/>
          <a:p>
            <a:r>
              <a:t>VISUAL SCRIPT</a:t>
            </a:r>
          </a:p>
          <a:p>
            <a:r>
              <a:t>Setting. Night. The most austere slide in the deck: very little decoration, because the content is the decoration.</a:t>
            </a:r>
          </a:p>
          <a:p/>
          <a:p>
            <a:r>
              <a:t>Left: the number. A giant white 0 / 6 with a violet halo behind it, and under it in bold: bots have passed the forward test. In small mono underneath, the pass bar: 20 signals, 20 settled days, 2 months.</a:t>
            </a:r>
          </a:p>
          <a:p/>
          <a:p>
            <a:r>
              <a:t>Centre and right: two columns. The left column is a solid glass card, title WHAT THE CHAIN PROVES, with violet check marks. The right column is the same size but dashed and quieter, title WHAT IT DOES NOT PROVE, with dashes instead of checks. Same visual weight, on purpose: the limits get as much room as the claims.</a:t>
            </a:r>
          </a:p>
          <a:p/>
          <a:p>
            <a:r>
              <a:t>Bottom: three evidence cards. Three small glass cards, each a time we turned the standard on ourselves.</a:t>
            </a:r>
          </a:p>
          <a:p/>
          <a:p>
            <a:r>
              <a:t>Ribbon. One line of mono capitals across the bottom, like the marquee on the website: PAPER ONLY · NO EDGE CLAIMED · EVERY RULE LOCKED BEFORE THE DATA · VERIFY, DON'T TRUST.</a:t>
            </a:r>
          </a:p>
          <a:p/>
          <a:p>
            <a:r>
              <a:t>Feeling. Calm confidence from a team that publishes its own failure rate.</a:t>
            </a:r>
          </a:p>
          <a:p/>
          <a:p>
            <a:r>
              <a:t>NARRATION</a:t>
            </a:r>
          </a:p>
          <a:p>
            <a:r>
              <a:t>Here is the slide I would most like you to remember.</a:t>
            </a:r>
          </a:p>
          <a:p/>
          <a:p>
            <a:r>
              <a:t>Zero of six. 0 of our 6 bots have passed the forward test, which needs 20 signals, 20 settled days and 2 months, with a confidence interval above zero. We say it on the landing page and we say it here.</a:t>
            </a:r>
          </a:p>
          <a:p/>
          <a:p>
            <a:r>
              <a:t>What the chain proves: that a signal existed before the outcome, that it was not changed, and which rule produced it. What it does not prove: that a call was right, that it made money, or which model produced it. We claim no edge.</a:t>
            </a:r>
          </a:p>
          <a:p/>
          <a:p>
            <a:r>
              <a:t>And we apply the standard to ourselves. 4 of our 6 bots are rejected by our own entry gates. Our AI reviewer can only hold or reject, it can never grant a slot, and the version that reviews agents missed its calibration, five cases out of six, so it is switched off. Our gates were tested on synthetic noise: strategies with no edge passed about one percent of the time, against a five percent budget.</a:t>
            </a:r>
          </a:p>
          <a:p/>
          <a:p>
            <a:r>
              <a:t>A desk built to be doubted is a desk you can actually check.</a:t>
            </a:r>
          </a:p>
          <a:p/>
          <a:p>
            <a:r>
              <a:t>SOURCES (vault)</a:t>
            </a:r>
          </a:p>
          <a:p>
            <a:r>
              <a:t>01 - Claims and Limits</a:t>
            </a:r>
          </a:p>
          <a:p>
            <a:r>
              <a:t>01 - Claims Cheat Sheet</a:t>
            </a:r>
          </a:p>
          <a:p>
            <a:r>
              <a:t>32 - Hasil P90 R1+R2</a:t>
            </a:r>
          </a:p>
          <a:p>
            <a:r>
              <a:t>34 - Hasil P90 Gelombang 2</a:t>
            </a:r>
          </a:p>
          <a:p>
            <a:r>
              <a:t>13 - Langkah Builder Tertunda</a:t>
            </a:r>
          </a:p>
          <a:p>
            <a:r>
              <a:t>05 - Corrections</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12/12 · 12 · Roadmap and close: live, built, gated</a:t>
            </a:r>
          </a:p>
          <a:p/>
          <a:p>
            <a:r>
              <a:t>VISUAL SCRIPT</a:t>
            </a:r>
          </a:p>
          <a:p>
            <a:r>
              <a:t>Setting. Night again, mirroring the cover: the deck ends where it began.</a:t>
            </a:r>
          </a:p>
          <a:p/>
          <a:p>
            <a:r>
              <a:t>Three columns, three block states. Each column is a glass card headed by a small isometric block. LIVE has a white-violet glowing block. BUILT has a deep indigo sealed block. GATED has a clear, empty glass block and a dashed outline. The legend is the product's own block language, so the status of everything on the slide can be read without a word.</a:t>
            </a:r>
          </a:p>
          <a:p/>
          <a:p>
            <a:r>
              <a:t>The closing band. A wide violet-tinted glass band across the bottom. On the left, in large type: Fabius refuses the battle until the proof exists. Under it the tagline in small type. On the right, three stacked pills: the live URL (glowing), the repository, and the verification command in mono.</a:t>
            </a:r>
          </a:p>
          <a:p/>
          <a:p>
            <a:r>
              <a:t>Feeling. The calm after a long climb. The ask is a click, a clone and a command, not a pledge.</a:t>
            </a:r>
          </a:p>
          <a:p/>
          <a:p>
            <a:r>
              <a:t>NARRATION</a:t>
            </a:r>
          </a:p>
          <a:p>
            <a:r>
              <a:t>Let me end with where everything stands, in three words: live, built, gated.</a:t>
            </a:r>
          </a:p>
          <a:p/>
          <a:p>
            <a:r>
              <a:t>Live today on BNB testnet: the proof feed and the verify page, 6 bots on public forward ledgers, the AI desk running every five minutes, open submissions for rules, feeds and agents, and the x402 checkout with a test token.</a:t>
            </a:r>
          </a:p>
          <a:p/>
          <a:p>
            <a:r>
              <a:t>Built, and waiting on a switch: the publisher revenue share, private code submissions, paid MCP access to the desk, and an evaluation shadow for the desk.</a:t>
            </a:r>
          </a:p>
          <a:p/>
          <a:p>
            <a:r>
              <a:t>Gated until the evidence exists: real-time paid signals, which need a bot to pass the forward test and then a legal review. Real money and mainnet are off the table until then.</a:t>
            </a:r>
          </a:p>
          <a:p/>
          <a:p>
            <a:r>
              <a:t>The man this project is named after, Fabius Maximus, beat Hannibal by refusing the battle Hannibal wanted. We refuse to sell what has not been proven.</a:t>
            </a:r>
          </a:p>
          <a:p/>
          <a:p>
            <a:r>
              <a:t>[Pause.] Do not take our word for any of this. One command, no key, no gas. And when you are ready: plug in your bot or agent, prove every call on-chain, and sell it to humans and AI through x402 and MCP, once the proof exists.</a:t>
            </a:r>
          </a:p>
          <a:p/>
          <a:p>
            <a:r>
              <a:t>SOURCES (vault)</a:t>
            </a:r>
          </a:p>
          <a:p>
            <a:r>
              <a:t>13 - Langkah Builder Tertunda</a:t>
            </a:r>
          </a:p>
          <a:p>
            <a:r>
              <a:t>01 - Backlog</a:t>
            </a:r>
          </a:p>
          <a:p>
            <a:r>
              <a:t>06 - Roadmap</a:t>
            </a:r>
          </a:p>
          <a:p>
            <a:r>
              <a:t>01 - Claims Cheat Sheet</a:t>
            </a:r>
          </a:p>
          <a:p>
            <a:r>
              <a:t>TL45 - MCP berbayar meja (P157)</a:t>
            </a:r>
          </a:p>
          <a:p>
            <a:r>
              <a:t>TL41 - kode pengguna di sandbox (code)</a:t>
            </a:r>
          </a:p>
          <a:p>
            <a:r>
              <a:t>TL43 - evaluasi meja F4</a:t>
            </a:r>
          </a:p>
          <a:p/>
          <a:p>
            <a:r>
              <a:t>NUMBERS AS OF 7 Oct 2026 · 10:08 UTC · web/public/data/snapshot.json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59" y="2906713"/>
            <a:ext cx="1036294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4" y="1535113"/>
            <a:ext cx="538678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4" y="2174875"/>
            <a:ext cx="538678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1" y="1535113"/>
            <a:ext cx="53888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1" y="2174875"/>
            <a:ext cx="53888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4" y="1435100"/>
            <a:ext cx="40109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6"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7" y="612775"/>
            <a:ext cx="7315016"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6"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8"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2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1234440"/>
            <a:ext cx="5760720" cy="1325880"/>
          </a:xfrm>
        </p:spPr>
        <p:txBody>
          <a:bodyPr wrap="square" lIns="0" rIns="0" tIns="0" bIns="0" anchor="t">
            <a:noAutofit/>
          </a:bodyPr>
          <a:lstStyle/>
          <a:p>
            <a:pPr algn="l">
              <a:lnSpc>
                <a:spcPct val="92000"/>
              </a:lnSpc>
              <a:spcBef>
                <a:spcPts val="0"/>
              </a:spcBef>
              <a:spcAft>
                <a:spcPts val="0"/>
              </a:spcAft>
            </a:pPr>
            <a:r>
              <a:rPr sz="9600" b="1" i="0" lang="en-US">
                <a:solidFill>
                  <a:srgbClr val="FFFFFF"/>
                </a:solidFill>
                <a:latin typeface="Archivo" pitchFamily="34" charset="0"/>
              </a:rPr>
              <a:t>FABIUS</a:t>
            </a:r>
          </a:p>
        </p:txBody>
      </p:sp>
      <p:grpSp>
        <p:nvGrpSpPr>
          <p:cNvPr id="3" name="Halo"/>
          <p:cNvGrpSpPr/>
          <p:nvPr/>
        </p:nvGrpSpPr>
        <p:grpSpPr>
          <a:xfrm>
            <a:off x="4846320" y="411480"/>
            <a:ext cx="7863840" cy="6583680"/>
            <a:chOff x="4846320" y="411480"/>
            <a:chExt cx="7863840" cy="6583680"/>
          </a:xfrm>
        </p:grpSpPr>
        <p:sp>
          <p:nvSpPr>
            <p:cNvPr id="4" name="Halo 1"/>
            <p:cNvSpPr/>
            <p:nvPr/>
          </p:nvSpPr>
          <p:spPr>
            <a:xfrm>
              <a:off x="4846320" y="411480"/>
              <a:ext cx="7863840" cy="6583680"/>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alo 2"/>
            <p:cNvSpPr/>
            <p:nvPr/>
          </p:nvSpPr>
          <p:spPr>
            <a:xfrm>
              <a:off x="4971057" y="515911"/>
              <a:ext cx="7614366" cy="6374818"/>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lo 3"/>
            <p:cNvSpPr/>
            <p:nvPr/>
          </p:nvSpPr>
          <p:spPr>
            <a:xfrm>
              <a:off x="5095794" y="620342"/>
              <a:ext cx="7364893" cy="6165957"/>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alo 4"/>
            <p:cNvSpPr/>
            <p:nvPr/>
          </p:nvSpPr>
          <p:spPr>
            <a:xfrm>
              <a:off x="5220530" y="724772"/>
              <a:ext cx="7115419" cy="5957095"/>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alo 5"/>
            <p:cNvSpPr/>
            <p:nvPr/>
          </p:nvSpPr>
          <p:spPr>
            <a:xfrm>
              <a:off x="5345267" y="829203"/>
              <a:ext cx="6865946" cy="5748234"/>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alo 6"/>
            <p:cNvSpPr/>
            <p:nvPr/>
          </p:nvSpPr>
          <p:spPr>
            <a:xfrm>
              <a:off x="5470004" y="933634"/>
              <a:ext cx="6616472" cy="5539372"/>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alo 7"/>
            <p:cNvSpPr/>
            <p:nvPr/>
          </p:nvSpPr>
          <p:spPr>
            <a:xfrm>
              <a:off x="5594741" y="1038065"/>
              <a:ext cx="6366999" cy="5330511"/>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alo 8"/>
            <p:cNvSpPr/>
            <p:nvPr/>
          </p:nvSpPr>
          <p:spPr>
            <a:xfrm>
              <a:off x="5719477" y="1142496"/>
              <a:ext cx="6117525" cy="5121649"/>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alo 9"/>
            <p:cNvSpPr/>
            <p:nvPr/>
          </p:nvSpPr>
          <p:spPr>
            <a:xfrm>
              <a:off x="5844214" y="1246926"/>
              <a:ext cx="5868052" cy="4912787"/>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alo 10"/>
            <p:cNvSpPr/>
            <p:nvPr/>
          </p:nvSpPr>
          <p:spPr>
            <a:xfrm>
              <a:off x="5968951" y="1351357"/>
              <a:ext cx="5618578" cy="4703926"/>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lo 11"/>
            <p:cNvSpPr/>
            <p:nvPr/>
          </p:nvSpPr>
          <p:spPr>
            <a:xfrm>
              <a:off x="6093688" y="1455788"/>
              <a:ext cx="5369105" cy="4495064"/>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alo 12"/>
            <p:cNvSpPr/>
            <p:nvPr/>
          </p:nvSpPr>
          <p:spPr>
            <a:xfrm>
              <a:off x="6218424" y="1560219"/>
              <a:ext cx="5119631" cy="4286203"/>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alo 13"/>
            <p:cNvSpPr/>
            <p:nvPr/>
          </p:nvSpPr>
          <p:spPr>
            <a:xfrm>
              <a:off x="6343161" y="1664649"/>
              <a:ext cx="4870157" cy="4077341"/>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alo 14"/>
            <p:cNvSpPr/>
            <p:nvPr/>
          </p:nvSpPr>
          <p:spPr>
            <a:xfrm>
              <a:off x="6467898" y="1769080"/>
              <a:ext cx="4620684" cy="3868480"/>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lo 15"/>
            <p:cNvSpPr/>
            <p:nvPr/>
          </p:nvSpPr>
          <p:spPr>
            <a:xfrm>
              <a:off x="6592635" y="1873511"/>
              <a:ext cx="4371210" cy="3659618"/>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alo 16"/>
            <p:cNvSpPr/>
            <p:nvPr/>
          </p:nvSpPr>
          <p:spPr>
            <a:xfrm>
              <a:off x="6717372" y="1977942"/>
              <a:ext cx="4121737" cy="3450756"/>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alo 17"/>
            <p:cNvSpPr/>
            <p:nvPr/>
          </p:nvSpPr>
          <p:spPr>
            <a:xfrm>
              <a:off x="6842108" y="2082373"/>
              <a:ext cx="3872263" cy="3241895"/>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alo 18"/>
            <p:cNvSpPr/>
            <p:nvPr/>
          </p:nvSpPr>
          <p:spPr>
            <a:xfrm>
              <a:off x="6966845" y="2186803"/>
              <a:ext cx="3622790" cy="3033033"/>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alo 19"/>
            <p:cNvSpPr/>
            <p:nvPr/>
          </p:nvSpPr>
          <p:spPr>
            <a:xfrm>
              <a:off x="7091582" y="2291234"/>
              <a:ext cx="3373316" cy="2824172"/>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alo 20"/>
            <p:cNvSpPr/>
            <p:nvPr/>
          </p:nvSpPr>
          <p:spPr>
            <a:xfrm>
              <a:off x="7216319" y="2395665"/>
              <a:ext cx="3123843" cy="2615310"/>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alo 21"/>
            <p:cNvSpPr/>
            <p:nvPr/>
          </p:nvSpPr>
          <p:spPr>
            <a:xfrm>
              <a:off x="7341055" y="2500096"/>
              <a:ext cx="2874369" cy="2406449"/>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alo 22"/>
            <p:cNvSpPr/>
            <p:nvPr/>
          </p:nvSpPr>
          <p:spPr>
            <a:xfrm>
              <a:off x="7465792" y="2604527"/>
              <a:ext cx="2624896" cy="2197587"/>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lo 23"/>
            <p:cNvSpPr/>
            <p:nvPr/>
          </p:nvSpPr>
          <p:spPr>
            <a:xfrm>
              <a:off x="7590529" y="2708957"/>
              <a:ext cx="2375422" cy="1988725"/>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lo 24"/>
            <p:cNvSpPr/>
            <p:nvPr/>
          </p:nvSpPr>
          <p:spPr>
            <a:xfrm>
              <a:off x="7715266" y="2813388"/>
              <a:ext cx="2125948" cy="1779864"/>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lo 25"/>
            <p:cNvSpPr/>
            <p:nvPr/>
          </p:nvSpPr>
          <p:spPr>
            <a:xfrm>
              <a:off x="7840003" y="2917819"/>
              <a:ext cx="1876475" cy="1571002"/>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lo 26"/>
            <p:cNvSpPr/>
            <p:nvPr/>
          </p:nvSpPr>
          <p:spPr>
            <a:xfrm>
              <a:off x="7964739" y="3022250"/>
              <a:ext cx="1627001" cy="1362141"/>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alo 27"/>
            <p:cNvSpPr/>
            <p:nvPr/>
          </p:nvSpPr>
          <p:spPr>
            <a:xfrm>
              <a:off x="8089476" y="3126680"/>
              <a:ext cx="1377528" cy="1153279"/>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Halo 28"/>
            <p:cNvSpPr/>
            <p:nvPr/>
          </p:nvSpPr>
          <p:spPr>
            <a:xfrm>
              <a:off x="8214213" y="3231111"/>
              <a:ext cx="1128054" cy="944418"/>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Halo 29"/>
            <p:cNvSpPr/>
            <p:nvPr/>
          </p:nvSpPr>
          <p:spPr>
            <a:xfrm>
              <a:off x="8338950" y="3335542"/>
              <a:ext cx="878581" cy="735556"/>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alo 30"/>
            <p:cNvSpPr/>
            <p:nvPr/>
          </p:nvSpPr>
          <p:spPr>
            <a:xfrm>
              <a:off x="8463686" y="3439973"/>
              <a:ext cx="629107" cy="526694"/>
            </a:xfrm>
            <a:prstGeom prst="ellipse">
              <a:avLst/>
            </a:prstGeom>
            <a:solidFill>
              <a:srgbClr val="7B5CFF">
                <a:alpha val="179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4" name="Scene · sealed crystal"/>
          <p:cNvGrpSpPr/>
          <p:nvPr/>
        </p:nvGrpSpPr>
        <p:grpSpPr>
          <a:xfrm>
            <a:off x="4388206" y="-714508"/>
            <a:ext cx="8880071" cy="8173139"/>
            <a:chOff x="4388206" y="-714508"/>
            <a:chExt cx="8880071" cy="8173139"/>
          </a:xfrm>
        </p:grpSpPr>
        <p:sp>
          <p:nvSpPr>
            <p:cNvPr id="35" name="Block 000 · kiri"/>
            <p:cNvSpPr/>
            <p:nvPr/>
          </p:nvSpPr>
          <p:spPr>
            <a:xfrm>
              <a:off x="8273804" y="332064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lock 000 · kanan"/>
            <p:cNvSpPr/>
            <p:nvPr/>
          </p:nvSpPr>
          <p:spPr>
            <a:xfrm>
              <a:off x="8778240" y="332064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lock 000 · atas"/>
            <p:cNvSpPr/>
            <p:nvPr/>
          </p:nvSpPr>
          <p:spPr>
            <a:xfrm>
              <a:off x="8273804" y="302940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lock 001 · kiri"/>
            <p:cNvSpPr/>
            <p:nvPr/>
          </p:nvSpPr>
          <p:spPr>
            <a:xfrm>
              <a:off x="8273804" y="268056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lock 001 · kanan"/>
            <p:cNvSpPr/>
            <p:nvPr/>
          </p:nvSpPr>
          <p:spPr>
            <a:xfrm>
              <a:off x="8778240" y="268056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lock 001 · atas"/>
            <p:cNvSpPr/>
            <p:nvPr/>
          </p:nvSpPr>
          <p:spPr>
            <a:xfrm>
              <a:off x="8273804" y="238932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lock 010 · kiri"/>
            <p:cNvSpPr/>
            <p:nvPr/>
          </p:nvSpPr>
          <p:spPr>
            <a:xfrm>
              <a:off x="7719478" y="364068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lock 010 · kanan"/>
            <p:cNvSpPr/>
            <p:nvPr/>
          </p:nvSpPr>
          <p:spPr>
            <a:xfrm>
              <a:off x="8223914" y="3640684"/>
              <a:ext cx="504437" cy="873709"/>
            </a:xfrm>
            <a:custGeom>
              <a:avLst/>
              <a:gdLst/>
              <a:ahLst/>
              <a:cxnLst/>
              <a:rect l="l" t="t" r="r" b="b"/>
              <a:pathLst>
                <a:path w="504437" h="873709">
                  <a:moveTo>
                    <a:pt x="504437" y="582472"/>
                  </a:moveTo>
                  <a:lnTo>
                    <a:pt x="0" y="873709"/>
                  </a:lnTo>
                  <a:lnTo>
                    <a:pt x="0" y="291236"/>
                  </a:lnTo>
                  <a:lnTo>
                    <a:pt x="504437"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lock 010 · atas"/>
            <p:cNvSpPr/>
            <p:nvPr/>
          </p:nvSpPr>
          <p:spPr>
            <a:xfrm>
              <a:off x="7719478" y="3349447"/>
              <a:ext cx="1008873" cy="582473"/>
            </a:xfrm>
            <a:custGeom>
              <a:avLst/>
              <a:gdLst/>
              <a:ahLst/>
              <a:cxnLst/>
              <a:rect l="l" t="t" r="r" b="b"/>
              <a:pathLst>
                <a:path w="1008873" h="582473">
                  <a:moveTo>
                    <a:pt x="504436" y="0"/>
                  </a:moveTo>
                  <a:lnTo>
                    <a:pt x="1008873"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lock 100 · kiri"/>
            <p:cNvSpPr/>
            <p:nvPr/>
          </p:nvSpPr>
          <p:spPr>
            <a:xfrm>
              <a:off x="8828129" y="3640684"/>
              <a:ext cx="504437" cy="873709"/>
            </a:xfrm>
            <a:custGeom>
              <a:avLst/>
              <a:gdLst/>
              <a:ahLst/>
              <a:cxnLst/>
              <a:rect l="l" t="t" r="r" b="b"/>
              <a:pathLst>
                <a:path w="504437" h="873709">
                  <a:moveTo>
                    <a:pt x="0" y="582472"/>
                  </a:moveTo>
                  <a:lnTo>
                    <a:pt x="504437" y="873709"/>
                  </a:lnTo>
                  <a:lnTo>
                    <a:pt x="504437"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lock 100 · kanan"/>
            <p:cNvSpPr/>
            <p:nvPr/>
          </p:nvSpPr>
          <p:spPr>
            <a:xfrm>
              <a:off x="9332566" y="364068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lock 100 · atas"/>
            <p:cNvSpPr/>
            <p:nvPr/>
          </p:nvSpPr>
          <p:spPr>
            <a:xfrm>
              <a:off x="8828129" y="3349447"/>
              <a:ext cx="1008873" cy="582473"/>
            </a:xfrm>
            <a:custGeom>
              <a:avLst/>
              <a:gdLst/>
              <a:ahLst/>
              <a:cxnLst/>
              <a:rect l="l" t="t" r="r" b="b"/>
              <a:pathLst>
                <a:path w="1008873" h="582473">
                  <a:moveTo>
                    <a:pt x="504437" y="0"/>
                  </a:moveTo>
                  <a:lnTo>
                    <a:pt x="1008873" y="291237"/>
                  </a:lnTo>
                  <a:lnTo>
                    <a:pt x="504437"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loating panel · kiri"/>
            <p:cNvSpPr/>
            <p:nvPr/>
          </p:nvSpPr>
          <p:spPr>
            <a:xfrm>
              <a:off x="6450073" y="1531620"/>
              <a:ext cx="831488" cy="640080"/>
            </a:xfrm>
            <a:custGeom>
              <a:avLst/>
              <a:gdLst/>
              <a:ahLst/>
              <a:cxnLst/>
              <a:rect l="l" t="t" r="r" b="b"/>
              <a:pathLst>
                <a:path w="831488" h="640080">
                  <a:moveTo>
                    <a:pt x="0" y="160020"/>
                  </a:moveTo>
                  <a:lnTo>
                    <a:pt x="831488" y="640080"/>
                  </a:lnTo>
                  <a:lnTo>
                    <a:pt x="831488" y="480060"/>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loating panel · kanan"/>
            <p:cNvSpPr/>
            <p:nvPr/>
          </p:nvSpPr>
          <p:spPr>
            <a:xfrm>
              <a:off x="7281561" y="1371600"/>
              <a:ext cx="1108651" cy="800100"/>
            </a:xfrm>
            <a:custGeom>
              <a:avLst/>
              <a:gdLst/>
              <a:ahLst/>
              <a:cxnLst/>
              <a:rect l="l" t="t" r="r" b="b"/>
              <a:pathLst>
                <a:path w="1108651" h="800100">
                  <a:moveTo>
                    <a:pt x="1108651" y="160020"/>
                  </a:moveTo>
                  <a:lnTo>
                    <a:pt x="0" y="800100"/>
                  </a:lnTo>
                  <a:lnTo>
                    <a:pt x="0" y="640080"/>
                  </a:lnTo>
                  <a:lnTo>
                    <a:pt x="1108651"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loating panel · atas"/>
            <p:cNvSpPr/>
            <p:nvPr/>
          </p:nvSpPr>
          <p:spPr>
            <a:xfrm>
              <a:off x="6450073" y="891540"/>
              <a:ext cx="1940139" cy="1120140"/>
            </a:xfrm>
            <a:custGeom>
              <a:avLst/>
              <a:gdLst/>
              <a:ahLst/>
              <a:cxnLst/>
              <a:rect l="l" t="t" r="r" b="b"/>
              <a:pathLst>
                <a:path w="1940139" h="1120140">
                  <a:moveTo>
                    <a:pt x="1108651" y="0"/>
                  </a:moveTo>
                  <a:lnTo>
                    <a:pt x="1940139" y="480060"/>
                  </a:lnTo>
                  <a:lnTo>
                    <a:pt x="831488" y="1120140"/>
                  </a:lnTo>
                  <a:lnTo>
                    <a:pt x="0" y="640080"/>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lock 002 · kiri"/>
            <p:cNvSpPr/>
            <p:nvPr/>
          </p:nvSpPr>
          <p:spPr>
            <a:xfrm>
              <a:off x="8273804" y="204048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lock 002 · kanan"/>
            <p:cNvSpPr/>
            <p:nvPr/>
          </p:nvSpPr>
          <p:spPr>
            <a:xfrm>
              <a:off x="8778240" y="204048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lock 002 · atas"/>
            <p:cNvSpPr/>
            <p:nvPr/>
          </p:nvSpPr>
          <p:spPr>
            <a:xfrm>
              <a:off x="8273804" y="174924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lock 011 · kiri"/>
            <p:cNvSpPr/>
            <p:nvPr/>
          </p:nvSpPr>
          <p:spPr>
            <a:xfrm>
              <a:off x="7719478" y="300060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lock 011 · kanan"/>
            <p:cNvSpPr/>
            <p:nvPr/>
          </p:nvSpPr>
          <p:spPr>
            <a:xfrm>
              <a:off x="8223914" y="3000604"/>
              <a:ext cx="504437" cy="873709"/>
            </a:xfrm>
            <a:custGeom>
              <a:avLst/>
              <a:gdLst/>
              <a:ahLst/>
              <a:cxnLst/>
              <a:rect l="l" t="t" r="r" b="b"/>
              <a:pathLst>
                <a:path w="504437" h="873709">
                  <a:moveTo>
                    <a:pt x="504437" y="582472"/>
                  </a:moveTo>
                  <a:lnTo>
                    <a:pt x="0" y="873709"/>
                  </a:lnTo>
                  <a:lnTo>
                    <a:pt x="0" y="291236"/>
                  </a:lnTo>
                  <a:lnTo>
                    <a:pt x="504437"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lock 011 · atas"/>
            <p:cNvSpPr/>
            <p:nvPr/>
          </p:nvSpPr>
          <p:spPr>
            <a:xfrm>
              <a:off x="7719478" y="2709367"/>
              <a:ext cx="1008873" cy="582473"/>
            </a:xfrm>
            <a:custGeom>
              <a:avLst/>
              <a:gdLst/>
              <a:ahLst/>
              <a:cxnLst/>
              <a:rect l="l" t="t" r="r" b="b"/>
              <a:pathLst>
                <a:path w="1008873" h="582473">
                  <a:moveTo>
                    <a:pt x="504436" y="0"/>
                  </a:moveTo>
                  <a:lnTo>
                    <a:pt x="1008873"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lock 020 · kiri"/>
            <p:cNvSpPr/>
            <p:nvPr/>
          </p:nvSpPr>
          <p:spPr>
            <a:xfrm>
              <a:off x="7165153" y="396072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Block 020 · kanan"/>
            <p:cNvSpPr/>
            <p:nvPr/>
          </p:nvSpPr>
          <p:spPr>
            <a:xfrm>
              <a:off x="7669589" y="396072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Block 020 · atas"/>
            <p:cNvSpPr/>
            <p:nvPr/>
          </p:nvSpPr>
          <p:spPr>
            <a:xfrm>
              <a:off x="7165153" y="366948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Block 101 · kiri"/>
            <p:cNvSpPr/>
            <p:nvPr/>
          </p:nvSpPr>
          <p:spPr>
            <a:xfrm>
              <a:off x="8828129" y="3000604"/>
              <a:ext cx="504437" cy="873709"/>
            </a:xfrm>
            <a:custGeom>
              <a:avLst/>
              <a:gdLst/>
              <a:ahLst/>
              <a:cxnLst/>
              <a:rect l="l" t="t" r="r" b="b"/>
              <a:pathLst>
                <a:path w="504437" h="873709">
                  <a:moveTo>
                    <a:pt x="0" y="582472"/>
                  </a:moveTo>
                  <a:lnTo>
                    <a:pt x="504437" y="873709"/>
                  </a:lnTo>
                  <a:lnTo>
                    <a:pt x="504437"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Block 101 · kanan"/>
            <p:cNvSpPr/>
            <p:nvPr/>
          </p:nvSpPr>
          <p:spPr>
            <a:xfrm>
              <a:off x="9332566" y="300060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lock 101 · atas"/>
            <p:cNvSpPr/>
            <p:nvPr/>
          </p:nvSpPr>
          <p:spPr>
            <a:xfrm>
              <a:off x="8828129" y="2709367"/>
              <a:ext cx="1008873" cy="582473"/>
            </a:xfrm>
            <a:custGeom>
              <a:avLst/>
              <a:gdLst/>
              <a:ahLst/>
              <a:cxnLst/>
              <a:rect l="l" t="t" r="r" b="b"/>
              <a:pathLst>
                <a:path w="1008873" h="582473">
                  <a:moveTo>
                    <a:pt x="504437" y="0"/>
                  </a:moveTo>
                  <a:lnTo>
                    <a:pt x="1008873" y="291237"/>
                  </a:lnTo>
                  <a:lnTo>
                    <a:pt x="504437"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Block 110 · kiri"/>
            <p:cNvSpPr/>
            <p:nvPr/>
          </p:nvSpPr>
          <p:spPr>
            <a:xfrm>
              <a:off x="8273804" y="396072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lock 110 · kanan"/>
            <p:cNvSpPr/>
            <p:nvPr/>
          </p:nvSpPr>
          <p:spPr>
            <a:xfrm>
              <a:off x="8778240" y="396072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Block 110 · atas"/>
            <p:cNvSpPr/>
            <p:nvPr/>
          </p:nvSpPr>
          <p:spPr>
            <a:xfrm>
              <a:off x="8273804" y="366948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lock 200 · kiri"/>
            <p:cNvSpPr/>
            <p:nvPr/>
          </p:nvSpPr>
          <p:spPr>
            <a:xfrm>
              <a:off x="9382455" y="396072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Block 200 · kanan"/>
            <p:cNvSpPr/>
            <p:nvPr/>
          </p:nvSpPr>
          <p:spPr>
            <a:xfrm>
              <a:off x="9886891" y="396072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Block 200 · atas"/>
            <p:cNvSpPr/>
            <p:nvPr/>
          </p:nvSpPr>
          <p:spPr>
            <a:xfrm>
              <a:off x="9382455" y="366948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lock 012 · kiri"/>
            <p:cNvSpPr/>
            <p:nvPr/>
          </p:nvSpPr>
          <p:spPr>
            <a:xfrm>
              <a:off x="7719478" y="236052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Block 012 · kanan"/>
            <p:cNvSpPr/>
            <p:nvPr/>
          </p:nvSpPr>
          <p:spPr>
            <a:xfrm>
              <a:off x="8223914" y="2360524"/>
              <a:ext cx="504437" cy="873709"/>
            </a:xfrm>
            <a:custGeom>
              <a:avLst/>
              <a:gdLst/>
              <a:ahLst/>
              <a:cxnLst/>
              <a:rect l="l" t="t" r="r" b="b"/>
              <a:pathLst>
                <a:path w="504437" h="873709">
                  <a:moveTo>
                    <a:pt x="504437" y="582472"/>
                  </a:moveTo>
                  <a:lnTo>
                    <a:pt x="0" y="873709"/>
                  </a:lnTo>
                  <a:lnTo>
                    <a:pt x="0" y="291236"/>
                  </a:lnTo>
                  <a:lnTo>
                    <a:pt x="504437"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Block 012 · atas"/>
            <p:cNvSpPr/>
            <p:nvPr/>
          </p:nvSpPr>
          <p:spPr>
            <a:xfrm>
              <a:off x="7719478" y="2069287"/>
              <a:ext cx="1008873" cy="582473"/>
            </a:xfrm>
            <a:custGeom>
              <a:avLst/>
              <a:gdLst/>
              <a:ahLst/>
              <a:cxnLst/>
              <a:rect l="l" t="t" r="r" b="b"/>
              <a:pathLst>
                <a:path w="1008873" h="582473">
                  <a:moveTo>
                    <a:pt x="504436" y="0"/>
                  </a:moveTo>
                  <a:lnTo>
                    <a:pt x="1008873" y="291237"/>
                  </a:lnTo>
                  <a:lnTo>
                    <a:pt x="504436" y="582473"/>
                  </a:lnTo>
                  <a:lnTo>
                    <a:pt x="0" y="291237"/>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Block 021 · kiri"/>
            <p:cNvSpPr/>
            <p:nvPr/>
          </p:nvSpPr>
          <p:spPr>
            <a:xfrm>
              <a:off x="7165153" y="332064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Block 021 · kanan"/>
            <p:cNvSpPr/>
            <p:nvPr/>
          </p:nvSpPr>
          <p:spPr>
            <a:xfrm>
              <a:off x="7669589" y="332064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Block 021 · atas"/>
            <p:cNvSpPr/>
            <p:nvPr/>
          </p:nvSpPr>
          <p:spPr>
            <a:xfrm>
              <a:off x="7165153" y="302940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lock 102 · kiri"/>
            <p:cNvSpPr/>
            <p:nvPr/>
          </p:nvSpPr>
          <p:spPr>
            <a:xfrm>
              <a:off x="8828129" y="2360524"/>
              <a:ext cx="504437" cy="873709"/>
            </a:xfrm>
            <a:custGeom>
              <a:avLst/>
              <a:gdLst/>
              <a:ahLst/>
              <a:cxnLst/>
              <a:rect l="l" t="t" r="r" b="b"/>
              <a:pathLst>
                <a:path w="504437" h="873709">
                  <a:moveTo>
                    <a:pt x="0" y="582472"/>
                  </a:moveTo>
                  <a:lnTo>
                    <a:pt x="504437" y="873709"/>
                  </a:lnTo>
                  <a:lnTo>
                    <a:pt x="504437" y="291236"/>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Block 102 · kanan"/>
            <p:cNvSpPr/>
            <p:nvPr/>
          </p:nvSpPr>
          <p:spPr>
            <a:xfrm>
              <a:off x="9332566" y="236052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lock 102 · atas"/>
            <p:cNvSpPr/>
            <p:nvPr/>
          </p:nvSpPr>
          <p:spPr>
            <a:xfrm>
              <a:off x="8828129" y="2069287"/>
              <a:ext cx="1008873" cy="582473"/>
            </a:xfrm>
            <a:custGeom>
              <a:avLst/>
              <a:gdLst/>
              <a:ahLst/>
              <a:cxnLst/>
              <a:rect l="l" t="t" r="r" b="b"/>
              <a:pathLst>
                <a:path w="1008873" h="582473">
                  <a:moveTo>
                    <a:pt x="504437" y="0"/>
                  </a:moveTo>
                  <a:lnTo>
                    <a:pt x="1008873" y="291237"/>
                  </a:lnTo>
                  <a:lnTo>
                    <a:pt x="504437" y="582473"/>
                  </a:lnTo>
                  <a:lnTo>
                    <a:pt x="0" y="291237"/>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Block 111 · kiri"/>
            <p:cNvSpPr/>
            <p:nvPr/>
          </p:nvSpPr>
          <p:spPr>
            <a:xfrm>
              <a:off x="8273804" y="332064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lock 111 · kanan"/>
            <p:cNvSpPr/>
            <p:nvPr/>
          </p:nvSpPr>
          <p:spPr>
            <a:xfrm>
              <a:off x="8778240" y="332064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lock 111 · atas"/>
            <p:cNvSpPr/>
            <p:nvPr/>
          </p:nvSpPr>
          <p:spPr>
            <a:xfrm>
              <a:off x="8273804" y="302940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lock 120 · kiri"/>
            <p:cNvSpPr/>
            <p:nvPr/>
          </p:nvSpPr>
          <p:spPr>
            <a:xfrm>
              <a:off x="7719478" y="428076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lock 120 · kanan"/>
            <p:cNvSpPr/>
            <p:nvPr/>
          </p:nvSpPr>
          <p:spPr>
            <a:xfrm>
              <a:off x="8223914" y="4280764"/>
              <a:ext cx="504437" cy="873709"/>
            </a:xfrm>
            <a:custGeom>
              <a:avLst/>
              <a:gdLst/>
              <a:ahLst/>
              <a:cxnLst/>
              <a:rect l="l" t="t" r="r" b="b"/>
              <a:pathLst>
                <a:path w="504437" h="873709">
                  <a:moveTo>
                    <a:pt x="504437" y="582472"/>
                  </a:moveTo>
                  <a:lnTo>
                    <a:pt x="0" y="873709"/>
                  </a:lnTo>
                  <a:lnTo>
                    <a:pt x="0" y="291236"/>
                  </a:lnTo>
                  <a:lnTo>
                    <a:pt x="504437"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lock 120 · atas"/>
            <p:cNvSpPr/>
            <p:nvPr/>
          </p:nvSpPr>
          <p:spPr>
            <a:xfrm>
              <a:off x="7719478" y="3989527"/>
              <a:ext cx="1008873" cy="582473"/>
            </a:xfrm>
            <a:custGeom>
              <a:avLst/>
              <a:gdLst/>
              <a:ahLst/>
              <a:cxnLst/>
              <a:rect l="l" t="t" r="r" b="b"/>
              <a:pathLst>
                <a:path w="1008873" h="582473">
                  <a:moveTo>
                    <a:pt x="504436" y="0"/>
                  </a:moveTo>
                  <a:lnTo>
                    <a:pt x="1008873"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Block 201 · kiri"/>
            <p:cNvSpPr/>
            <p:nvPr/>
          </p:nvSpPr>
          <p:spPr>
            <a:xfrm>
              <a:off x="9382455" y="332064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lock 201 · kanan"/>
            <p:cNvSpPr/>
            <p:nvPr/>
          </p:nvSpPr>
          <p:spPr>
            <a:xfrm>
              <a:off x="9886891" y="332064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Block 201 · atas"/>
            <p:cNvSpPr/>
            <p:nvPr/>
          </p:nvSpPr>
          <p:spPr>
            <a:xfrm>
              <a:off x="9382455" y="302940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Block 210 · kiri"/>
            <p:cNvSpPr/>
            <p:nvPr/>
          </p:nvSpPr>
          <p:spPr>
            <a:xfrm>
              <a:off x="8828129" y="4280764"/>
              <a:ext cx="504437" cy="873709"/>
            </a:xfrm>
            <a:custGeom>
              <a:avLst/>
              <a:gdLst/>
              <a:ahLst/>
              <a:cxnLst/>
              <a:rect l="l" t="t" r="r" b="b"/>
              <a:pathLst>
                <a:path w="504437" h="873709">
                  <a:moveTo>
                    <a:pt x="0" y="582472"/>
                  </a:moveTo>
                  <a:lnTo>
                    <a:pt x="504437" y="873709"/>
                  </a:lnTo>
                  <a:lnTo>
                    <a:pt x="504437"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lock 210 · kanan"/>
            <p:cNvSpPr/>
            <p:nvPr/>
          </p:nvSpPr>
          <p:spPr>
            <a:xfrm>
              <a:off x="9332566" y="428076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Block 210 · atas"/>
            <p:cNvSpPr/>
            <p:nvPr/>
          </p:nvSpPr>
          <p:spPr>
            <a:xfrm>
              <a:off x="8828129" y="3989527"/>
              <a:ext cx="1008873" cy="582473"/>
            </a:xfrm>
            <a:custGeom>
              <a:avLst/>
              <a:gdLst/>
              <a:ahLst/>
              <a:cxnLst/>
              <a:rect l="l" t="t" r="r" b="b"/>
              <a:pathLst>
                <a:path w="1008873" h="582473">
                  <a:moveTo>
                    <a:pt x="504437" y="0"/>
                  </a:moveTo>
                  <a:lnTo>
                    <a:pt x="1008873" y="291237"/>
                  </a:lnTo>
                  <a:lnTo>
                    <a:pt x="504437"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loating panel 2 · kiri"/>
            <p:cNvSpPr/>
            <p:nvPr/>
          </p:nvSpPr>
          <p:spPr>
            <a:xfrm>
              <a:off x="11660733" y="4392778"/>
              <a:ext cx="886921" cy="691286"/>
            </a:xfrm>
            <a:custGeom>
              <a:avLst/>
              <a:gdLst/>
              <a:ahLst/>
              <a:cxnLst/>
              <a:rect l="l" t="t" r="r" b="b"/>
              <a:pathLst>
                <a:path w="886921" h="691286">
                  <a:moveTo>
                    <a:pt x="0" y="179222"/>
                  </a:moveTo>
                  <a:lnTo>
                    <a:pt x="886921" y="691286"/>
                  </a:lnTo>
                  <a:lnTo>
                    <a:pt x="886921" y="512064"/>
                  </a:lnTo>
                  <a:lnTo>
                    <a:pt x="0" y="0"/>
                  </a:lnTo>
                  <a:close/>
                </a:path>
              </a:pathLst>
            </a:custGeom>
            <a:solidFill>
              <a:srgbClr val="121022"/>
            </a:solidFill>
            <a:ln w="6350" cap="rnd">
              <a:solidFill>
                <a:srgbClr val="ECE8FA">
                  <a:alpha val="17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loating panel 2 · kanan"/>
            <p:cNvSpPr/>
            <p:nvPr/>
          </p:nvSpPr>
          <p:spPr>
            <a:xfrm>
              <a:off x="12547654" y="4488790"/>
              <a:ext cx="720623" cy="595274"/>
            </a:xfrm>
            <a:custGeom>
              <a:avLst/>
              <a:gdLst/>
              <a:ahLst/>
              <a:cxnLst/>
              <a:rect l="l" t="t" r="r" b="b"/>
              <a:pathLst>
                <a:path w="720623" h="595274">
                  <a:moveTo>
                    <a:pt x="720623" y="179222"/>
                  </a:moveTo>
                  <a:lnTo>
                    <a:pt x="0" y="595274"/>
                  </a:lnTo>
                  <a:lnTo>
                    <a:pt x="0" y="416052"/>
                  </a:lnTo>
                  <a:lnTo>
                    <a:pt x="720623" y="0"/>
                  </a:lnTo>
                  <a:close/>
                </a:path>
              </a:pathLst>
            </a:custGeom>
            <a:solidFill>
              <a:srgbClr val="1B1830"/>
            </a:solidFill>
            <a:ln w="6350" cap="rnd">
              <a:solidFill>
                <a:srgbClr val="ECE8FA">
                  <a:alpha val="17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loating panel 2 · atas"/>
            <p:cNvSpPr/>
            <p:nvPr/>
          </p:nvSpPr>
          <p:spPr>
            <a:xfrm>
              <a:off x="11660733" y="3976726"/>
              <a:ext cx="1607544" cy="928116"/>
            </a:xfrm>
            <a:custGeom>
              <a:avLst/>
              <a:gdLst/>
              <a:ahLst/>
              <a:cxnLst/>
              <a:rect l="l" t="t" r="r" b="b"/>
              <a:pathLst>
                <a:path w="1607544" h="928116">
                  <a:moveTo>
                    <a:pt x="720623" y="0"/>
                  </a:moveTo>
                  <a:lnTo>
                    <a:pt x="1607544" y="512064"/>
                  </a:lnTo>
                  <a:lnTo>
                    <a:pt x="886921" y="928116"/>
                  </a:lnTo>
                  <a:lnTo>
                    <a:pt x="0" y="416052"/>
                  </a:lnTo>
                  <a:close/>
                </a:path>
              </a:pathLst>
            </a:custGeom>
            <a:solidFill>
              <a:srgbClr val="2E2A48"/>
            </a:solidFill>
            <a:ln w="6350" cap="rnd">
              <a:solidFill>
                <a:srgbClr val="ECE8FA">
                  <a:alpha val="17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Block 022 · kiri"/>
            <p:cNvSpPr/>
            <p:nvPr/>
          </p:nvSpPr>
          <p:spPr>
            <a:xfrm>
              <a:off x="7165153" y="268056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lock 022 · kanan"/>
            <p:cNvSpPr/>
            <p:nvPr/>
          </p:nvSpPr>
          <p:spPr>
            <a:xfrm>
              <a:off x="7669589" y="268056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Block 022 · atas"/>
            <p:cNvSpPr/>
            <p:nvPr/>
          </p:nvSpPr>
          <p:spPr>
            <a:xfrm>
              <a:off x="7165153" y="238932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Block 112 · kiri"/>
            <p:cNvSpPr/>
            <p:nvPr/>
          </p:nvSpPr>
          <p:spPr>
            <a:xfrm>
              <a:off x="8273804" y="268056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lock 112 · kanan"/>
            <p:cNvSpPr/>
            <p:nvPr/>
          </p:nvSpPr>
          <p:spPr>
            <a:xfrm>
              <a:off x="8778240" y="268056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Block 112 · atas"/>
            <p:cNvSpPr/>
            <p:nvPr/>
          </p:nvSpPr>
          <p:spPr>
            <a:xfrm>
              <a:off x="8273804" y="238932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Block 121 · kiri"/>
            <p:cNvSpPr/>
            <p:nvPr/>
          </p:nvSpPr>
          <p:spPr>
            <a:xfrm>
              <a:off x="7719478" y="364068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lock 121 · kanan"/>
            <p:cNvSpPr/>
            <p:nvPr/>
          </p:nvSpPr>
          <p:spPr>
            <a:xfrm>
              <a:off x="8223914" y="3640684"/>
              <a:ext cx="504437" cy="873709"/>
            </a:xfrm>
            <a:custGeom>
              <a:avLst/>
              <a:gdLst/>
              <a:ahLst/>
              <a:cxnLst/>
              <a:rect l="l" t="t" r="r" b="b"/>
              <a:pathLst>
                <a:path w="504437" h="873709">
                  <a:moveTo>
                    <a:pt x="504437" y="582472"/>
                  </a:moveTo>
                  <a:lnTo>
                    <a:pt x="0" y="873709"/>
                  </a:lnTo>
                  <a:lnTo>
                    <a:pt x="0" y="291236"/>
                  </a:lnTo>
                  <a:lnTo>
                    <a:pt x="504437"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Block 121 · atas"/>
            <p:cNvSpPr/>
            <p:nvPr/>
          </p:nvSpPr>
          <p:spPr>
            <a:xfrm>
              <a:off x="7719478" y="3349447"/>
              <a:ext cx="1008873" cy="582473"/>
            </a:xfrm>
            <a:custGeom>
              <a:avLst/>
              <a:gdLst/>
              <a:ahLst/>
              <a:cxnLst/>
              <a:rect l="l" t="t" r="r" b="b"/>
              <a:pathLst>
                <a:path w="1008873" h="582473">
                  <a:moveTo>
                    <a:pt x="504436" y="0"/>
                  </a:moveTo>
                  <a:lnTo>
                    <a:pt x="1008873" y="291237"/>
                  </a:lnTo>
                  <a:lnTo>
                    <a:pt x="504436" y="582473"/>
                  </a:lnTo>
                  <a:lnTo>
                    <a:pt x="0" y="29123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Block 202 · kiri"/>
            <p:cNvSpPr/>
            <p:nvPr/>
          </p:nvSpPr>
          <p:spPr>
            <a:xfrm>
              <a:off x="9382455" y="268056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lock 202 · kanan"/>
            <p:cNvSpPr/>
            <p:nvPr/>
          </p:nvSpPr>
          <p:spPr>
            <a:xfrm>
              <a:off x="9886891" y="268056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Block 202 · atas"/>
            <p:cNvSpPr/>
            <p:nvPr/>
          </p:nvSpPr>
          <p:spPr>
            <a:xfrm>
              <a:off x="9382455" y="238932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Block 211 · kiri"/>
            <p:cNvSpPr/>
            <p:nvPr/>
          </p:nvSpPr>
          <p:spPr>
            <a:xfrm>
              <a:off x="8828129" y="3640684"/>
              <a:ext cx="504437" cy="873709"/>
            </a:xfrm>
            <a:custGeom>
              <a:avLst/>
              <a:gdLst/>
              <a:ahLst/>
              <a:cxnLst/>
              <a:rect l="l" t="t" r="r" b="b"/>
              <a:pathLst>
                <a:path w="504437" h="873709">
                  <a:moveTo>
                    <a:pt x="0" y="582472"/>
                  </a:moveTo>
                  <a:lnTo>
                    <a:pt x="504437" y="873709"/>
                  </a:lnTo>
                  <a:lnTo>
                    <a:pt x="504437" y="2912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Block 211 · kanan"/>
            <p:cNvSpPr/>
            <p:nvPr/>
          </p:nvSpPr>
          <p:spPr>
            <a:xfrm>
              <a:off x="9332566" y="364068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Block 211 · atas"/>
            <p:cNvSpPr/>
            <p:nvPr/>
          </p:nvSpPr>
          <p:spPr>
            <a:xfrm>
              <a:off x="8828129" y="3349447"/>
              <a:ext cx="1008873" cy="582473"/>
            </a:xfrm>
            <a:custGeom>
              <a:avLst/>
              <a:gdLst/>
              <a:ahLst/>
              <a:cxnLst/>
              <a:rect l="l" t="t" r="r" b="b"/>
              <a:pathLst>
                <a:path w="1008873" h="582473">
                  <a:moveTo>
                    <a:pt x="504437" y="0"/>
                  </a:moveTo>
                  <a:lnTo>
                    <a:pt x="1008873" y="291237"/>
                  </a:lnTo>
                  <a:lnTo>
                    <a:pt x="504437" y="582473"/>
                  </a:lnTo>
                  <a:lnTo>
                    <a:pt x="0" y="29123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Block 220 · kiri"/>
            <p:cNvSpPr/>
            <p:nvPr/>
          </p:nvSpPr>
          <p:spPr>
            <a:xfrm>
              <a:off x="8273804" y="460080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Block 220 · kanan"/>
            <p:cNvSpPr/>
            <p:nvPr/>
          </p:nvSpPr>
          <p:spPr>
            <a:xfrm>
              <a:off x="8778240" y="460080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Block 220 · atas"/>
            <p:cNvSpPr/>
            <p:nvPr/>
          </p:nvSpPr>
          <p:spPr>
            <a:xfrm>
              <a:off x="8273804" y="430956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Block 221 · kiri"/>
            <p:cNvSpPr/>
            <p:nvPr/>
          </p:nvSpPr>
          <p:spPr>
            <a:xfrm>
              <a:off x="8273804" y="3960724"/>
              <a:ext cx="504436" cy="873709"/>
            </a:xfrm>
            <a:custGeom>
              <a:avLst/>
              <a:gdLst/>
              <a:ahLst/>
              <a:cxnLst/>
              <a:rect l="l" t="t" r="r" b="b"/>
              <a:pathLst>
                <a:path w="504436" h="873709">
                  <a:moveTo>
                    <a:pt x="0" y="582472"/>
                  </a:moveTo>
                  <a:lnTo>
                    <a:pt x="504436" y="873709"/>
                  </a:lnTo>
                  <a:lnTo>
                    <a:pt x="504436" y="2912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Block 221 · kanan"/>
            <p:cNvSpPr/>
            <p:nvPr/>
          </p:nvSpPr>
          <p:spPr>
            <a:xfrm>
              <a:off x="8778240" y="3960724"/>
              <a:ext cx="504436" cy="873709"/>
            </a:xfrm>
            <a:custGeom>
              <a:avLst/>
              <a:gdLst/>
              <a:ahLst/>
              <a:cxnLst/>
              <a:rect l="l" t="t" r="r" b="b"/>
              <a:pathLst>
                <a:path w="504436" h="873709">
                  <a:moveTo>
                    <a:pt x="504436" y="582472"/>
                  </a:moveTo>
                  <a:lnTo>
                    <a:pt x="0" y="873709"/>
                  </a:lnTo>
                  <a:lnTo>
                    <a:pt x="0" y="291236"/>
                  </a:lnTo>
                  <a:lnTo>
                    <a:pt x="504436"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Block 221 · atas"/>
            <p:cNvSpPr/>
            <p:nvPr/>
          </p:nvSpPr>
          <p:spPr>
            <a:xfrm>
              <a:off x="8273804" y="3669487"/>
              <a:ext cx="1008872" cy="582473"/>
            </a:xfrm>
            <a:custGeom>
              <a:avLst/>
              <a:gdLst/>
              <a:ahLst/>
              <a:cxnLst/>
              <a:rect l="l" t="t" r="r" b="b"/>
              <a:pathLst>
                <a:path w="1008872" h="582473">
                  <a:moveTo>
                    <a:pt x="504436" y="0"/>
                  </a:moveTo>
                  <a:lnTo>
                    <a:pt x="1008872" y="291237"/>
                  </a:lnTo>
                  <a:lnTo>
                    <a:pt x="504436" y="582473"/>
                  </a:lnTo>
                  <a:lnTo>
                    <a:pt x="0" y="29123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loating block · sealed · kiri"/>
            <p:cNvSpPr/>
            <p:nvPr/>
          </p:nvSpPr>
          <p:spPr>
            <a:xfrm>
              <a:off x="10108621" y="3931920"/>
              <a:ext cx="498893" cy="864108"/>
            </a:xfrm>
            <a:custGeom>
              <a:avLst/>
              <a:gdLst/>
              <a:ahLst/>
              <a:cxnLst/>
              <a:rect l="l" t="t" r="r" b="b"/>
              <a:pathLst>
                <a:path w="498893" h="864108">
                  <a:moveTo>
                    <a:pt x="0" y="576072"/>
                  </a:moveTo>
                  <a:lnTo>
                    <a:pt x="498893" y="864108"/>
                  </a:lnTo>
                  <a:lnTo>
                    <a:pt x="498893" y="288036"/>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loating block · sealed · kanan"/>
            <p:cNvSpPr/>
            <p:nvPr/>
          </p:nvSpPr>
          <p:spPr>
            <a:xfrm>
              <a:off x="10607514" y="3931920"/>
              <a:ext cx="498893" cy="864108"/>
            </a:xfrm>
            <a:custGeom>
              <a:avLst/>
              <a:gdLst/>
              <a:ahLst/>
              <a:cxnLst/>
              <a:rect l="l" t="t" r="r" b="b"/>
              <a:pathLst>
                <a:path w="498893" h="864108">
                  <a:moveTo>
                    <a:pt x="498893" y="576072"/>
                  </a:moveTo>
                  <a:lnTo>
                    <a:pt x="0" y="864108"/>
                  </a:lnTo>
                  <a:lnTo>
                    <a:pt x="0" y="288036"/>
                  </a:lnTo>
                  <a:lnTo>
                    <a:pt x="498893"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loating block · sealed · atas"/>
            <p:cNvSpPr/>
            <p:nvPr/>
          </p:nvSpPr>
          <p:spPr>
            <a:xfrm>
              <a:off x="10108621" y="3643884"/>
              <a:ext cx="997786" cy="576072"/>
            </a:xfrm>
            <a:custGeom>
              <a:avLst/>
              <a:gdLst/>
              <a:ahLst/>
              <a:cxnLst/>
              <a:rect l="l" t="t" r="r" b="b"/>
              <a:pathLst>
                <a:path w="997786" h="576072">
                  <a:moveTo>
                    <a:pt x="498893" y="0"/>
                  </a:moveTo>
                  <a:lnTo>
                    <a:pt x="997786" y="288036"/>
                  </a:lnTo>
                  <a:lnTo>
                    <a:pt x="498893" y="576072"/>
                  </a:lnTo>
                  <a:lnTo>
                    <a:pt x="0" y="288036"/>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loating block · opened · kiri"/>
            <p:cNvSpPr/>
            <p:nvPr/>
          </p:nvSpPr>
          <p:spPr>
            <a:xfrm>
              <a:off x="8279347" y="1371600"/>
              <a:ext cx="498893" cy="864108"/>
            </a:xfrm>
            <a:custGeom>
              <a:avLst/>
              <a:gdLst/>
              <a:ahLst/>
              <a:cxnLst/>
              <a:rect l="l" t="t" r="r" b="b"/>
              <a:pathLst>
                <a:path w="498893" h="864108">
                  <a:moveTo>
                    <a:pt x="0" y="576072"/>
                  </a:moveTo>
                  <a:lnTo>
                    <a:pt x="498893" y="864108"/>
                  </a:lnTo>
                  <a:lnTo>
                    <a:pt x="498893" y="288036"/>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loating block · opened · kanan"/>
            <p:cNvSpPr/>
            <p:nvPr/>
          </p:nvSpPr>
          <p:spPr>
            <a:xfrm>
              <a:off x="8778240" y="1371600"/>
              <a:ext cx="498893" cy="864108"/>
            </a:xfrm>
            <a:custGeom>
              <a:avLst/>
              <a:gdLst/>
              <a:ahLst/>
              <a:cxnLst/>
              <a:rect l="l" t="t" r="r" b="b"/>
              <a:pathLst>
                <a:path w="498893" h="864108">
                  <a:moveTo>
                    <a:pt x="498893" y="576072"/>
                  </a:moveTo>
                  <a:lnTo>
                    <a:pt x="0" y="864108"/>
                  </a:lnTo>
                  <a:lnTo>
                    <a:pt x="0" y="288036"/>
                  </a:lnTo>
                  <a:lnTo>
                    <a:pt x="498893"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loating block · opened · atas"/>
            <p:cNvSpPr/>
            <p:nvPr/>
          </p:nvSpPr>
          <p:spPr>
            <a:xfrm>
              <a:off x="8279347" y="1083564"/>
              <a:ext cx="997786" cy="576072"/>
            </a:xfrm>
            <a:custGeom>
              <a:avLst/>
              <a:gdLst/>
              <a:ahLst/>
              <a:cxnLst/>
              <a:rect l="l" t="t" r="r" b="b"/>
              <a:pathLst>
                <a:path w="997786" h="576072">
                  <a:moveTo>
                    <a:pt x="498893" y="0"/>
                  </a:moveTo>
                  <a:lnTo>
                    <a:pt x="997786" y="288036"/>
                  </a:lnTo>
                  <a:lnTo>
                    <a:pt x="498893" y="576072"/>
                  </a:lnTo>
                  <a:lnTo>
                    <a:pt x="0" y="288036"/>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rbit"/>
            <p:cNvSpPr/>
            <p:nvPr/>
          </p:nvSpPr>
          <p:spPr>
            <a:xfrm>
              <a:off x="5172140" y="2842061"/>
              <a:ext cx="7212200" cy="4163966"/>
            </a:xfrm>
            <a:custGeom>
              <a:avLst/>
              <a:gdLst/>
              <a:ahLst/>
              <a:cxnLst/>
              <a:rect l="l" t="t" r="r" b="b"/>
              <a:pathLst>
                <a:path w="7212200" h="4163966">
                  <a:moveTo>
                    <a:pt x="6155997" y="3554167"/>
                  </a:moveTo>
                  <a:lnTo>
                    <a:pt x="5924056" y="3676874"/>
                  </a:lnTo>
                  <a:lnTo>
                    <a:pt x="5674474" y="3787443"/>
                  </a:lnTo>
                  <a:lnTo>
                    <a:pt x="5409150" y="3885033"/>
                  </a:lnTo>
                  <a:lnTo>
                    <a:pt x="5130104" y="3968900"/>
                  </a:lnTo>
                  <a:lnTo>
                    <a:pt x="4839459" y="4038407"/>
                  </a:lnTo>
                  <a:lnTo>
                    <a:pt x="4539427" y="4093024"/>
                  </a:lnTo>
                  <a:lnTo>
                    <a:pt x="4232293" y="4132336"/>
                  </a:lnTo>
                  <a:lnTo>
                    <a:pt x="3920392" y="4156043"/>
                  </a:lnTo>
                  <a:lnTo>
                    <a:pt x="3606100" y="4163966"/>
                  </a:lnTo>
                  <a:lnTo>
                    <a:pt x="3291808" y="4156043"/>
                  </a:lnTo>
                  <a:lnTo>
                    <a:pt x="2979907" y="4132336"/>
                  </a:lnTo>
                  <a:lnTo>
                    <a:pt x="2672773" y="4093024"/>
                  </a:lnTo>
                  <a:lnTo>
                    <a:pt x="2372741" y="4038407"/>
                  </a:lnTo>
                  <a:lnTo>
                    <a:pt x="2082096" y="3968900"/>
                  </a:lnTo>
                  <a:lnTo>
                    <a:pt x="1803050" y="3885033"/>
                  </a:lnTo>
                  <a:lnTo>
                    <a:pt x="1537726" y="3787443"/>
                  </a:lnTo>
                  <a:lnTo>
                    <a:pt x="1288144" y="3676874"/>
                  </a:lnTo>
                  <a:lnTo>
                    <a:pt x="1056203" y="3554167"/>
                  </a:lnTo>
                  <a:lnTo>
                    <a:pt x="843667" y="3420256"/>
                  </a:lnTo>
                  <a:lnTo>
                    <a:pt x="652156" y="3276159"/>
                  </a:lnTo>
                  <a:lnTo>
                    <a:pt x="483126" y="3122974"/>
                  </a:lnTo>
                  <a:lnTo>
                    <a:pt x="337864" y="2961867"/>
                  </a:lnTo>
                  <a:lnTo>
                    <a:pt x="217475" y="2794063"/>
                  </a:lnTo>
                  <a:lnTo>
                    <a:pt x="122875" y="2620840"/>
                  </a:lnTo>
                  <a:lnTo>
                    <a:pt x="54785" y="2443515"/>
                  </a:lnTo>
                  <a:lnTo>
                    <a:pt x="13723" y="2263440"/>
                  </a:lnTo>
                  <a:lnTo>
                    <a:pt x="0" y="2081983"/>
                  </a:lnTo>
                  <a:lnTo>
                    <a:pt x="13723" y="1900526"/>
                  </a:lnTo>
                  <a:lnTo>
                    <a:pt x="54785" y="1720451"/>
                  </a:lnTo>
                  <a:lnTo>
                    <a:pt x="122875" y="1543126"/>
                  </a:lnTo>
                  <a:lnTo>
                    <a:pt x="217475" y="1369903"/>
                  </a:lnTo>
                  <a:lnTo>
                    <a:pt x="337864" y="1202099"/>
                  </a:lnTo>
                  <a:lnTo>
                    <a:pt x="483126" y="1040992"/>
                  </a:lnTo>
                  <a:lnTo>
                    <a:pt x="652156" y="887807"/>
                  </a:lnTo>
                  <a:lnTo>
                    <a:pt x="843667" y="743710"/>
                  </a:lnTo>
                  <a:lnTo>
                    <a:pt x="1056203" y="609799"/>
                  </a:lnTo>
                  <a:lnTo>
                    <a:pt x="1288144" y="487092"/>
                  </a:lnTo>
                  <a:lnTo>
                    <a:pt x="1537726" y="376523"/>
                  </a:lnTo>
                  <a:lnTo>
                    <a:pt x="1803050" y="278933"/>
                  </a:lnTo>
                  <a:lnTo>
                    <a:pt x="2082096" y="195066"/>
                  </a:lnTo>
                  <a:lnTo>
                    <a:pt x="2372741" y="125559"/>
                  </a:lnTo>
                  <a:lnTo>
                    <a:pt x="2672773" y="70942"/>
                  </a:lnTo>
                  <a:lnTo>
                    <a:pt x="2979907" y="31630"/>
                  </a:lnTo>
                  <a:lnTo>
                    <a:pt x="3291808" y="7923"/>
                  </a:lnTo>
                  <a:lnTo>
                    <a:pt x="3606100" y="0"/>
                  </a:lnTo>
                  <a:lnTo>
                    <a:pt x="3920392" y="7923"/>
                  </a:lnTo>
                  <a:lnTo>
                    <a:pt x="4232293" y="31630"/>
                  </a:lnTo>
                  <a:lnTo>
                    <a:pt x="4539427" y="70942"/>
                  </a:lnTo>
                  <a:lnTo>
                    <a:pt x="4839459" y="125559"/>
                  </a:lnTo>
                  <a:lnTo>
                    <a:pt x="5130104" y="195066"/>
                  </a:lnTo>
                  <a:lnTo>
                    <a:pt x="5409150" y="278933"/>
                  </a:lnTo>
                  <a:lnTo>
                    <a:pt x="5674474" y="376523"/>
                  </a:lnTo>
                  <a:lnTo>
                    <a:pt x="5924056" y="487092"/>
                  </a:lnTo>
                  <a:lnTo>
                    <a:pt x="6155997" y="609799"/>
                  </a:lnTo>
                  <a:lnTo>
                    <a:pt x="6368533" y="743710"/>
                  </a:lnTo>
                  <a:lnTo>
                    <a:pt x="6560044" y="887807"/>
                  </a:lnTo>
                  <a:lnTo>
                    <a:pt x="6729074" y="1040992"/>
                  </a:lnTo>
                  <a:lnTo>
                    <a:pt x="6874336" y="1202099"/>
                  </a:lnTo>
                  <a:lnTo>
                    <a:pt x="6994725" y="1369903"/>
                  </a:lnTo>
                  <a:lnTo>
                    <a:pt x="7089325" y="1543126"/>
                  </a:lnTo>
                  <a:lnTo>
                    <a:pt x="7157415" y="1720451"/>
                  </a:lnTo>
                  <a:lnTo>
                    <a:pt x="7198477" y="1900526"/>
                  </a:lnTo>
                  <a:lnTo>
                    <a:pt x="7212200" y="2081983"/>
                  </a:lnTo>
                  <a:lnTo>
                    <a:pt x="7198477" y="2263440"/>
                  </a:lnTo>
                  <a:lnTo>
                    <a:pt x="7157415" y="2443515"/>
                  </a:lnTo>
                  <a:lnTo>
                    <a:pt x="7089325" y="2620840"/>
                  </a:lnTo>
                  <a:lnTo>
                    <a:pt x="6994725" y="2794063"/>
                  </a:lnTo>
                  <a:lnTo>
                    <a:pt x="6874336" y="2961867"/>
                  </a:lnTo>
                  <a:lnTo>
                    <a:pt x="6729074" y="3122974"/>
                  </a:lnTo>
                  <a:lnTo>
                    <a:pt x="6560044" y="3276159"/>
                  </a:lnTo>
                  <a:lnTo>
                    <a:pt x="6368533" y="3420256"/>
                  </a:lnTo>
                  <a:close/>
                </a:path>
              </a:pathLst>
            </a:custGeom>
            <a:noFill/>
            <a:ln w="11430" cap="rnd">
              <a:solidFill>
                <a:srgbClr val="9D86FF">
                  <a:alpha val="4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rbit outer"/>
            <p:cNvSpPr/>
            <p:nvPr/>
          </p:nvSpPr>
          <p:spPr>
            <a:xfrm>
              <a:off x="4388206" y="2389457"/>
              <a:ext cx="8780068" cy="5069174"/>
            </a:xfrm>
            <a:custGeom>
              <a:avLst/>
              <a:gdLst/>
              <a:ahLst/>
              <a:cxnLst/>
              <a:rect l="l" t="t" r="r" b="b"/>
              <a:pathLst>
                <a:path w="8780068" h="5069174">
                  <a:moveTo>
                    <a:pt x="7494257" y="4326811"/>
                  </a:moveTo>
                  <a:lnTo>
                    <a:pt x="7211894" y="4476194"/>
                  </a:lnTo>
                  <a:lnTo>
                    <a:pt x="6908054" y="4610800"/>
                  </a:lnTo>
                  <a:lnTo>
                    <a:pt x="6585051" y="4729604"/>
                  </a:lnTo>
                  <a:lnTo>
                    <a:pt x="6245343" y="4831703"/>
                  </a:lnTo>
                  <a:lnTo>
                    <a:pt x="5891514" y="4916320"/>
                  </a:lnTo>
                  <a:lnTo>
                    <a:pt x="5526258" y="4982811"/>
                  </a:lnTo>
                  <a:lnTo>
                    <a:pt x="5152355" y="5030668"/>
                  </a:lnTo>
                  <a:lnTo>
                    <a:pt x="4772651" y="5059530"/>
                  </a:lnTo>
                  <a:lnTo>
                    <a:pt x="4390034" y="5069174"/>
                  </a:lnTo>
                  <a:lnTo>
                    <a:pt x="4007417" y="5059530"/>
                  </a:lnTo>
                  <a:lnTo>
                    <a:pt x="3627713" y="5030668"/>
                  </a:lnTo>
                  <a:lnTo>
                    <a:pt x="3253810" y="4982811"/>
                  </a:lnTo>
                  <a:lnTo>
                    <a:pt x="2888554" y="4916320"/>
                  </a:lnTo>
                  <a:lnTo>
                    <a:pt x="2534725" y="4831703"/>
                  </a:lnTo>
                  <a:lnTo>
                    <a:pt x="2195017" y="4729604"/>
                  </a:lnTo>
                  <a:lnTo>
                    <a:pt x="1872014" y="4610800"/>
                  </a:lnTo>
                  <a:lnTo>
                    <a:pt x="1568174" y="4476194"/>
                  </a:lnTo>
                  <a:lnTo>
                    <a:pt x="1285811" y="4326811"/>
                  </a:lnTo>
                  <a:lnTo>
                    <a:pt x="1027073" y="4163788"/>
                  </a:lnTo>
                  <a:lnTo>
                    <a:pt x="793928" y="3988367"/>
                  </a:lnTo>
                  <a:lnTo>
                    <a:pt x="588153" y="3801881"/>
                  </a:lnTo>
                  <a:lnTo>
                    <a:pt x="411312" y="3605750"/>
                  </a:lnTo>
                  <a:lnTo>
                    <a:pt x="264751" y="3401467"/>
                  </a:lnTo>
                  <a:lnTo>
                    <a:pt x="149586" y="3190587"/>
                  </a:lnTo>
                  <a:lnTo>
                    <a:pt x="66694" y="2974713"/>
                  </a:lnTo>
                  <a:lnTo>
                    <a:pt x="16705" y="2755491"/>
                  </a:lnTo>
                  <a:lnTo>
                    <a:pt x="0" y="2534587"/>
                  </a:lnTo>
                  <a:lnTo>
                    <a:pt x="16705" y="2313683"/>
                  </a:lnTo>
                  <a:lnTo>
                    <a:pt x="66694" y="2094461"/>
                  </a:lnTo>
                  <a:lnTo>
                    <a:pt x="149586" y="1878587"/>
                  </a:lnTo>
                  <a:lnTo>
                    <a:pt x="264751" y="1667707"/>
                  </a:lnTo>
                  <a:lnTo>
                    <a:pt x="411312" y="1463424"/>
                  </a:lnTo>
                  <a:lnTo>
                    <a:pt x="588153" y="1267293"/>
                  </a:lnTo>
                  <a:lnTo>
                    <a:pt x="793928" y="1080807"/>
                  </a:lnTo>
                  <a:lnTo>
                    <a:pt x="1027073" y="905386"/>
                  </a:lnTo>
                  <a:lnTo>
                    <a:pt x="1285811" y="742363"/>
                  </a:lnTo>
                  <a:lnTo>
                    <a:pt x="1568174" y="592980"/>
                  </a:lnTo>
                  <a:lnTo>
                    <a:pt x="1872014" y="458374"/>
                  </a:lnTo>
                  <a:lnTo>
                    <a:pt x="2195017" y="339570"/>
                  </a:lnTo>
                  <a:lnTo>
                    <a:pt x="2534725" y="237471"/>
                  </a:lnTo>
                  <a:lnTo>
                    <a:pt x="2888554" y="152854"/>
                  </a:lnTo>
                  <a:lnTo>
                    <a:pt x="3253810" y="86363"/>
                  </a:lnTo>
                  <a:lnTo>
                    <a:pt x="3627713" y="38506"/>
                  </a:lnTo>
                  <a:lnTo>
                    <a:pt x="4007417" y="9644"/>
                  </a:lnTo>
                  <a:lnTo>
                    <a:pt x="4390034" y="0"/>
                  </a:lnTo>
                  <a:lnTo>
                    <a:pt x="4772651" y="9644"/>
                  </a:lnTo>
                  <a:lnTo>
                    <a:pt x="5152355" y="38506"/>
                  </a:lnTo>
                  <a:lnTo>
                    <a:pt x="5526258" y="86363"/>
                  </a:lnTo>
                  <a:lnTo>
                    <a:pt x="5891514" y="152854"/>
                  </a:lnTo>
                  <a:lnTo>
                    <a:pt x="6245343" y="237471"/>
                  </a:lnTo>
                  <a:lnTo>
                    <a:pt x="6585051" y="339570"/>
                  </a:lnTo>
                  <a:lnTo>
                    <a:pt x="6908054" y="458374"/>
                  </a:lnTo>
                  <a:lnTo>
                    <a:pt x="7211894" y="592980"/>
                  </a:lnTo>
                  <a:lnTo>
                    <a:pt x="7494257" y="742363"/>
                  </a:lnTo>
                  <a:lnTo>
                    <a:pt x="7752995" y="905386"/>
                  </a:lnTo>
                  <a:lnTo>
                    <a:pt x="7986140" y="1080807"/>
                  </a:lnTo>
                  <a:lnTo>
                    <a:pt x="8191915" y="1267293"/>
                  </a:lnTo>
                  <a:lnTo>
                    <a:pt x="8368756" y="1463424"/>
                  </a:lnTo>
                  <a:lnTo>
                    <a:pt x="8515317" y="1667707"/>
                  </a:lnTo>
                  <a:lnTo>
                    <a:pt x="8630482" y="1878587"/>
                  </a:lnTo>
                  <a:lnTo>
                    <a:pt x="8713374" y="2094461"/>
                  </a:lnTo>
                  <a:lnTo>
                    <a:pt x="8763363" y="2313683"/>
                  </a:lnTo>
                  <a:lnTo>
                    <a:pt x="8780068" y="2534587"/>
                  </a:lnTo>
                  <a:lnTo>
                    <a:pt x="8763363" y="2755491"/>
                  </a:lnTo>
                  <a:lnTo>
                    <a:pt x="8713374" y="2974713"/>
                  </a:lnTo>
                  <a:lnTo>
                    <a:pt x="8630482" y="3190587"/>
                  </a:lnTo>
                  <a:lnTo>
                    <a:pt x="8515317" y="3401467"/>
                  </a:lnTo>
                  <a:lnTo>
                    <a:pt x="8368756" y="3605750"/>
                  </a:lnTo>
                  <a:lnTo>
                    <a:pt x="8191915" y="3801881"/>
                  </a:lnTo>
                  <a:lnTo>
                    <a:pt x="7986140" y="3988367"/>
                  </a:lnTo>
                  <a:lnTo>
                    <a:pt x="7752995" y="4163788"/>
                  </a:lnTo>
                  <a:close/>
                </a:path>
              </a:pathLst>
            </a:custGeom>
            <a:noFill/>
            <a:ln w="9525" cap="rnd">
              <a:solidFill>
                <a:srgbClr val="C9BDF2">
                  <a:alpha val="18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Spark"/>
            <p:cNvSpPr/>
            <p:nvPr/>
          </p:nvSpPr>
          <p:spPr>
            <a:xfrm>
              <a:off x="6041012" y="2913259"/>
              <a:ext cx="41148" cy="41148"/>
            </a:xfrm>
            <a:prstGeom prst="ellipse">
              <a:avLst/>
            </a:prstGeom>
            <a:solidFill>
              <a:srgbClr val="C9BDF2">
                <a:alpha val="61957"/>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Spark"/>
            <p:cNvSpPr/>
            <p:nvPr/>
          </p:nvSpPr>
          <p:spPr>
            <a:xfrm>
              <a:off x="9505372" y="3627871"/>
              <a:ext cx="41148" cy="41148"/>
            </a:xfrm>
            <a:prstGeom prst="ellipse">
              <a:avLst/>
            </a:prstGeom>
            <a:solidFill>
              <a:srgbClr val="C9BDF2">
                <a:alpha val="26687"/>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Spark"/>
            <p:cNvSpPr/>
            <p:nvPr/>
          </p:nvSpPr>
          <p:spPr>
            <a:xfrm>
              <a:off x="6257347" y="3907976"/>
              <a:ext cx="54864" cy="54864"/>
            </a:xfrm>
            <a:prstGeom prst="ellipse">
              <a:avLst/>
            </a:prstGeom>
            <a:solidFill>
              <a:srgbClr val="C9BDF2">
                <a:alpha val="2766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Spark"/>
            <p:cNvSpPr/>
            <p:nvPr/>
          </p:nvSpPr>
          <p:spPr>
            <a:xfrm>
              <a:off x="7031065" y="-74755"/>
              <a:ext cx="32004" cy="32004"/>
            </a:xfrm>
            <a:prstGeom prst="ellipse">
              <a:avLst/>
            </a:prstGeom>
            <a:solidFill>
              <a:srgbClr val="C9BDF2">
                <a:alpha val="67647"/>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Spark"/>
            <p:cNvSpPr/>
            <p:nvPr/>
          </p:nvSpPr>
          <p:spPr>
            <a:xfrm>
              <a:off x="7737522" y="-714508"/>
              <a:ext cx="41148" cy="41148"/>
            </a:xfrm>
            <a:prstGeom prst="ellipse">
              <a:avLst/>
            </a:prstGeom>
            <a:solidFill>
              <a:srgbClr val="C9BDF2">
                <a:alpha val="5005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Spark"/>
            <p:cNvSpPr/>
            <p:nvPr/>
          </p:nvSpPr>
          <p:spPr>
            <a:xfrm>
              <a:off x="8582835" y="4819541"/>
              <a:ext cx="32004" cy="32004"/>
            </a:xfrm>
            <a:prstGeom prst="ellipse">
              <a:avLst/>
            </a:prstGeom>
            <a:solidFill>
              <a:srgbClr val="C9BDF2">
                <a:alpha val="38882"/>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Spark"/>
            <p:cNvSpPr/>
            <p:nvPr/>
          </p:nvSpPr>
          <p:spPr>
            <a:xfrm>
              <a:off x="11497427" y="2040518"/>
              <a:ext cx="32004" cy="32004"/>
            </a:xfrm>
            <a:prstGeom prst="ellipse">
              <a:avLst/>
            </a:prstGeom>
            <a:solidFill>
              <a:srgbClr val="C9BDF2">
                <a:alpha val="33454"/>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Spark"/>
            <p:cNvSpPr/>
            <p:nvPr/>
          </p:nvSpPr>
          <p:spPr>
            <a:xfrm>
              <a:off x="9483273" y="5095937"/>
              <a:ext cx="32004" cy="32004"/>
            </a:xfrm>
            <a:prstGeom prst="ellipse">
              <a:avLst/>
            </a:prstGeom>
            <a:solidFill>
              <a:srgbClr val="C9BDF2">
                <a:alpha val="34268"/>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Spark"/>
            <p:cNvSpPr/>
            <p:nvPr/>
          </p:nvSpPr>
          <p:spPr>
            <a:xfrm>
              <a:off x="9960938" y="1738525"/>
              <a:ext cx="32004" cy="32004"/>
            </a:xfrm>
            <a:prstGeom prst="ellipse">
              <a:avLst/>
            </a:prstGeom>
            <a:solidFill>
              <a:srgbClr val="C9BDF2">
                <a:alpha val="6655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Spark"/>
            <p:cNvSpPr/>
            <p:nvPr/>
          </p:nvSpPr>
          <p:spPr>
            <a:xfrm>
              <a:off x="5675809" y="4290443"/>
              <a:ext cx="41148" cy="41148"/>
            </a:xfrm>
            <a:prstGeom prst="ellipse">
              <a:avLst/>
            </a:prstGeom>
            <a:solidFill>
              <a:srgbClr val="C9BDF2">
                <a:alpha val="28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Spark"/>
            <p:cNvSpPr/>
            <p:nvPr/>
          </p:nvSpPr>
          <p:spPr>
            <a:xfrm>
              <a:off x="5475528" y="4485238"/>
              <a:ext cx="54864" cy="54864"/>
            </a:xfrm>
            <a:prstGeom prst="ellipse">
              <a:avLst/>
            </a:prstGeom>
            <a:solidFill>
              <a:srgbClr val="C9BDF2">
                <a:alpha val="37957"/>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Spark"/>
            <p:cNvSpPr/>
            <p:nvPr/>
          </p:nvSpPr>
          <p:spPr>
            <a:xfrm>
              <a:off x="10950507" y="4235681"/>
              <a:ext cx="54864" cy="54864"/>
            </a:xfrm>
            <a:prstGeom prst="ellipse">
              <a:avLst/>
            </a:prstGeom>
            <a:solidFill>
              <a:srgbClr val="C9BDF2">
                <a:alpha val="3183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Spark"/>
            <p:cNvSpPr/>
            <p:nvPr/>
          </p:nvSpPr>
          <p:spPr>
            <a:xfrm>
              <a:off x="6800186" y="1345655"/>
              <a:ext cx="32004" cy="32004"/>
            </a:xfrm>
            <a:prstGeom prst="ellipse">
              <a:avLst/>
            </a:prstGeom>
            <a:solidFill>
              <a:srgbClr val="C9BDF2">
                <a:alpha val="50786"/>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Spark"/>
            <p:cNvSpPr/>
            <p:nvPr/>
          </p:nvSpPr>
          <p:spPr>
            <a:xfrm>
              <a:off x="12008687" y="2236398"/>
              <a:ext cx="32004" cy="32004"/>
            </a:xfrm>
            <a:prstGeom prst="ellipse">
              <a:avLst/>
            </a:prstGeom>
            <a:solidFill>
              <a:srgbClr val="C9BDF2">
                <a:alpha val="4735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35" name="Kicker"/>
          <p:cNvSpPr txBox="1"/>
          <p:nvPr/>
        </p:nvSpPr>
        <p:spPr>
          <a:xfrm>
            <a:off x="594360" y="640080"/>
            <a:ext cx="5760720" cy="256032"/>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BNB CHAIN · TESTNET · PAPER ONLY</a:t>
            </a:r>
          </a:p>
        </p:txBody>
      </p:sp>
      <p:sp>
        <p:nvSpPr>
          <p:cNvPr id="136" name="Hook"/>
          <p:cNvSpPr txBox="1"/>
          <p:nvPr/>
        </p:nvSpPr>
        <p:spPr>
          <a:xfrm>
            <a:off x="594360" y="2697480"/>
            <a:ext cx="5760720" cy="1188720"/>
          </a:xfrm>
          <a:prstGeom prst="rect">
            <a:avLst/>
          </a:prstGeom>
          <a:noFill/>
        </p:spPr>
        <p:txBody>
          <a:bodyPr wrap="square" lIns="0" rIns="0" tIns="0" bIns="0" anchor="t">
            <a:noAutofit/>
          </a:bodyPr>
          <a:lstStyle/>
          <a:p>
            <a:pPr algn="l">
              <a:lnSpc>
                <a:spcPct val="105000"/>
              </a:lnSpc>
              <a:spcBef>
                <a:spcPts val="0"/>
              </a:spcBef>
              <a:spcAft>
                <a:spcPts val="0"/>
              </a:spcAft>
            </a:pPr>
            <a:r>
              <a:rPr sz="3400" b="0" i="0" lang="en-US">
                <a:solidFill>
                  <a:srgbClr val="ECE8FA"/>
                </a:solidFill>
                <a:latin typeface="Archivo" pitchFamily="34" charset="0"/>
              </a:rPr>
              <a:t>Signals sealed</a:t>
            </a:r>
            <a:br>
              <a:rPr sz="3400"/>
            </a:br>
            <a:r>
              <a:rPr sz="3400" b="1" i="1" lang="en-US">
                <a:solidFill>
                  <a:srgbClr val="9D86FF"/>
                </a:solidFill>
                <a:latin typeface="Archivo" pitchFamily="34" charset="0"/>
              </a:rPr>
              <a:t>before the outcome.</a:t>
            </a:r>
          </a:p>
        </p:txBody>
      </p:sp>
      <p:sp>
        <p:nvSpPr>
          <p:cNvPr id="137" name="Tagline"/>
          <p:cNvSpPr txBox="1"/>
          <p:nvPr/>
        </p:nvSpPr>
        <p:spPr>
          <a:xfrm>
            <a:off x="594360" y="4023360"/>
            <a:ext cx="5486400" cy="1097280"/>
          </a:xfrm>
          <a:prstGeom prst="rect">
            <a:avLst/>
          </a:prstGeom>
          <a:noFill/>
        </p:spPr>
        <p:txBody>
          <a:bodyPr wrap="square" lIns="0" rIns="0" tIns="0" bIns="0" anchor="t">
            <a:noAutofit/>
          </a:bodyPr>
          <a:lstStyle/>
          <a:p>
            <a:pPr algn="l">
              <a:lnSpc>
                <a:spcPct val="130000"/>
              </a:lnSpc>
              <a:spcBef>
                <a:spcPts val="0"/>
              </a:spcBef>
              <a:spcAft>
                <a:spcPts val="0"/>
              </a:spcAft>
            </a:pPr>
            <a:r>
              <a:rPr sz="1800" b="0" i="0" lang="en-US">
                <a:solidFill>
                  <a:srgbClr val="C9BDF2"/>
                </a:solidFill>
                <a:latin typeface="Inter" pitchFamily="34" charset="0"/>
              </a:rPr>
              <a:t>Plug in your bot or agent, prove every call</a:t>
            </a:r>
            <a:br>
              <a:rPr sz="1800"/>
            </a:br>
            <a:r>
              <a:rPr sz="1800" b="0" i="0" lang="en-US">
                <a:solidFill>
                  <a:srgbClr val="C9BDF2"/>
                </a:solidFill>
                <a:latin typeface="Inter" pitchFamily="34" charset="0"/>
              </a:rPr>
              <a:t>on-chain, sell it to humans and AI via x402 + MCP.</a:t>
            </a:r>
          </a:p>
        </p:txBody>
      </p:sp>
      <p:sp>
        <p:nvSpPr>
          <p:cNvPr id="138" name="Chip · Live on BNB testnet"/>
          <p:cNvSpPr/>
          <p:nvPr/>
        </p:nvSpPr>
        <p:spPr>
          <a:xfrm>
            <a:off x="594360" y="5349240"/>
            <a:ext cx="2344166" cy="274320"/>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Chip dot"/>
          <p:cNvSpPr/>
          <p:nvPr/>
        </p:nvSpPr>
        <p:spPr>
          <a:xfrm>
            <a:off x="731520" y="5442966"/>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Chip text"/>
          <p:cNvSpPr txBox="1"/>
          <p:nvPr/>
        </p:nvSpPr>
        <p:spPr>
          <a:xfrm>
            <a:off x="914400" y="5349240"/>
            <a:ext cx="1886966" cy="274320"/>
          </a:xfrm>
          <a:prstGeom prst="rect">
            <a:avLst/>
          </a:prstGeom>
          <a:noFill/>
        </p:spPr>
        <p:txBody>
          <a:bodyPr wrap="square" lIns="0" rIns="0" tIns="0" bIns="0" anchor="ctr">
            <a:noAutofit/>
          </a:bodyPr>
          <a:lstStyle/>
          <a:p>
            <a:pPr algn="l">
              <a:lnSpc>
                <a:spcPct val="100000"/>
              </a:lnSpc>
              <a:spcBef>
                <a:spcPts val="0"/>
              </a:spcBef>
              <a:spcAft>
                <a:spcPts val="0"/>
              </a:spcAft>
            </a:pPr>
            <a:r>
              <a:rPr sz="1100" b="0" i="0" lang="en-US" spc="100">
                <a:solidFill>
                  <a:srgbClr val="FFFFFF"/>
                </a:solidFill>
                <a:latin typeface="JetBrains Mono" pitchFamily="49" charset="0"/>
              </a:rPr>
              <a:t>LIVE ON BNB TESTNET</a:t>
            </a:r>
          </a:p>
        </p:txBody>
      </p:sp>
      <p:sp>
        <p:nvSpPr>
          <p:cNvPr id="141" name="Chip · Paper money, no real funds"/>
          <p:cNvSpPr/>
          <p:nvPr/>
        </p:nvSpPr>
        <p:spPr>
          <a:xfrm>
            <a:off x="3048254" y="5349240"/>
            <a:ext cx="3039364"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Chip dot"/>
          <p:cNvSpPr/>
          <p:nvPr/>
        </p:nvSpPr>
        <p:spPr>
          <a:xfrm>
            <a:off x="3185414" y="5442966"/>
            <a:ext cx="86868" cy="86868"/>
          </a:xfrm>
          <a:prstGeom prst="ellipse">
            <a:avLst/>
          </a:prstGeom>
          <a:noFill/>
          <a:ln w="11430" cap="rnd">
            <a:solidFill>
              <a:srgbClr val="8B86A6">
                <a:alpha val="9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Chip text"/>
          <p:cNvSpPr txBox="1"/>
          <p:nvPr/>
        </p:nvSpPr>
        <p:spPr>
          <a:xfrm>
            <a:off x="3368294" y="5349240"/>
            <a:ext cx="2582164" cy="274320"/>
          </a:xfrm>
          <a:prstGeom prst="rect">
            <a:avLst/>
          </a:prstGeom>
          <a:noFill/>
        </p:spPr>
        <p:txBody>
          <a:bodyPr wrap="square" lIns="0" rIns="0" tIns="0" bIns="0" anchor="ctr">
            <a:noAutofit/>
          </a:bodyPr>
          <a:lstStyle/>
          <a:p>
            <a:pPr algn="l">
              <a:lnSpc>
                <a:spcPct val="100000"/>
              </a:lnSpc>
              <a:spcBef>
                <a:spcPts val="0"/>
              </a:spcBef>
              <a:spcAft>
                <a:spcPts val="0"/>
              </a:spcAft>
            </a:pPr>
            <a:r>
              <a:rPr sz="1100" b="0" i="0" lang="en-US" spc="100">
                <a:solidFill>
                  <a:srgbClr val="ECE8FA"/>
                </a:solidFill>
                <a:latin typeface="JetBrains Mono" pitchFamily="49" charset="0"/>
              </a:rPr>
              <a:t>PAPER MONEY, NO REAL FUNDS</a:t>
            </a:r>
          </a:p>
        </p:txBody>
      </p:sp>
      <p:sp>
        <p:nvSpPr>
          <p:cNvPr id="144" name="Chip · Verify: no key, no gas"/>
          <p:cNvSpPr/>
          <p:nvPr/>
        </p:nvSpPr>
        <p:spPr>
          <a:xfrm>
            <a:off x="6197346" y="5349240"/>
            <a:ext cx="2642108"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Chip dot"/>
          <p:cNvSpPr/>
          <p:nvPr/>
        </p:nvSpPr>
        <p:spPr>
          <a:xfrm>
            <a:off x="6334506" y="5442966"/>
            <a:ext cx="86868" cy="86868"/>
          </a:xfrm>
          <a:prstGeom prst="ellipse">
            <a:avLst/>
          </a:prstGeom>
          <a:noFill/>
          <a:ln w="11430" cap="rnd">
            <a:solidFill>
              <a:srgbClr val="8B86A6">
                <a:alpha val="9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Chip text"/>
          <p:cNvSpPr txBox="1"/>
          <p:nvPr/>
        </p:nvSpPr>
        <p:spPr>
          <a:xfrm>
            <a:off x="6517386" y="5349240"/>
            <a:ext cx="2184908" cy="274320"/>
          </a:xfrm>
          <a:prstGeom prst="rect">
            <a:avLst/>
          </a:prstGeom>
          <a:noFill/>
        </p:spPr>
        <p:txBody>
          <a:bodyPr wrap="square" lIns="0" rIns="0" tIns="0" bIns="0" anchor="ctr">
            <a:noAutofit/>
          </a:bodyPr>
          <a:lstStyle/>
          <a:p>
            <a:pPr algn="l">
              <a:lnSpc>
                <a:spcPct val="100000"/>
              </a:lnSpc>
              <a:spcBef>
                <a:spcPts val="0"/>
              </a:spcBef>
              <a:spcAft>
                <a:spcPts val="0"/>
              </a:spcAft>
            </a:pPr>
            <a:r>
              <a:rPr sz="1100" b="0" i="0" lang="en-US" spc="100">
                <a:solidFill>
                  <a:srgbClr val="ECE8FA"/>
                </a:solidFill>
                <a:latin typeface="JetBrains Mono" pitchFamily="49" charset="0"/>
              </a:rPr>
              <a:t>VERIFY: NO KEY, NO GAS</a:t>
            </a:r>
          </a:p>
        </p:txBody>
      </p:sp>
      <p:sp>
        <p:nvSpPr>
          <p:cNvPr id="147" name="URL"/>
          <p:cNvSpPr txBox="1"/>
          <p:nvPr/>
        </p:nvSpPr>
        <p:spPr>
          <a:xfrm>
            <a:off x="594360" y="5833872"/>
            <a:ext cx="5486400" cy="237744"/>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8B86A6"/>
                </a:solidFill>
                <a:latin typeface="JetBrains Mono" pitchFamily="49" charset="0"/>
              </a:rPr>
              <a:t>fabius-one.vercel.app</a:t>
            </a:r>
          </a:p>
        </p:txBody>
      </p:sp>
      <p:sp>
        <p:nvSpPr>
          <p:cNvPr id="148" name="Live line"/>
          <p:cNvSpPr txBox="1"/>
          <p:nvPr/>
        </p:nvSpPr>
        <p:spPr>
          <a:xfrm>
            <a:off x="6400800" y="5833872"/>
            <a:ext cx="5212080" cy="237744"/>
          </a:xfrm>
          <a:prstGeom prst="rect">
            <a:avLst/>
          </a:prstGeom>
          <a:noFill/>
        </p:spPr>
        <p:txBody>
          <a:bodyPr wrap="square" lIns="0" rIns="0" tIns="0" bIns="0" anchor="t">
            <a:noAutofit/>
          </a:bodyPr>
          <a:lstStyle/>
          <a:p>
            <a:pPr algn="r">
              <a:lnSpc>
                <a:spcPct val="120000"/>
              </a:lnSpc>
              <a:spcBef>
                <a:spcPts val="0"/>
              </a:spcBef>
              <a:spcAft>
                <a:spcPts val="0"/>
              </a:spcAft>
            </a:pPr>
            <a:r>
              <a:rPr sz="1100" b="0" i="0" lang="en-US" spc="120">
                <a:solidFill>
                  <a:srgbClr val="8B86A6"/>
                </a:solidFill>
                <a:latin typeface="JetBrains Mono" pitchFamily="49" charset="0"/>
              </a:rPr>
              <a:t>LIVE FROM CHAIN 97 · #135,379,370</a:t>
            </a:r>
          </a:p>
        </p:txBody>
      </p:sp>
      <p:sp>
        <p:nvSpPr>
          <p:cNvPr id="149"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150"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ECE8FA"/>
            </a:gs>
            <a:gs pos="100000">
              <a:srgbClr val="F6F4FD"/>
            </a:gs>
          </a:gsLst>
          <a:lin ang="5400000" scaled="0"/>
        </a:gradFill>
        <a:effectLst/>
      </p:bgPr>
    </p:bg>
    <p:spTree>
      <p:nvGrpSpPr>
        <p:cNvPr id="1" name=""/>
        <p:cNvGrpSpPr/>
        <p:nvPr/>
      </p:nvGrpSpPr>
      <p:grpSpPr/>
      <p:sp>
        <p:nvSpPr>
          <p:cNvPr id="2" name="Title"/>
          <p:cNvSpPr>
            <a:spLocks noGrp="1"/>
          </p:cNvSpPr>
          <p:nvPr>
            <p:ph type="title"/>
          </p:nvPr>
        </p:nvSpPr>
        <p:spPr>
          <a:xfrm>
            <a:off x="594360" y="960120"/>
            <a:ext cx="5257800" cy="2011680"/>
          </a:xfrm>
        </p:spPr>
        <p:txBody>
          <a:bodyPr wrap="square" lIns="0" rIns="0" tIns="0" bIns="0" anchor="t">
            <a:noAutofit/>
          </a:bodyPr>
          <a:lstStyle/>
          <a:p>
            <a:pPr algn="l">
              <a:lnSpc>
                <a:spcPct val="102000"/>
              </a:lnSpc>
              <a:spcBef>
                <a:spcPts val="0"/>
              </a:spcBef>
              <a:spcAft>
                <a:spcPts val="0"/>
              </a:spcAft>
            </a:pPr>
            <a:r>
              <a:rPr sz="4200" b="0" i="0" lang="en-US">
                <a:solidFill>
                  <a:srgbClr val="15122B"/>
                </a:solidFill>
                <a:latin typeface="Archivo" pitchFamily="34" charset="0"/>
              </a:rPr>
              <a:t>Every track record is written </a:t>
            </a:r>
            <a:r>
              <a:rPr sz="4200" b="1" i="1" lang="en-US">
                <a:solidFill>
                  <a:srgbClr val="6E4BFF"/>
                </a:solidFill>
                <a:latin typeface="Archivo" pitchFamily="34" charset="0"/>
              </a:rPr>
              <a:t>after</a:t>
            </a:r>
            <a:r>
              <a:rPr sz="4200" b="0" i="0" lang="en-US">
                <a:solidFill>
                  <a:srgbClr val="15122B"/>
                </a:solidFill>
                <a:latin typeface="Archivo" pitchFamily="34" charset="0"/>
              </a:rPr>
              <a:t> the move</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4B2FD6">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6E4B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8E75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6E4BFF"/>
                </a:solidFill>
                <a:latin typeface="JetBrains Mono" pitchFamily="49" charset="0"/>
              </a:rPr>
              <a:t>01 — THE PROBLEM</a:t>
            </a:r>
          </a:p>
        </p:txBody>
      </p:sp>
      <p:sp>
        <p:nvSpPr>
          <p:cNvPr id="7" name="Lead"/>
          <p:cNvSpPr txBox="1"/>
          <p:nvPr/>
        </p:nvSpPr>
        <p:spPr>
          <a:xfrm>
            <a:off x="594360" y="3108960"/>
            <a:ext cx="4800600" cy="2286000"/>
          </a:xfrm>
          <a:prstGeom prst="rect">
            <a:avLst/>
          </a:prstGeom>
          <a:noFill/>
        </p:spPr>
        <p:txBody>
          <a:bodyPr wrap="square" lIns="0" rIns="0" tIns="0" bIns="0" anchor="t">
            <a:noAutofit/>
          </a:bodyPr>
          <a:lstStyle/>
          <a:p>
            <a:pPr algn="l">
              <a:lnSpc>
                <a:spcPct val="130000"/>
              </a:lnSpc>
              <a:spcBef>
                <a:spcPts val="0"/>
              </a:spcBef>
              <a:spcAft>
                <a:spcPts val="1000"/>
              </a:spcAft>
            </a:pPr>
            <a:r>
              <a:rPr sz="1800" b="0" i="0" lang="en-US">
                <a:solidFill>
                  <a:srgbClr val="5B5680"/>
                </a:solidFill>
                <a:latin typeface="Inter" pitchFamily="34" charset="0"/>
              </a:rPr>
              <a:t>A screenshot of profit. A curated history. A backtest with no costs.</a:t>
            </a:r>
          </a:p>
          <a:p>
            <a:pPr algn="l">
              <a:lnSpc>
                <a:spcPct val="130000"/>
              </a:lnSpc>
              <a:spcBef>
                <a:spcPts val="0"/>
              </a:spcBef>
              <a:spcAft>
                <a:spcPts val="0"/>
              </a:spcAft>
            </a:pPr>
            <a:r>
              <a:rPr sz="1800" b="0" i="0" lang="en-US">
                <a:solidFill>
                  <a:srgbClr val="5B5680"/>
                </a:solidFill>
                <a:latin typeface="Inter" pitchFamily="34" charset="0"/>
              </a:rPr>
              <a:t>Bots and signal sellers show you the result once the market has already answered.</a:t>
            </a:r>
          </a:p>
        </p:txBody>
      </p:sp>
      <p:sp>
        <p:nvSpPr>
          <p:cNvPr id="8" name="Closing"/>
          <p:cNvSpPr txBox="1"/>
          <p:nvPr/>
        </p:nvSpPr>
        <p:spPr>
          <a:xfrm>
            <a:off x="594360" y="5349240"/>
            <a:ext cx="4937760" cy="822960"/>
          </a:xfrm>
          <a:prstGeom prst="rect">
            <a:avLst/>
          </a:prstGeom>
          <a:noFill/>
        </p:spPr>
        <p:txBody>
          <a:bodyPr wrap="square" lIns="0" rIns="0" tIns="0" bIns="0" anchor="t">
            <a:noAutofit/>
          </a:bodyPr>
          <a:lstStyle/>
          <a:p>
            <a:pPr algn="l">
              <a:lnSpc>
                <a:spcPct val="120000"/>
              </a:lnSpc>
              <a:spcBef>
                <a:spcPts val="0"/>
              </a:spcBef>
              <a:spcAft>
                <a:spcPts val="0"/>
              </a:spcAft>
            </a:pPr>
            <a:r>
              <a:rPr sz="1900" b="1" i="0" lang="en-US">
                <a:solidFill>
                  <a:srgbClr val="15122B"/>
                </a:solidFill>
                <a:latin typeface="Archivo" pitchFamily="34" charset="0"/>
              </a:rPr>
              <a:t>A buyer can check none of it. </a:t>
            </a:r>
            <a:r>
              <a:rPr sz="1900" b="1" i="1" lang="en-US">
                <a:solidFill>
                  <a:srgbClr val="6E4BFF"/>
                </a:solidFill>
                <a:latin typeface="Archivo" pitchFamily="34" charset="0"/>
              </a:rPr>
              <a:t>Trust is the whole product.</a:t>
            </a:r>
          </a:p>
        </p:txBody>
      </p:sp>
      <p:sp>
        <p:nvSpPr>
          <p:cNvPr id="9" name="Screenshot card"/>
          <p:cNvSpPr/>
          <p:nvPr/>
        </p:nvSpPr>
        <p:spPr>
          <a:xfrm>
            <a:off x="5989320" y="868680"/>
            <a:ext cx="5577840" cy="2514600"/>
          </a:xfrm>
          <a:prstGeom prst="roundRect">
            <a:avLst>
              <a:gd name="adj" fmla="val 10181"/>
            </a:avLst>
          </a:prstGeom>
          <a:gradFill rotWithShape="1">
            <a:gsLst>
              <a:gs pos="0">
                <a:srgbClr val="FFFFFF">
                  <a:alpha val="78000"/>
                </a:srgbClr>
              </a:gs>
              <a:gs pos="100000">
                <a:srgbClr val="FFFFFF">
                  <a:alpha val="42000"/>
                </a:srgbClr>
              </a:gs>
            </a:gsLst>
            <a:lin ang="8100000" scaled="0"/>
          </a:gradFill>
          <a:ln w="9525" cap="rnd">
            <a:solidFill>
              <a:srgbClr val="FFFFFF">
                <a:alpha val="90000"/>
              </a:srgbClr>
            </a:solidFill>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hown label"/>
          <p:cNvSpPr txBox="1"/>
          <p:nvPr/>
        </p:nvSpPr>
        <p:spPr>
          <a:xfrm>
            <a:off x="6263640" y="1088136"/>
            <a:ext cx="3657600" cy="201168"/>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6E4BFF"/>
                </a:solidFill>
                <a:latin typeface="JetBrains Mono" pitchFamily="49" charset="0"/>
              </a:rPr>
              <a:t>WHAT YOU ARE SHOWN</a:t>
            </a:r>
          </a:p>
        </p:txBody>
      </p:sp>
      <p:sp>
        <p:nvSpPr>
          <p:cNvPr id="11" name="Chip · AFTER THE MOVE"/>
          <p:cNvSpPr/>
          <p:nvPr/>
        </p:nvSpPr>
        <p:spPr>
          <a:xfrm>
            <a:off x="9875520" y="1051560"/>
            <a:ext cx="1554480" cy="256032"/>
          </a:xfrm>
          <a:prstGeom prst="roundRect">
            <a:avLst>
              <a:gd name="adj" fmla="val 50000"/>
            </a:avLst>
          </a:prstGeom>
          <a:noFill/>
          <a:ln w="11430" cap="rnd">
            <a:solidFill>
              <a:srgbClr val="8B86A6">
                <a:alpha val="75000"/>
              </a:srgbClr>
            </a:solidFill>
            <a:prstDash val="dash"/>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hip text"/>
          <p:cNvSpPr txBox="1"/>
          <p:nvPr/>
        </p:nvSpPr>
        <p:spPr>
          <a:xfrm>
            <a:off x="10012680" y="1051560"/>
            <a:ext cx="128016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5B5680"/>
                </a:solidFill>
                <a:latin typeface="JetBrains Mono" pitchFamily="49" charset="0"/>
              </a:rPr>
              <a:t>AFTER THE MOVE</a:t>
            </a:r>
          </a:p>
        </p:txBody>
      </p:sp>
      <p:sp>
        <p:nvSpPr>
          <p:cNvPr id="13" name="Grid"/>
          <p:cNvSpPr/>
          <p:nvPr/>
        </p:nvSpPr>
        <p:spPr>
          <a:xfrm>
            <a:off x="6309360" y="1801368"/>
            <a:ext cx="4937760" cy="0"/>
          </a:xfrm>
          <a:custGeom>
            <a:avLst/>
            <a:gdLst/>
            <a:ahLst/>
            <a:cxnLst/>
            <a:rect l="l" t="t" r="r" b="b"/>
            <a:pathLst>
              <a:path w="4937760" h="0">
                <a:moveTo>
                  <a:pt x="0" y="0"/>
                </a:moveTo>
                <a:lnTo>
                  <a:pt x="4937760" y="0"/>
                </a:lnTo>
              </a:path>
            </a:pathLst>
          </a:custGeom>
          <a:noFill/>
          <a:ln w="9525" cap="rnd">
            <a:solidFill>
              <a:srgbClr val="6E4BFF">
                <a:alpha val="12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rid"/>
          <p:cNvSpPr/>
          <p:nvPr/>
        </p:nvSpPr>
        <p:spPr>
          <a:xfrm>
            <a:off x="6309360" y="2171700"/>
            <a:ext cx="4937760" cy="0"/>
          </a:xfrm>
          <a:custGeom>
            <a:avLst/>
            <a:gdLst/>
            <a:ahLst/>
            <a:cxnLst/>
            <a:rect l="l" t="t" r="r" b="b"/>
            <a:pathLst>
              <a:path w="4937760" h="0">
                <a:moveTo>
                  <a:pt x="0" y="0"/>
                </a:moveTo>
                <a:lnTo>
                  <a:pt x="4937760" y="0"/>
                </a:lnTo>
              </a:path>
            </a:pathLst>
          </a:custGeom>
          <a:noFill/>
          <a:ln w="9525" cap="rnd">
            <a:solidFill>
              <a:srgbClr val="6E4BFF">
                <a:alpha val="12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rid"/>
          <p:cNvSpPr/>
          <p:nvPr/>
        </p:nvSpPr>
        <p:spPr>
          <a:xfrm>
            <a:off x="6309360" y="2542032"/>
            <a:ext cx="4937760" cy="0"/>
          </a:xfrm>
          <a:custGeom>
            <a:avLst/>
            <a:gdLst/>
            <a:ahLst/>
            <a:cxnLst/>
            <a:rect l="l" t="t" r="r" b="b"/>
            <a:pathLst>
              <a:path w="4937760" h="0">
                <a:moveTo>
                  <a:pt x="0" y="0"/>
                </a:moveTo>
                <a:lnTo>
                  <a:pt x="4937760" y="0"/>
                </a:lnTo>
              </a:path>
            </a:pathLst>
          </a:custGeom>
          <a:noFill/>
          <a:ln w="9525" cap="rnd">
            <a:solidFill>
              <a:srgbClr val="6E4BFF">
                <a:alpha val="12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Equity curve (stylised)"/>
          <p:cNvSpPr/>
          <p:nvPr/>
        </p:nvSpPr>
        <p:spPr>
          <a:xfrm>
            <a:off x="6309360" y="1675742"/>
            <a:ext cx="4937760" cy="972205"/>
          </a:xfrm>
          <a:custGeom>
            <a:avLst/>
            <a:gdLst/>
            <a:ahLst/>
            <a:cxnLst/>
            <a:rect l="l" t="t" r="r" b="b"/>
            <a:pathLst>
              <a:path w="4937760" h="972205">
                <a:moveTo>
                  <a:pt x="0" y="960930"/>
                </a:moveTo>
                <a:lnTo>
                  <a:pt x="182880" y="958901"/>
                </a:lnTo>
                <a:lnTo>
                  <a:pt x="365760" y="972205"/>
                </a:lnTo>
                <a:lnTo>
                  <a:pt x="548640" y="912592"/>
                </a:lnTo>
                <a:lnTo>
                  <a:pt x="731520" y="892578"/>
                </a:lnTo>
                <a:lnTo>
                  <a:pt x="914400" y="873359"/>
                </a:lnTo>
                <a:lnTo>
                  <a:pt x="1097280" y="813219"/>
                </a:lnTo>
                <a:lnTo>
                  <a:pt x="1280160" y="810360"/>
                </a:lnTo>
                <a:lnTo>
                  <a:pt x="1463040" y="788893"/>
                </a:lnTo>
                <a:lnTo>
                  <a:pt x="1645920" y="769330"/>
                </a:lnTo>
                <a:lnTo>
                  <a:pt x="1828800" y="681973"/>
                </a:lnTo>
                <a:lnTo>
                  <a:pt x="2011680" y="663647"/>
                </a:lnTo>
                <a:lnTo>
                  <a:pt x="2194560" y="612196"/>
                </a:lnTo>
                <a:lnTo>
                  <a:pt x="2377440" y="628976"/>
                </a:lnTo>
                <a:lnTo>
                  <a:pt x="2560320" y="582429"/>
                </a:lnTo>
                <a:lnTo>
                  <a:pt x="2743200" y="496598"/>
                </a:lnTo>
                <a:lnTo>
                  <a:pt x="2926080" y="524204"/>
                </a:lnTo>
                <a:lnTo>
                  <a:pt x="3108960" y="482000"/>
                </a:lnTo>
                <a:lnTo>
                  <a:pt x="3291840" y="418703"/>
                </a:lnTo>
                <a:lnTo>
                  <a:pt x="3474720" y="373766"/>
                </a:lnTo>
                <a:lnTo>
                  <a:pt x="3657600" y="299909"/>
                </a:lnTo>
                <a:lnTo>
                  <a:pt x="3840480" y="247080"/>
                </a:lnTo>
                <a:lnTo>
                  <a:pt x="4023360" y="236610"/>
                </a:lnTo>
                <a:lnTo>
                  <a:pt x="4206240" y="161258"/>
                </a:lnTo>
                <a:lnTo>
                  <a:pt x="4389120" y="124101"/>
                </a:lnTo>
                <a:lnTo>
                  <a:pt x="4572000" y="81095"/>
                </a:lnTo>
                <a:lnTo>
                  <a:pt x="4754880" y="21135"/>
                </a:lnTo>
                <a:lnTo>
                  <a:pt x="4937760" y="0"/>
                </a:lnTo>
              </a:path>
            </a:pathLst>
          </a:custGeom>
          <a:noFill/>
          <a:ln w="31750" cap="rnd">
            <a:solidFill>
              <a:srgbClr val="6E4BFF">
                <a:alpha val="95000"/>
              </a:srgbClr>
            </a:solidFill>
            <a:round/>
          </a:ln>
          <a:effectLst>
            <a:glow rad="63500">
              <a:srgbClr val="6E4B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urve end"/>
          <p:cNvSpPr/>
          <p:nvPr/>
        </p:nvSpPr>
        <p:spPr>
          <a:xfrm>
            <a:off x="11169396" y="1598018"/>
            <a:ext cx="155448" cy="155448"/>
          </a:xfrm>
          <a:prstGeom prst="ellipse">
            <a:avLst/>
          </a:prstGeom>
          <a:solidFill>
            <a:srgbClr val="6E4BFF"/>
          </a:solidFill>
          <a:ln w="9525" cap="rnd">
            <a:noFill/>
          </a:ln>
          <a:effectLst>
            <a:glow rad="101600">
              <a:srgbClr val="9D86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hown caption"/>
          <p:cNvSpPr txBox="1"/>
          <p:nvPr/>
        </p:nvSpPr>
        <p:spPr>
          <a:xfrm>
            <a:off x="6263640" y="2962656"/>
            <a:ext cx="5029200" cy="256032"/>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5B5680"/>
                </a:solidFill>
                <a:latin typeface="JetBrains Mono" pitchFamily="49" charset="0"/>
              </a:rPr>
              <a:t>screenshot · posted after the fact</a:t>
            </a:r>
          </a:p>
        </p:txBody>
      </p:sp>
      <p:sp>
        <p:nvSpPr>
          <p:cNvPr id="19" name="Hole card 1"/>
          <p:cNvSpPr/>
          <p:nvPr/>
        </p:nvSpPr>
        <p:spPr>
          <a:xfrm>
            <a:off x="5989320" y="3657600"/>
            <a:ext cx="5577840" cy="786384"/>
          </a:xfrm>
          <a:prstGeom prst="roundRect">
            <a:avLst>
              <a:gd name="adj" fmla="val 23255"/>
            </a:avLst>
          </a:prstGeom>
          <a:gradFill rotWithShape="1">
            <a:gsLst>
              <a:gs pos="0">
                <a:srgbClr val="FF5A6E">
                  <a:alpha val="8000"/>
                </a:srgbClr>
              </a:gs>
              <a:gs pos="100000">
                <a:srgbClr val="FFFFFF">
                  <a:alpha val="30000"/>
                </a:srgbClr>
              </a:gs>
            </a:gsLst>
            <a:lin ang="8100000" scaled="0"/>
          </a:gradFill>
          <a:ln w="9525" cap="rnd">
            <a:solidFill>
              <a:srgbClr val="FF5A6E">
                <a:alpha val="55000"/>
              </a:srgbClr>
            </a:solidFill>
            <a:prstDash val="dash"/>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0" name="Hole icon 1"/>
          <p:cNvGrpSpPr/>
          <p:nvPr/>
        </p:nvGrpSpPr>
        <p:grpSpPr>
          <a:xfrm>
            <a:off x="0" y="0"/>
            <a:ext cx="0" cy="0"/>
            <a:chOff x="0" y="0"/>
            <a:chExt cx="0" cy="0"/>
          </a:xfrm>
        </p:grpSpPr>
        <p:sp>
          <p:nvSpPr>
            <p:cNvPr id="21" name="Missing block · kiri"/>
            <p:cNvSpPr/>
            <p:nvPr/>
          </p:nvSpPr>
          <p:spPr>
            <a:xfrm>
              <a:off x="6342437" y="3941064"/>
              <a:ext cx="213811" cy="370332"/>
            </a:xfrm>
            <a:custGeom>
              <a:avLst/>
              <a:gdLst/>
              <a:ahLst/>
              <a:cxnLst/>
              <a:rect l="l" t="t" r="r" b="b"/>
              <a:pathLst>
                <a:path w="213811" h="370332">
                  <a:moveTo>
                    <a:pt x="0" y="246888"/>
                  </a:moveTo>
                  <a:lnTo>
                    <a:pt x="213811" y="370332"/>
                  </a:lnTo>
                  <a:lnTo>
                    <a:pt x="213811" y="123444"/>
                  </a:lnTo>
                  <a:lnTo>
                    <a:pt x="0" y="0"/>
                  </a:lnTo>
                  <a:close/>
                </a:path>
              </a:pathLst>
            </a:custGeom>
            <a:solidFill>
              <a:srgbClr val="FF5A6E">
                <a:alpha val="5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issing block · kanan"/>
            <p:cNvSpPr/>
            <p:nvPr/>
          </p:nvSpPr>
          <p:spPr>
            <a:xfrm>
              <a:off x="6556248" y="3941064"/>
              <a:ext cx="213811" cy="370332"/>
            </a:xfrm>
            <a:custGeom>
              <a:avLst/>
              <a:gdLst/>
              <a:ahLst/>
              <a:cxnLst/>
              <a:rect l="l" t="t" r="r" b="b"/>
              <a:pathLst>
                <a:path w="213811" h="370332">
                  <a:moveTo>
                    <a:pt x="213811" y="246888"/>
                  </a:moveTo>
                  <a:lnTo>
                    <a:pt x="0" y="370332"/>
                  </a:lnTo>
                  <a:lnTo>
                    <a:pt x="0" y="123444"/>
                  </a:lnTo>
                  <a:lnTo>
                    <a:pt x="213811" y="0"/>
                  </a:lnTo>
                  <a:close/>
                </a:path>
              </a:pathLst>
            </a:custGeom>
            <a:solidFill>
              <a:srgbClr val="FF5A6E">
                <a:alpha val="7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issing block · atas"/>
            <p:cNvSpPr/>
            <p:nvPr/>
          </p:nvSpPr>
          <p:spPr>
            <a:xfrm>
              <a:off x="6342437" y="3817620"/>
              <a:ext cx="427622" cy="246888"/>
            </a:xfrm>
            <a:custGeom>
              <a:avLst/>
              <a:gdLst/>
              <a:ahLst/>
              <a:cxnLst/>
              <a:rect l="l" t="t" r="r" b="b"/>
              <a:pathLst>
                <a:path w="427622" h="246888">
                  <a:moveTo>
                    <a:pt x="213811" y="0"/>
                  </a:moveTo>
                  <a:lnTo>
                    <a:pt x="427622" y="123444"/>
                  </a:lnTo>
                  <a:lnTo>
                    <a:pt x="213811" y="246888"/>
                  </a:lnTo>
                  <a:lnTo>
                    <a:pt x="0" y="123444"/>
                  </a:lnTo>
                  <a:close/>
                </a:path>
              </a:pathLst>
            </a:custGeom>
            <a:solidFill>
              <a:srgbClr val="FF5A6E">
                <a:alpha val="10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rack"/>
            <p:cNvSpPr/>
            <p:nvPr/>
          </p:nvSpPr>
          <p:spPr>
            <a:xfrm>
              <a:off x="6443291" y="3891686"/>
              <a:ext cx="241244" cy="301295"/>
            </a:xfrm>
            <a:custGeom>
              <a:avLst/>
              <a:gdLst/>
              <a:ahLst/>
              <a:cxnLst/>
              <a:rect l="l" t="t" r="r" b="b"/>
              <a:pathLst>
                <a:path w="241244" h="301295">
                  <a:moveTo>
                    <a:pt x="241244" y="0"/>
                  </a:moveTo>
                  <a:lnTo>
                    <a:pt x="195524" y="128016"/>
                  </a:lnTo>
                  <a:lnTo>
                    <a:pt x="64008" y="173279"/>
                  </a:lnTo>
                  <a:lnTo>
                    <a:pt x="0" y="301295"/>
                  </a:lnTo>
                </a:path>
              </a:pathLst>
            </a:custGeom>
            <a:noFill/>
            <a:ln w="17780" cap="rnd">
              <a:solidFill>
                <a:srgbClr val="FF5A6E">
                  <a:alpha val="9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5" name="Hole title 1"/>
          <p:cNvSpPr txBox="1"/>
          <p:nvPr/>
        </p:nvSpPr>
        <p:spPr>
          <a:xfrm>
            <a:off x="7040880" y="3767328"/>
            <a:ext cx="4297680" cy="274320"/>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15122B"/>
                </a:solidFill>
                <a:latin typeface="Archivo" pitchFamily="34" charset="0"/>
              </a:rPr>
              <a:t>Deleted signals</a:t>
            </a:r>
          </a:p>
        </p:txBody>
      </p:sp>
      <p:sp>
        <p:nvSpPr>
          <p:cNvPr id="26" name="Hole text 1"/>
          <p:cNvSpPr txBox="1"/>
          <p:nvPr/>
        </p:nvSpPr>
        <p:spPr>
          <a:xfrm>
            <a:off x="7040880" y="4069080"/>
            <a:ext cx="4297680" cy="310896"/>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5B5680"/>
                </a:solidFill>
                <a:latin typeface="Inter" pitchFamily="34" charset="0"/>
              </a:rPr>
              <a:t>The losing calls quietly disappear.</a:t>
            </a:r>
          </a:p>
        </p:txBody>
      </p:sp>
      <p:sp>
        <p:nvSpPr>
          <p:cNvPr id="27" name="Hole card 2"/>
          <p:cNvSpPr/>
          <p:nvPr/>
        </p:nvSpPr>
        <p:spPr>
          <a:xfrm>
            <a:off x="5989320" y="4572000"/>
            <a:ext cx="5577840" cy="786384"/>
          </a:xfrm>
          <a:prstGeom prst="roundRect">
            <a:avLst>
              <a:gd name="adj" fmla="val 23255"/>
            </a:avLst>
          </a:prstGeom>
          <a:gradFill rotWithShape="1">
            <a:gsLst>
              <a:gs pos="0">
                <a:srgbClr val="FF5A6E">
                  <a:alpha val="8000"/>
                </a:srgbClr>
              </a:gs>
              <a:gs pos="100000">
                <a:srgbClr val="FFFFFF">
                  <a:alpha val="30000"/>
                </a:srgbClr>
              </a:gs>
            </a:gsLst>
            <a:lin ang="8100000" scaled="0"/>
          </a:gradFill>
          <a:ln w="9525" cap="rnd">
            <a:solidFill>
              <a:srgbClr val="FF5A6E">
                <a:alpha val="55000"/>
              </a:srgbClr>
            </a:solidFill>
            <a:prstDash val="dash"/>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8" name="Hole icon 2"/>
          <p:cNvGrpSpPr/>
          <p:nvPr/>
        </p:nvGrpSpPr>
        <p:grpSpPr>
          <a:xfrm>
            <a:off x="0" y="0"/>
            <a:ext cx="0" cy="0"/>
            <a:chOff x="0" y="0"/>
            <a:chExt cx="0" cy="0"/>
          </a:xfrm>
        </p:grpSpPr>
        <p:sp>
          <p:nvSpPr>
            <p:cNvPr id="29" name="Missing block · kiri"/>
            <p:cNvSpPr/>
            <p:nvPr/>
          </p:nvSpPr>
          <p:spPr>
            <a:xfrm>
              <a:off x="6342437" y="4855464"/>
              <a:ext cx="213811" cy="370332"/>
            </a:xfrm>
            <a:custGeom>
              <a:avLst/>
              <a:gdLst/>
              <a:ahLst/>
              <a:cxnLst/>
              <a:rect l="l" t="t" r="r" b="b"/>
              <a:pathLst>
                <a:path w="213811" h="370332">
                  <a:moveTo>
                    <a:pt x="0" y="246888"/>
                  </a:moveTo>
                  <a:lnTo>
                    <a:pt x="213811" y="370332"/>
                  </a:lnTo>
                  <a:lnTo>
                    <a:pt x="213811" y="123444"/>
                  </a:lnTo>
                  <a:lnTo>
                    <a:pt x="0" y="0"/>
                  </a:lnTo>
                  <a:close/>
                </a:path>
              </a:pathLst>
            </a:custGeom>
            <a:solidFill>
              <a:srgbClr val="FF5A6E">
                <a:alpha val="5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Missing block · kanan"/>
            <p:cNvSpPr/>
            <p:nvPr/>
          </p:nvSpPr>
          <p:spPr>
            <a:xfrm>
              <a:off x="6556248" y="4855464"/>
              <a:ext cx="213811" cy="370332"/>
            </a:xfrm>
            <a:custGeom>
              <a:avLst/>
              <a:gdLst/>
              <a:ahLst/>
              <a:cxnLst/>
              <a:rect l="l" t="t" r="r" b="b"/>
              <a:pathLst>
                <a:path w="213811" h="370332">
                  <a:moveTo>
                    <a:pt x="213811" y="246888"/>
                  </a:moveTo>
                  <a:lnTo>
                    <a:pt x="0" y="370332"/>
                  </a:lnTo>
                  <a:lnTo>
                    <a:pt x="0" y="123444"/>
                  </a:lnTo>
                  <a:lnTo>
                    <a:pt x="213811" y="0"/>
                  </a:lnTo>
                  <a:close/>
                </a:path>
              </a:pathLst>
            </a:custGeom>
            <a:solidFill>
              <a:srgbClr val="FF5A6E">
                <a:alpha val="7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Missing block · atas"/>
            <p:cNvSpPr/>
            <p:nvPr/>
          </p:nvSpPr>
          <p:spPr>
            <a:xfrm>
              <a:off x="6342437" y="4732020"/>
              <a:ext cx="427622" cy="246888"/>
            </a:xfrm>
            <a:custGeom>
              <a:avLst/>
              <a:gdLst/>
              <a:ahLst/>
              <a:cxnLst/>
              <a:rect l="l" t="t" r="r" b="b"/>
              <a:pathLst>
                <a:path w="427622" h="246888">
                  <a:moveTo>
                    <a:pt x="213811" y="0"/>
                  </a:moveTo>
                  <a:lnTo>
                    <a:pt x="427622" y="123444"/>
                  </a:lnTo>
                  <a:lnTo>
                    <a:pt x="213811" y="246888"/>
                  </a:lnTo>
                  <a:lnTo>
                    <a:pt x="0" y="123444"/>
                  </a:lnTo>
                  <a:close/>
                </a:path>
              </a:pathLst>
            </a:custGeom>
            <a:solidFill>
              <a:srgbClr val="FF5A6E">
                <a:alpha val="10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rack"/>
            <p:cNvSpPr/>
            <p:nvPr/>
          </p:nvSpPr>
          <p:spPr>
            <a:xfrm>
              <a:off x="6443291" y="4806086"/>
              <a:ext cx="241244" cy="301295"/>
            </a:xfrm>
            <a:custGeom>
              <a:avLst/>
              <a:gdLst/>
              <a:ahLst/>
              <a:cxnLst/>
              <a:rect l="l" t="t" r="r" b="b"/>
              <a:pathLst>
                <a:path w="241244" h="301295">
                  <a:moveTo>
                    <a:pt x="241244" y="0"/>
                  </a:moveTo>
                  <a:lnTo>
                    <a:pt x="195524" y="128016"/>
                  </a:lnTo>
                  <a:lnTo>
                    <a:pt x="64008" y="173279"/>
                  </a:lnTo>
                  <a:lnTo>
                    <a:pt x="0" y="301295"/>
                  </a:lnTo>
                </a:path>
              </a:pathLst>
            </a:custGeom>
            <a:noFill/>
            <a:ln w="17780" cap="rnd">
              <a:solidFill>
                <a:srgbClr val="FF5A6E">
                  <a:alpha val="9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3" name="Hole title 2"/>
          <p:cNvSpPr txBox="1"/>
          <p:nvPr/>
        </p:nvSpPr>
        <p:spPr>
          <a:xfrm>
            <a:off x="7040880" y="4681728"/>
            <a:ext cx="4297680" cy="274320"/>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15122B"/>
                </a:solidFill>
                <a:latin typeface="Archivo" pitchFamily="34" charset="0"/>
              </a:rPr>
              <a:t>Edited rules</a:t>
            </a:r>
          </a:p>
        </p:txBody>
      </p:sp>
      <p:sp>
        <p:nvSpPr>
          <p:cNvPr id="34" name="Hole text 2"/>
          <p:cNvSpPr txBox="1"/>
          <p:nvPr/>
        </p:nvSpPr>
        <p:spPr>
          <a:xfrm>
            <a:off x="7040880" y="4983480"/>
            <a:ext cx="4297680" cy="310896"/>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5B5680"/>
                </a:solidFill>
                <a:latin typeface="Inter" pitchFamily="34" charset="0"/>
              </a:rPr>
              <a:t>The strategy is fitted to the data afterwards.</a:t>
            </a:r>
          </a:p>
        </p:txBody>
      </p:sp>
      <p:sp>
        <p:nvSpPr>
          <p:cNvPr id="35" name="Hole card 3"/>
          <p:cNvSpPr/>
          <p:nvPr/>
        </p:nvSpPr>
        <p:spPr>
          <a:xfrm>
            <a:off x="5989320" y="5486400"/>
            <a:ext cx="5577840" cy="786384"/>
          </a:xfrm>
          <a:prstGeom prst="roundRect">
            <a:avLst>
              <a:gd name="adj" fmla="val 23255"/>
            </a:avLst>
          </a:prstGeom>
          <a:gradFill rotWithShape="1">
            <a:gsLst>
              <a:gs pos="0">
                <a:srgbClr val="FF5A6E">
                  <a:alpha val="8000"/>
                </a:srgbClr>
              </a:gs>
              <a:gs pos="100000">
                <a:srgbClr val="FFFFFF">
                  <a:alpha val="30000"/>
                </a:srgbClr>
              </a:gs>
            </a:gsLst>
            <a:lin ang="8100000" scaled="0"/>
          </a:gradFill>
          <a:ln w="9525" cap="rnd">
            <a:solidFill>
              <a:srgbClr val="FF5A6E">
                <a:alpha val="55000"/>
              </a:srgbClr>
            </a:solidFill>
            <a:prstDash val="dash"/>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6" name="Hole icon 3"/>
          <p:cNvGrpSpPr/>
          <p:nvPr/>
        </p:nvGrpSpPr>
        <p:grpSpPr>
          <a:xfrm>
            <a:off x="0" y="0"/>
            <a:ext cx="0" cy="0"/>
            <a:chOff x="0" y="0"/>
            <a:chExt cx="0" cy="0"/>
          </a:xfrm>
        </p:grpSpPr>
        <p:sp>
          <p:nvSpPr>
            <p:cNvPr id="37" name="Missing block · kiri"/>
            <p:cNvSpPr/>
            <p:nvPr/>
          </p:nvSpPr>
          <p:spPr>
            <a:xfrm>
              <a:off x="6342437" y="5769864"/>
              <a:ext cx="213811" cy="370332"/>
            </a:xfrm>
            <a:custGeom>
              <a:avLst/>
              <a:gdLst/>
              <a:ahLst/>
              <a:cxnLst/>
              <a:rect l="l" t="t" r="r" b="b"/>
              <a:pathLst>
                <a:path w="213811" h="370332">
                  <a:moveTo>
                    <a:pt x="0" y="246888"/>
                  </a:moveTo>
                  <a:lnTo>
                    <a:pt x="213811" y="370332"/>
                  </a:lnTo>
                  <a:lnTo>
                    <a:pt x="213811" y="123444"/>
                  </a:lnTo>
                  <a:lnTo>
                    <a:pt x="0" y="0"/>
                  </a:lnTo>
                  <a:close/>
                </a:path>
              </a:pathLst>
            </a:custGeom>
            <a:solidFill>
              <a:srgbClr val="FF5A6E">
                <a:alpha val="5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Missing block · kanan"/>
            <p:cNvSpPr/>
            <p:nvPr/>
          </p:nvSpPr>
          <p:spPr>
            <a:xfrm>
              <a:off x="6556248" y="5769864"/>
              <a:ext cx="213811" cy="370332"/>
            </a:xfrm>
            <a:custGeom>
              <a:avLst/>
              <a:gdLst/>
              <a:ahLst/>
              <a:cxnLst/>
              <a:rect l="l" t="t" r="r" b="b"/>
              <a:pathLst>
                <a:path w="213811" h="370332">
                  <a:moveTo>
                    <a:pt x="213811" y="246888"/>
                  </a:moveTo>
                  <a:lnTo>
                    <a:pt x="0" y="370332"/>
                  </a:lnTo>
                  <a:lnTo>
                    <a:pt x="0" y="123444"/>
                  </a:lnTo>
                  <a:lnTo>
                    <a:pt x="213811" y="0"/>
                  </a:lnTo>
                  <a:close/>
                </a:path>
              </a:pathLst>
            </a:custGeom>
            <a:solidFill>
              <a:srgbClr val="FF5A6E">
                <a:alpha val="7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Missing block · atas"/>
            <p:cNvSpPr/>
            <p:nvPr/>
          </p:nvSpPr>
          <p:spPr>
            <a:xfrm>
              <a:off x="6342437" y="5646420"/>
              <a:ext cx="427622" cy="246888"/>
            </a:xfrm>
            <a:custGeom>
              <a:avLst/>
              <a:gdLst/>
              <a:ahLst/>
              <a:cxnLst/>
              <a:rect l="l" t="t" r="r" b="b"/>
              <a:pathLst>
                <a:path w="427622" h="246888">
                  <a:moveTo>
                    <a:pt x="213811" y="0"/>
                  </a:moveTo>
                  <a:lnTo>
                    <a:pt x="427622" y="123444"/>
                  </a:lnTo>
                  <a:lnTo>
                    <a:pt x="213811" y="246888"/>
                  </a:lnTo>
                  <a:lnTo>
                    <a:pt x="0" y="123444"/>
                  </a:lnTo>
                  <a:close/>
                </a:path>
              </a:pathLst>
            </a:custGeom>
            <a:solidFill>
              <a:srgbClr val="FF5A6E">
                <a:alpha val="10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rack"/>
            <p:cNvSpPr/>
            <p:nvPr/>
          </p:nvSpPr>
          <p:spPr>
            <a:xfrm>
              <a:off x="6443291" y="5720486"/>
              <a:ext cx="241244" cy="301295"/>
            </a:xfrm>
            <a:custGeom>
              <a:avLst/>
              <a:gdLst/>
              <a:ahLst/>
              <a:cxnLst/>
              <a:rect l="l" t="t" r="r" b="b"/>
              <a:pathLst>
                <a:path w="241244" h="301295">
                  <a:moveTo>
                    <a:pt x="241244" y="0"/>
                  </a:moveTo>
                  <a:lnTo>
                    <a:pt x="195524" y="128016"/>
                  </a:lnTo>
                  <a:lnTo>
                    <a:pt x="64008" y="173279"/>
                  </a:lnTo>
                  <a:lnTo>
                    <a:pt x="0" y="301295"/>
                  </a:lnTo>
                </a:path>
              </a:pathLst>
            </a:custGeom>
            <a:noFill/>
            <a:ln w="17780" cap="rnd">
              <a:solidFill>
                <a:srgbClr val="FF5A6E">
                  <a:alpha val="9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1" name="Hole title 3"/>
          <p:cNvSpPr txBox="1"/>
          <p:nvPr/>
        </p:nvSpPr>
        <p:spPr>
          <a:xfrm>
            <a:off x="7040880" y="5596128"/>
            <a:ext cx="4297680" cy="274320"/>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15122B"/>
                </a:solidFill>
                <a:latin typeface="Archivo" pitchFamily="34" charset="0"/>
              </a:rPr>
              <a:t>Back-dated calls</a:t>
            </a:r>
          </a:p>
        </p:txBody>
      </p:sp>
      <p:sp>
        <p:nvSpPr>
          <p:cNvPr id="42" name="Hole text 3"/>
          <p:cNvSpPr txBox="1"/>
          <p:nvPr/>
        </p:nvSpPr>
        <p:spPr>
          <a:xfrm>
            <a:off x="7040880" y="5897880"/>
            <a:ext cx="4297680" cy="310896"/>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5B5680"/>
                </a:solidFill>
                <a:latin typeface="Inter" pitchFamily="34" charset="0"/>
              </a:rPr>
              <a:t>Decided after the candle closed.</a:t>
            </a:r>
          </a:p>
        </p:txBody>
      </p:sp>
      <p:sp>
        <p:nvSpPr>
          <p:cNvPr id="43"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44"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ECE8FA"/>
            </a:gs>
            <a:gs pos="100000">
              <a:srgbClr val="F6F4FD"/>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10241280" cy="1463040"/>
          </a:xfrm>
        </p:spPr>
        <p:txBody>
          <a:bodyPr wrap="square" lIns="0" rIns="0" tIns="0" bIns="0" anchor="t">
            <a:noAutofit/>
          </a:bodyPr>
          <a:lstStyle/>
          <a:p>
            <a:pPr algn="l">
              <a:lnSpc>
                <a:spcPct val="102000"/>
              </a:lnSpc>
              <a:spcBef>
                <a:spcPts val="0"/>
              </a:spcBef>
              <a:spcAft>
                <a:spcPts val="0"/>
              </a:spcAft>
            </a:pPr>
            <a:r>
              <a:rPr sz="3800" b="0" i="0" lang="en-US">
                <a:solidFill>
                  <a:srgbClr val="15122B"/>
                </a:solidFill>
                <a:latin typeface="Archivo" pitchFamily="34" charset="0"/>
              </a:rPr>
              <a:t>Agents can already pay each other.</a:t>
            </a:r>
            <a:br>
              <a:rPr sz="3800"/>
            </a:br>
            <a:r>
              <a:rPr sz="3800" b="1" i="1" lang="en-US">
                <a:solidFill>
                  <a:srgbClr val="6E4BFF"/>
                </a:solidFill>
                <a:latin typeface="Archivo" pitchFamily="34" charset="0"/>
              </a:rPr>
              <a:t>Money moves. Proof doesn't.</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4B2FD6">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6E4B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8E75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6E4BFF"/>
                </a:solidFill>
                <a:latin typeface="JetBrains Mono" pitchFamily="49" charset="0"/>
              </a:rPr>
              <a:t>02 — THE GAP</a:t>
            </a:r>
          </a:p>
        </p:txBody>
      </p:sp>
      <p:grpSp>
        <p:nvGrpSpPr>
          <p:cNvPr id="7" name="Scene · broken bridge"/>
          <p:cNvGrpSpPr/>
          <p:nvPr/>
        </p:nvGrpSpPr>
        <p:grpSpPr>
          <a:xfrm>
            <a:off x="878832" y="2350008"/>
            <a:ext cx="10434031" cy="1987906"/>
            <a:chOff x="878832" y="2350008"/>
            <a:chExt cx="10434031" cy="1987906"/>
          </a:xfrm>
        </p:grpSpPr>
        <p:sp>
          <p:nvSpPr>
            <p:cNvPr id="8" name="Tower · agent A · kiri"/>
            <p:cNvSpPr/>
            <p:nvPr/>
          </p:nvSpPr>
          <p:spPr>
            <a:xfrm>
              <a:off x="878832" y="3054096"/>
              <a:ext cx="538488" cy="1152144"/>
            </a:xfrm>
            <a:custGeom>
              <a:avLst/>
              <a:gdLst/>
              <a:ahLst/>
              <a:cxnLst/>
              <a:rect l="l" t="t" r="r" b="b"/>
              <a:pathLst>
                <a:path w="538488" h="1152144">
                  <a:moveTo>
                    <a:pt x="0" y="841248"/>
                  </a:moveTo>
                  <a:lnTo>
                    <a:pt x="538488" y="1152144"/>
                  </a:lnTo>
                  <a:lnTo>
                    <a:pt x="538488" y="310896"/>
                  </a:lnTo>
                  <a:lnTo>
                    <a:pt x="0" y="0"/>
                  </a:lnTo>
                  <a:close/>
                </a:path>
              </a:pathLst>
            </a:custGeom>
            <a:solidFill>
              <a:srgbClr val="15122B"/>
            </a:solidFill>
            <a:ln w="6350" cap="rnd">
              <a:solidFill>
                <a:srgbClr val="15122B">
                  <a:alpha val="5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ower · agent A · kanan"/>
            <p:cNvSpPr/>
            <p:nvPr/>
          </p:nvSpPr>
          <p:spPr>
            <a:xfrm>
              <a:off x="1417320" y="3054096"/>
              <a:ext cx="538488" cy="1152144"/>
            </a:xfrm>
            <a:custGeom>
              <a:avLst/>
              <a:gdLst/>
              <a:ahLst/>
              <a:cxnLst/>
              <a:rect l="l" t="t" r="r" b="b"/>
              <a:pathLst>
                <a:path w="538488" h="1152144">
                  <a:moveTo>
                    <a:pt x="538488" y="841248"/>
                  </a:moveTo>
                  <a:lnTo>
                    <a:pt x="0" y="1152144"/>
                  </a:lnTo>
                  <a:lnTo>
                    <a:pt x="0" y="310896"/>
                  </a:lnTo>
                  <a:lnTo>
                    <a:pt x="538488" y="0"/>
                  </a:lnTo>
                  <a:close/>
                </a:path>
              </a:pathLst>
            </a:custGeom>
            <a:solidFill>
              <a:srgbClr val="261F52"/>
            </a:solidFill>
            <a:ln w="6350" cap="rnd">
              <a:solidFill>
                <a:srgbClr val="15122B">
                  <a:alpha val="5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ower · agent A · atas"/>
            <p:cNvSpPr/>
            <p:nvPr/>
          </p:nvSpPr>
          <p:spPr>
            <a:xfrm>
              <a:off x="878832" y="2743200"/>
              <a:ext cx="1076976" cy="621792"/>
            </a:xfrm>
            <a:custGeom>
              <a:avLst/>
              <a:gdLst/>
              <a:ahLst/>
              <a:cxnLst/>
              <a:rect l="l" t="t" r="r" b="b"/>
              <a:pathLst>
                <a:path w="1076976" h="621792">
                  <a:moveTo>
                    <a:pt x="538488" y="0"/>
                  </a:moveTo>
                  <a:lnTo>
                    <a:pt x="1076976" y="310896"/>
                  </a:lnTo>
                  <a:lnTo>
                    <a:pt x="538488" y="621792"/>
                  </a:lnTo>
                  <a:lnTo>
                    <a:pt x="0" y="310896"/>
                  </a:lnTo>
                  <a:close/>
                </a:path>
              </a:pathLst>
            </a:custGeom>
            <a:solidFill>
              <a:srgbClr val="3A3270"/>
            </a:solidFill>
            <a:ln w="6350" cap="rnd">
              <a:solidFill>
                <a:srgbClr val="15122B">
                  <a:alpha val="5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ower · agent B · kiri"/>
            <p:cNvSpPr/>
            <p:nvPr/>
          </p:nvSpPr>
          <p:spPr>
            <a:xfrm>
              <a:off x="10235888" y="3054096"/>
              <a:ext cx="538487" cy="1152144"/>
            </a:xfrm>
            <a:custGeom>
              <a:avLst/>
              <a:gdLst/>
              <a:ahLst/>
              <a:cxnLst/>
              <a:rect l="l" t="t" r="r" b="b"/>
              <a:pathLst>
                <a:path w="538487" h="1152144">
                  <a:moveTo>
                    <a:pt x="0" y="841248"/>
                  </a:moveTo>
                  <a:lnTo>
                    <a:pt x="538487" y="1152144"/>
                  </a:lnTo>
                  <a:lnTo>
                    <a:pt x="538487" y="310896"/>
                  </a:lnTo>
                  <a:lnTo>
                    <a:pt x="0" y="0"/>
                  </a:lnTo>
                  <a:close/>
                </a:path>
              </a:pathLst>
            </a:custGeom>
            <a:solidFill>
              <a:srgbClr val="15122B"/>
            </a:solidFill>
            <a:ln w="6350" cap="rnd">
              <a:solidFill>
                <a:srgbClr val="15122B">
                  <a:alpha val="5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ower · agent B · kanan"/>
            <p:cNvSpPr/>
            <p:nvPr/>
          </p:nvSpPr>
          <p:spPr>
            <a:xfrm>
              <a:off x="10774375" y="3054096"/>
              <a:ext cx="538488" cy="1152144"/>
            </a:xfrm>
            <a:custGeom>
              <a:avLst/>
              <a:gdLst/>
              <a:ahLst/>
              <a:cxnLst/>
              <a:rect l="l" t="t" r="r" b="b"/>
              <a:pathLst>
                <a:path w="538488" h="1152144">
                  <a:moveTo>
                    <a:pt x="538488" y="841248"/>
                  </a:moveTo>
                  <a:lnTo>
                    <a:pt x="0" y="1152144"/>
                  </a:lnTo>
                  <a:lnTo>
                    <a:pt x="0" y="310896"/>
                  </a:lnTo>
                  <a:lnTo>
                    <a:pt x="538488" y="0"/>
                  </a:lnTo>
                  <a:close/>
                </a:path>
              </a:pathLst>
            </a:custGeom>
            <a:solidFill>
              <a:srgbClr val="261F52"/>
            </a:solidFill>
            <a:ln w="6350" cap="rnd">
              <a:solidFill>
                <a:srgbClr val="15122B">
                  <a:alpha val="5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ower · agent B · atas"/>
            <p:cNvSpPr/>
            <p:nvPr/>
          </p:nvSpPr>
          <p:spPr>
            <a:xfrm>
              <a:off x="10235888" y="2743200"/>
              <a:ext cx="1076975" cy="621792"/>
            </a:xfrm>
            <a:custGeom>
              <a:avLst/>
              <a:gdLst/>
              <a:ahLst/>
              <a:cxnLst/>
              <a:rect l="l" t="t" r="r" b="b"/>
              <a:pathLst>
                <a:path w="1076975" h="621792">
                  <a:moveTo>
                    <a:pt x="538487" y="0"/>
                  </a:moveTo>
                  <a:lnTo>
                    <a:pt x="1076975" y="310896"/>
                  </a:lnTo>
                  <a:lnTo>
                    <a:pt x="538487" y="621792"/>
                  </a:lnTo>
                  <a:lnTo>
                    <a:pt x="0" y="310896"/>
                  </a:lnTo>
                  <a:close/>
                </a:path>
              </a:pathLst>
            </a:custGeom>
            <a:solidFill>
              <a:srgbClr val="3A3270"/>
            </a:solidFill>
            <a:ln w="6350" cap="rnd">
              <a:solidFill>
                <a:srgbClr val="15122B">
                  <a:alpha val="5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pan 1 · kiri"/>
            <p:cNvSpPr/>
            <p:nvPr/>
          </p:nvSpPr>
          <p:spPr>
            <a:xfrm>
              <a:off x="2023626"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D3C9F5">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pan 1 · kanan"/>
            <p:cNvSpPr/>
            <p:nvPr/>
          </p:nvSpPr>
          <p:spPr>
            <a:xfrm>
              <a:off x="2514600"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E6DFFB">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pan 1 · atas"/>
            <p:cNvSpPr/>
            <p:nvPr/>
          </p:nvSpPr>
          <p:spPr>
            <a:xfrm>
              <a:off x="2023626"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FFFF">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pan 2 · kiri"/>
            <p:cNvSpPr/>
            <p:nvPr/>
          </p:nvSpPr>
          <p:spPr>
            <a:xfrm>
              <a:off x="3217375"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D3C9F5">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pan 2 · kanan"/>
            <p:cNvSpPr/>
            <p:nvPr/>
          </p:nvSpPr>
          <p:spPr>
            <a:xfrm>
              <a:off x="3708349"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E6DFFB">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pan 2 · atas"/>
            <p:cNvSpPr/>
            <p:nvPr/>
          </p:nvSpPr>
          <p:spPr>
            <a:xfrm>
              <a:off x="3217375"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FFFF">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pan 3 · kiri"/>
            <p:cNvSpPr/>
            <p:nvPr/>
          </p:nvSpPr>
          <p:spPr>
            <a:xfrm>
              <a:off x="4411124"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D3C9F5">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pan 3 · kanan"/>
            <p:cNvSpPr/>
            <p:nvPr/>
          </p:nvSpPr>
          <p:spPr>
            <a:xfrm>
              <a:off x="4902098"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E6DFFB">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pan 3 · atas"/>
            <p:cNvSpPr/>
            <p:nvPr/>
          </p:nvSpPr>
          <p:spPr>
            <a:xfrm>
              <a:off x="4411124"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FFFF">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issing span · kiri"/>
            <p:cNvSpPr/>
            <p:nvPr/>
          </p:nvSpPr>
          <p:spPr>
            <a:xfrm>
              <a:off x="5604874"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FF5A6E">
                <a:alpha val="5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Missing span · kanan"/>
            <p:cNvSpPr/>
            <p:nvPr/>
          </p:nvSpPr>
          <p:spPr>
            <a:xfrm>
              <a:off x="6095848"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FF5A6E">
                <a:alpha val="7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Missing span · atas"/>
            <p:cNvSpPr/>
            <p:nvPr/>
          </p:nvSpPr>
          <p:spPr>
            <a:xfrm>
              <a:off x="5604874"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5A6E">
                <a:alpha val="10000"/>
              </a:srgbClr>
            </a:solidFill>
            <a:ln w="12700" cap="rnd">
              <a:solidFill>
                <a:srgbClr val="FF5A6E">
                  <a:alpha val="85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pan 5 · kiri"/>
            <p:cNvSpPr/>
            <p:nvPr/>
          </p:nvSpPr>
          <p:spPr>
            <a:xfrm>
              <a:off x="6798623"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D3C9F5">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pan 5 · kanan"/>
            <p:cNvSpPr/>
            <p:nvPr/>
          </p:nvSpPr>
          <p:spPr>
            <a:xfrm>
              <a:off x="7289597"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E6DFFB">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pan 5 · atas"/>
            <p:cNvSpPr/>
            <p:nvPr/>
          </p:nvSpPr>
          <p:spPr>
            <a:xfrm>
              <a:off x="6798623"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FFFF">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pan 6 · kiri"/>
            <p:cNvSpPr/>
            <p:nvPr/>
          </p:nvSpPr>
          <p:spPr>
            <a:xfrm>
              <a:off x="7992372"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D3C9F5">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pan 6 · kanan"/>
            <p:cNvSpPr/>
            <p:nvPr/>
          </p:nvSpPr>
          <p:spPr>
            <a:xfrm>
              <a:off x="8483346"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E6DFFB">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pan 6 · atas"/>
            <p:cNvSpPr/>
            <p:nvPr/>
          </p:nvSpPr>
          <p:spPr>
            <a:xfrm>
              <a:off x="7992372"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FFFF">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pan 7 · kiri"/>
            <p:cNvSpPr/>
            <p:nvPr/>
          </p:nvSpPr>
          <p:spPr>
            <a:xfrm>
              <a:off x="9186121" y="3937406"/>
              <a:ext cx="490974" cy="400508"/>
            </a:xfrm>
            <a:custGeom>
              <a:avLst/>
              <a:gdLst/>
              <a:ahLst/>
              <a:cxnLst/>
              <a:rect l="l" t="t" r="r" b="b"/>
              <a:pathLst>
                <a:path w="490974" h="400508">
                  <a:moveTo>
                    <a:pt x="0" y="117044"/>
                  </a:moveTo>
                  <a:lnTo>
                    <a:pt x="490974" y="400508"/>
                  </a:lnTo>
                  <a:lnTo>
                    <a:pt x="490974" y="283464"/>
                  </a:lnTo>
                  <a:lnTo>
                    <a:pt x="0" y="0"/>
                  </a:lnTo>
                  <a:close/>
                </a:path>
              </a:pathLst>
            </a:custGeom>
            <a:solidFill>
              <a:srgbClr val="D3C9F5">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pan 7 · kanan"/>
            <p:cNvSpPr/>
            <p:nvPr/>
          </p:nvSpPr>
          <p:spPr>
            <a:xfrm>
              <a:off x="9677095" y="3937406"/>
              <a:ext cx="490974" cy="400508"/>
            </a:xfrm>
            <a:custGeom>
              <a:avLst/>
              <a:gdLst/>
              <a:ahLst/>
              <a:cxnLst/>
              <a:rect l="l" t="t" r="r" b="b"/>
              <a:pathLst>
                <a:path w="490974" h="400508">
                  <a:moveTo>
                    <a:pt x="490974" y="117044"/>
                  </a:moveTo>
                  <a:lnTo>
                    <a:pt x="0" y="400508"/>
                  </a:lnTo>
                  <a:lnTo>
                    <a:pt x="0" y="283464"/>
                  </a:lnTo>
                  <a:lnTo>
                    <a:pt x="490974" y="0"/>
                  </a:lnTo>
                  <a:close/>
                </a:path>
              </a:pathLst>
            </a:custGeom>
            <a:solidFill>
              <a:srgbClr val="E6DFFB">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pan 7 · atas"/>
            <p:cNvSpPr/>
            <p:nvPr/>
          </p:nvSpPr>
          <p:spPr>
            <a:xfrm>
              <a:off x="9186121" y="3653942"/>
              <a:ext cx="981948" cy="566928"/>
            </a:xfrm>
            <a:custGeom>
              <a:avLst/>
              <a:gdLst/>
              <a:ahLst/>
              <a:cxnLst/>
              <a:rect l="l" t="t" r="r" b="b"/>
              <a:pathLst>
                <a:path w="981948" h="566928">
                  <a:moveTo>
                    <a:pt x="490974" y="0"/>
                  </a:moveTo>
                  <a:lnTo>
                    <a:pt x="981948" y="283464"/>
                  </a:lnTo>
                  <a:lnTo>
                    <a:pt x="490974" y="566928"/>
                  </a:lnTo>
                  <a:lnTo>
                    <a:pt x="0" y="283464"/>
                  </a:lnTo>
                  <a:close/>
                </a:path>
              </a:pathLst>
            </a:custGeom>
            <a:solidFill>
              <a:srgbClr val="FFFFFF">
                <a:alpha val="95000"/>
              </a:srgbClr>
            </a:solidFill>
            <a:ln w="9525" cap="rnd">
              <a:solidFill>
                <a:srgbClr val="FFFF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ayment path"/>
            <p:cNvSpPr/>
            <p:nvPr/>
          </p:nvSpPr>
          <p:spPr>
            <a:xfrm>
              <a:off x="1600200" y="2350008"/>
              <a:ext cx="8991295" cy="457200"/>
            </a:xfrm>
            <a:custGeom>
              <a:avLst/>
              <a:gdLst/>
              <a:ahLst/>
              <a:cxnLst/>
              <a:rect l="l" t="t" r="r" b="b"/>
              <a:pathLst>
                <a:path w="8991295" h="457200">
                  <a:moveTo>
                    <a:pt x="0" y="457200"/>
                  </a:moveTo>
                  <a:lnTo>
                    <a:pt x="224782" y="412623"/>
                  </a:lnTo>
                  <a:lnTo>
                    <a:pt x="449565" y="370332"/>
                  </a:lnTo>
                  <a:lnTo>
                    <a:pt x="674347" y="330327"/>
                  </a:lnTo>
                  <a:lnTo>
                    <a:pt x="899130" y="292608"/>
                  </a:lnTo>
                  <a:lnTo>
                    <a:pt x="1123912" y="257175"/>
                  </a:lnTo>
                  <a:lnTo>
                    <a:pt x="1348694" y="224028"/>
                  </a:lnTo>
                  <a:lnTo>
                    <a:pt x="1573477" y="193167"/>
                  </a:lnTo>
                  <a:lnTo>
                    <a:pt x="1798259" y="164592"/>
                  </a:lnTo>
                  <a:lnTo>
                    <a:pt x="2023041" y="138303"/>
                  </a:lnTo>
                  <a:lnTo>
                    <a:pt x="2247824" y="114300"/>
                  </a:lnTo>
                  <a:lnTo>
                    <a:pt x="2472606" y="92583"/>
                  </a:lnTo>
                  <a:lnTo>
                    <a:pt x="2697389" y="73152"/>
                  </a:lnTo>
                  <a:lnTo>
                    <a:pt x="2922171" y="56007"/>
                  </a:lnTo>
                  <a:lnTo>
                    <a:pt x="3146953" y="41148"/>
                  </a:lnTo>
                  <a:lnTo>
                    <a:pt x="3371736" y="28575"/>
                  </a:lnTo>
                  <a:lnTo>
                    <a:pt x="3596518" y="18288"/>
                  </a:lnTo>
                  <a:lnTo>
                    <a:pt x="3821300" y="10287"/>
                  </a:lnTo>
                  <a:lnTo>
                    <a:pt x="4046083" y="4572"/>
                  </a:lnTo>
                  <a:lnTo>
                    <a:pt x="4270865" y="1143"/>
                  </a:lnTo>
                  <a:lnTo>
                    <a:pt x="4495648" y="0"/>
                  </a:lnTo>
                  <a:lnTo>
                    <a:pt x="4720430" y="1143"/>
                  </a:lnTo>
                  <a:lnTo>
                    <a:pt x="4945212" y="4572"/>
                  </a:lnTo>
                  <a:lnTo>
                    <a:pt x="5169995" y="10287"/>
                  </a:lnTo>
                  <a:lnTo>
                    <a:pt x="5394777" y="18288"/>
                  </a:lnTo>
                  <a:lnTo>
                    <a:pt x="5619559" y="28575"/>
                  </a:lnTo>
                  <a:lnTo>
                    <a:pt x="5844342" y="41148"/>
                  </a:lnTo>
                  <a:lnTo>
                    <a:pt x="6069124" y="56007"/>
                  </a:lnTo>
                  <a:lnTo>
                    <a:pt x="6293907" y="73152"/>
                  </a:lnTo>
                  <a:lnTo>
                    <a:pt x="6518689" y="92583"/>
                  </a:lnTo>
                  <a:lnTo>
                    <a:pt x="6743471" y="114300"/>
                  </a:lnTo>
                  <a:lnTo>
                    <a:pt x="6968254" y="138303"/>
                  </a:lnTo>
                  <a:lnTo>
                    <a:pt x="7193036" y="164592"/>
                  </a:lnTo>
                  <a:lnTo>
                    <a:pt x="7417819" y="193167"/>
                  </a:lnTo>
                  <a:lnTo>
                    <a:pt x="7642601" y="224028"/>
                  </a:lnTo>
                  <a:lnTo>
                    <a:pt x="7867383" y="257175"/>
                  </a:lnTo>
                  <a:lnTo>
                    <a:pt x="8092166" y="292608"/>
                  </a:lnTo>
                  <a:lnTo>
                    <a:pt x="8316948" y="330327"/>
                  </a:lnTo>
                  <a:lnTo>
                    <a:pt x="8541730" y="370332"/>
                  </a:lnTo>
                  <a:lnTo>
                    <a:pt x="8766513" y="412623"/>
                  </a:lnTo>
                  <a:lnTo>
                    <a:pt x="8991295" y="457200"/>
                  </a:lnTo>
                </a:path>
              </a:pathLst>
            </a:custGeom>
            <a:noFill/>
            <a:ln w="30480" cap="rnd">
              <a:solidFill>
                <a:srgbClr val="6E4BFF">
                  <a:alpha val="95000"/>
                </a:srgbClr>
              </a:solidFill>
              <a:round/>
              <a:tailEnd type="triangle" w="med" len="med"/>
            </a:ln>
            <a:effectLst>
              <a:glow rad="63500">
                <a:srgbClr val="6E4B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in"/>
            <p:cNvSpPr/>
            <p:nvPr/>
          </p:nvSpPr>
          <p:spPr>
            <a:xfrm>
              <a:off x="1399032" y="2606040"/>
              <a:ext cx="402336" cy="402336"/>
            </a:xfrm>
            <a:prstGeom prst="ellipse">
              <a:avLst/>
            </a:prstGeom>
            <a:solidFill>
              <a:srgbClr val="6E4BFF"/>
            </a:solidFill>
            <a:ln w="9525" cap="rnd">
              <a:noFill/>
            </a:ln>
            <a:effectLst>
              <a:glow rad="101600">
                <a:srgbClr val="9D86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roof path (breaks)"/>
            <p:cNvSpPr/>
            <p:nvPr/>
          </p:nvSpPr>
          <p:spPr>
            <a:xfrm>
              <a:off x="2057400" y="3401568"/>
              <a:ext cx="4038448" cy="749808"/>
            </a:xfrm>
            <a:custGeom>
              <a:avLst/>
              <a:gdLst/>
              <a:ahLst/>
              <a:cxnLst/>
              <a:rect l="l" t="t" r="r" b="b"/>
              <a:pathLst>
                <a:path w="4038448" h="749808">
                  <a:moveTo>
                    <a:pt x="0" y="0"/>
                  </a:moveTo>
                  <a:lnTo>
                    <a:pt x="3489808" y="0"/>
                  </a:lnTo>
                  <a:lnTo>
                    <a:pt x="4038448" y="411480"/>
                  </a:lnTo>
                  <a:lnTo>
                    <a:pt x="4038448" y="749808"/>
                  </a:lnTo>
                </a:path>
              </a:pathLst>
            </a:custGeom>
            <a:noFill/>
            <a:ln w="21590" cap="rnd">
              <a:solidFill>
                <a:srgbClr val="FF5A6E">
                  <a:alpha val="90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7" name="Coin label"/>
          <p:cNvSpPr txBox="1"/>
          <p:nvPr/>
        </p:nvSpPr>
        <p:spPr>
          <a:xfrm>
            <a:off x="1325880" y="2670048"/>
            <a:ext cx="548640" cy="274320"/>
          </a:xfrm>
          <a:prstGeom prst="rect">
            <a:avLst/>
          </a:prstGeom>
          <a:noFill/>
        </p:spPr>
        <p:txBody>
          <a:bodyPr wrap="square" lIns="0" rIns="0" tIns="0" bIns="0" anchor="ctr">
            <a:noAutofit/>
          </a:bodyPr>
          <a:lstStyle/>
          <a:p>
            <a:pPr algn="ctr">
              <a:lnSpc>
                <a:spcPct val="100000"/>
              </a:lnSpc>
              <a:spcBef>
                <a:spcPts val="0"/>
              </a:spcBef>
              <a:spcAft>
                <a:spcPts val="0"/>
              </a:spcAft>
            </a:pPr>
            <a:r>
              <a:rPr sz="1200" b="1" i="0" lang="en-US">
                <a:solidFill>
                  <a:srgbClr val="FFFFFF"/>
                </a:solidFill>
                <a:latin typeface="JetBrains Mono" pitchFamily="49" charset="0"/>
              </a:rPr>
              <a:t>402</a:t>
            </a:r>
          </a:p>
        </p:txBody>
      </p:sp>
      <p:sp>
        <p:nvSpPr>
          <p:cNvPr id="38" name="Payment label"/>
          <p:cNvSpPr txBox="1"/>
          <p:nvPr/>
        </p:nvSpPr>
        <p:spPr>
          <a:xfrm>
            <a:off x="4632808" y="2029968"/>
            <a:ext cx="2926080" cy="237744"/>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6E4BFF"/>
                </a:solidFill>
                <a:latin typeface="JetBrains Mono" pitchFamily="49" charset="0"/>
              </a:rPr>
              <a:t>PAYMENT PASSES</a:t>
            </a:r>
          </a:p>
        </p:txBody>
      </p:sp>
      <p:sp>
        <p:nvSpPr>
          <p:cNvPr id="40" name="Break mark"/>
          <p:cNvSpPr txBox="1"/>
          <p:nvPr/>
        </p:nvSpPr>
        <p:spPr>
          <a:xfrm>
            <a:off x="5912968" y="4041648"/>
            <a:ext cx="365760" cy="365760"/>
          </a:xfrm>
          <a:prstGeom prst="rect">
            <a:avLst/>
          </a:prstGeom>
          <a:noFill/>
        </p:spPr>
        <p:txBody>
          <a:bodyPr wrap="square" lIns="0" rIns="0" tIns="0" bIns="0" anchor="ctr">
            <a:noAutofit/>
          </a:bodyPr>
          <a:lstStyle/>
          <a:p>
            <a:pPr algn="ctr">
              <a:lnSpc>
                <a:spcPct val="100000"/>
              </a:lnSpc>
              <a:spcBef>
                <a:spcPts val="0"/>
              </a:spcBef>
              <a:spcAft>
                <a:spcPts val="0"/>
              </a:spcAft>
            </a:pPr>
            <a:r>
              <a:rPr sz="1800" b="1" i="0" lang="en-US">
                <a:solidFill>
                  <a:srgbClr val="FF5A6E"/>
                </a:solidFill>
                <a:latin typeface="Inter" pitchFamily="34" charset="0"/>
              </a:rPr>
              <a:t>✕</a:t>
            </a:r>
          </a:p>
        </p:txBody>
      </p:sp>
      <p:sp>
        <p:nvSpPr>
          <p:cNvPr id="41" name="Gap label"/>
          <p:cNvSpPr txBox="1"/>
          <p:nvPr/>
        </p:nvSpPr>
        <p:spPr>
          <a:xfrm>
            <a:off x="4632808" y="4480560"/>
            <a:ext cx="2926080" cy="457200"/>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FF5A6E"/>
                </a:solidFill>
                <a:latin typeface="JetBrains Mono" pitchFamily="49" charset="0"/>
              </a:rPr>
              <a:t>WHEN? · WHAT? · UNCHANGED?</a:t>
            </a:r>
          </a:p>
        </p:txBody>
      </p:sp>
      <p:sp>
        <p:nvSpPr>
          <p:cNvPr id="42" name="Proof label"/>
          <p:cNvSpPr txBox="1"/>
          <p:nvPr/>
        </p:nvSpPr>
        <p:spPr>
          <a:xfrm>
            <a:off x="2057400" y="3017520"/>
            <a:ext cx="2560320" cy="237744"/>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FF5A6E"/>
                </a:solidFill>
                <a:latin typeface="JetBrains Mono" pitchFamily="49" charset="0"/>
              </a:rPr>
              <a:t>proof falls through</a:t>
            </a:r>
          </a:p>
        </p:txBody>
      </p:sp>
      <p:sp>
        <p:nvSpPr>
          <p:cNvPr id="43" name="Point 1"/>
          <p:cNvSpPr/>
          <p:nvPr/>
        </p:nvSpPr>
        <p:spPr>
          <a:xfrm>
            <a:off x="594360" y="4773168"/>
            <a:ext cx="3496970" cy="1481328"/>
          </a:xfrm>
          <a:prstGeom prst="roundRect">
            <a:avLst>
              <a:gd name="adj" fmla="val 12345"/>
            </a:avLst>
          </a:prstGeom>
          <a:gradFill rotWithShape="1">
            <a:gsLst>
              <a:gs pos="0">
                <a:srgbClr val="FFFFFF">
                  <a:alpha val="78000"/>
                </a:srgbClr>
              </a:gs>
              <a:gs pos="100000">
                <a:srgbClr val="FFFFFF">
                  <a:alpha val="42000"/>
                </a:srgbClr>
              </a:gs>
            </a:gsLst>
            <a:lin ang="8100000" scaled="0"/>
          </a:gradFill>
          <a:ln w="9525" cap="rnd">
            <a:solidFill>
              <a:srgbClr val="FFFFFF">
                <a:alpha val="90000"/>
              </a:srgbClr>
            </a:solidFill>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oint 1 tag"/>
          <p:cNvSpPr txBox="1"/>
          <p:nvPr/>
        </p:nvSpPr>
        <p:spPr>
          <a:xfrm>
            <a:off x="795528" y="4974336"/>
            <a:ext cx="3094634" cy="201168"/>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6E4BFF"/>
                </a:solidFill>
                <a:latin typeface="JetBrains Mono" pitchFamily="49" charset="0"/>
              </a:rPr>
              <a:t>SUPPLY</a:t>
            </a:r>
          </a:p>
        </p:txBody>
      </p:sp>
      <p:sp>
        <p:nvSpPr>
          <p:cNvPr id="45" name="Point 1 title"/>
          <p:cNvSpPr txBox="1"/>
          <p:nvPr/>
        </p:nvSpPr>
        <p:spPr>
          <a:xfrm>
            <a:off x="795528" y="5248656"/>
            <a:ext cx="3094634" cy="270256"/>
          </a:xfrm>
          <a:prstGeom prst="rect">
            <a:avLst/>
          </a:prstGeom>
          <a:noFill/>
        </p:spPr>
        <p:txBody>
          <a:bodyPr wrap="square" lIns="0" rIns="0" tIns="0" bIns="0" anchor="t">
            <a:noAutofit/>
          </a:bodyPr>
          <a:lstStyle/>
          <a:p>
            <a:pPr algn="l">
              <a:lnSpc>
                <a:spcPct val="110000"/>
              </a:lnSpc>
              <a:spcBef>
                <a:spcPts val="0"/>
              </a:spcBef>
              <a:spcAft>
                <a:spcPts val="0"/>
              </a:spcAft>
            </a:pPr>
            <a:r>
              <a:rPr sz="1600" b="1" i="0" lang="en-US">
                <a:solidFill>
                  <a:srgbClr val="15122B"/>
                </a:solidFill>
                <a:latin typeface="Archivo" pitchFamily="34" charset="0"/>
              </a:rPr>
              <a:t>Bots are cheap to launch</a:t>
            </a:r>
          </a:p>
        </p:txBody>
      </p:sp>
      <p:sp>
        <p:nvSpPr>
          <p:cNvPr id="46" name="Point 1 text"/>
          <p:cNvSpPr txBox="1"/>
          <p:nvPr/>
        </p:nvSpPr>
        <p:spPr>
          <a:xfrm>
            <a:off x="795528" y="5573776"/>
            <a:ext cx="3094634" cy="590194"/>
          </a:xfrm>
          <a:prstGeom prst="rect">
            <a:avLst/>
          </a:prstGeom>
          <a:noFill/>
        </p:spPr>
        <p:txBody>
          <a:bodyPr wrap="square" lIns="0" rIns="0" tIns="0" bIns="0" anchor="t">
            <a:noAutofit/>
          </a:bodyPr>
          <a:lstStyle/>
          <a:p>
            <a:pPr algn="l">
              <a:lnSpc>
                <a:spcPct val="130000"/>
              </a:lnSpc>
              <a:spcBef>
                <a:spcPts val="0"/>
              </a:spcBef>
              <a:spcAft>
                <a:spcPts val="0"/>
              </a:spcAft>
            </a:pPr>
            <a:r>
              <a:rPr sz="1350" b="0" i="0" lang="en-US">
                <a:solidFill>
                  <a:srgbClr val="5B5680"/>
                </a:solidFill>
                <a:latin typeface="Inter" pitchFamily="34" charset="0"/>
              </a:rPr>
              <a:t>Anyone can ship one in an afternoon. Nothing tells them apart.</a:t>
            </a:r>
          </a:p>
        </p:txBody>
      </p:sp>
      <p:sp>
        <p:nvSpPr>
          <p:cNvPr id="47" name="Point 2"/>
          <p:cNvSpPr/>
          <p:nvPr/>
        </p:nvSpPr>
        <p:spPr>
          <a:xfrm>
            <a:off x="4347362" y="4773168"/>
            <a:ext cx="3496970" cy="1481328"/>
          </a:xfrm>
          <a:prstGeom prst="roundRect">
            <a:avLst>
              <a:gd name="adj" fmla="val 12345"/>
            </a:avLst>
          </a:prstGeom>
          <a:gradFill rotWithShape="1">
            <a:gsLst>
              <a:gs pos="0">
                <a:srgbClr val="FFFFFF">
                  <a:alpha val="78000"/>
                </a:srgbClr>
              </a:gs>
              <a:gs pos="100000">
                <a:srgbClr val="FFFFFF">
                  <a:alpha val="42000"/>
                </a:srgbClr>
              </a:gs>
            </a:gsLst>
            <a:lin ang="8100000" scaled="0"/>
          </a:gradFill>
          <a:ln w="9525" cap="rnd">
            <a:solidFill>
              <a:srgbClr val="FFFFFF">
                <a:alpha val="90000"/>
              </a:srgbClr>
            </a:solidFill>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oint 2 tag"/>
          <p:cNvSpPr txBox="1"/>
          <p:nvPr/>
        </p:nvSpPr>
        <p:spPr>
          <a:xfrm>
            <a:off x="4548530" y="4974336"/>
            <a:ext cx="3094634" cy="201168"/>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6E4BFF"/>
                </a:solidFill>
                <a:latin typeface="JetBrains Mono" pitchFamily="49" charset="0"/>
              </a:rPr>
              <a:t>HINDSIGHT</a:t>
            </a:r>
          </a:p>
        </p:txBody>
      </p:sp>
      <p:sp>
        <p:nvSpPr>
          <p:cNvPr id="49" name="Point 2 title"/>
          <p:cNvSpPr txBox="1"/>
          <p:nvPr/>
        </p:nvSpPr>
        <p:spPr>
          <a:xfrm>
            <a:off x="4548530" y="5248656"/>
            <a:ext cx="3094634" cy="270256"/>
          </a:xfrm>
          <a:prstGeom prst="rect">
            <a:avLst/>
          </a:prstGeom>
          <a:noFill/>
        </p:spPr>
        <p:txBody>
          <a:bodyPr wrap="square" lIns="0" rIns="0" tIns="0" bIns="0" anchor="t">
            <a:noAutofit/>
          </a:bodyPr>
          <a:lstStyle/>
          <a:p>
            <a:pPr algn="l">
              <a:lnSpc>
                <a:spcPct val="110000"/>
              </a:lnSpc>
              <a:spcBef>
                <a:spcPts val="0"/>
              </a:spcBef>
              <a:spcAft>
                <a:spcPts val="0"/>
              </a:spcAft>
            </a:pPr>
            <a:r>
              <a:rPr sz="1600" b="1" i="0" lang="en-US">
                <a:solidFill>
                  <a:srgbClr val="15122B"/>
                </a:solidFill>
                <a:latin typeface="Archivo" pitchFamily="34" charset="0"/>
              </a:rPr>
              <a:t>Hindsight is free</a:t>
            </a:r>
          </a:p>
        </p:txBody>
      </p:sp>
      <p:sp>
        <p:nvSpPr>
          <p:cNvPr id="50" name="Point 2 text"/>
          <p:cNvSpPr txBox="1"/>
          <p:nvPr/>
        </p:nvSpPr>
        <p:spPr>
          <a:xfrm>
            <a:off x="4548530" y="5573776"/>
            <a:ext cx="3094634" cy="590194"/>
          </a:xfrm>
          <a:prstGeom prst="rect">
            <a:avLst/>
          </a:prstGeom>
          <a:noFill/>
        </p:spPr>
        <p:txBody>
          <a:bodyPr wrap="square" lIns="0" rIns="0" tIns="0" bIns="0" anchor="t">
            <a:noAutofit/>
          </a:bodyPr>
          <a:lstStyle/>
          <a:p>
            <a:pPr algn="l">
              <a:lnSpc>
                <a:spcPct val="130000"/>
              </a:lnSpc>
              <a:spcBef>
                <a:spcPts val="0"/>
              </a:spcBef>
              <a:spcAft>
                <a:spcPts val="0"/>
              </a:spcAft>
            </a:pPr>
            <a:r>
              <a:rPr sz="1350" b="0" i="0" lang="en-US">
                <a:solidFill>
                  <a:srgbClr val="5B5680"/>
                </a:solidFill>
                <a:latin typeface="Inter" pitchFamily="34" charset="0"/>
              </a:rPr>
              <a:t>An LLM can justify any call after the fact. A reason is not a timestamp.</a:t>
            </a:r>
          </a:p>
        </p:txBody>
      </p:sp>
      <p:sp>
        <p:nvSpPr>
          <p:cNvPr id="51" name="Point 3"/>
          <p:cNvSpPr/>
          <p:nvPr/>
        </p:nvSpPr>
        <p:spPr>
          <a:xfrm>
            <a:off x="8100365" y="4773168"/>
            <a:ext cx="3496970" cy="1481328"/>
          </a:xfrm>
          <a:prstGeom prst="roundRect">
            <a:avLst>
              <a:gd name="adj" fmla="val 12345"/>
            </a:avLst>
          </a:prstGeom>
          <a:gradFill rotWithShape="1">
            <a:gsLst>
              <a:gs pos="0">
                <a:srgbClr val="FFFFFF">
                  <a:alpha val="78000"/>
                </a:srgbClr>
              </a:gs>
              <a:gs pos="100000">
                <a:srgbClr val="FFFFFF">
                  <a:alpha val="42000"/>
                </a:srgbClr>
              </a:gs>
            </a:gsLst>
            <a:lin ang="8100000" scaled="0"/>
          </a:gradFill>
          <a:ln w="9525" cap="rnd">
            <a:solidFill>
              <a:srgbClr val="FFFFFF">
                <a:alpha val="90000"/>
              </a:srgbClr>
            </a:solidFill>
            <a:round/>
          </a:ln>
          <a:effectLst>
            <a:outerShdw blurRad="355600" dist="127000" dir="5400000" algn="t" rotWithShape="0">
              <a:srgbClr val="3B22B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oint 3 tag"/>
          <p:cNvSpPr txBox="1"/>
          <p:nvPr/>
        </p:nvSpPr>
        <p:spPr>
          <a:xfrm>
            <a:off x="8301533" y="4974336"/>
            <a:ext cx="3094634" cy="201168"/>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6E4BFF"/>
                </a:solidFill>
                <a:latin typeface="JetBrains Mono" pitchFamily="49" charset="0"/>
              </a:rPr>
              <a:t>RAILS</a:t>
            </a:r>
          </a:p>
        </p:txBody>
      </p:sp>
      <p:sp>
        <p:nvSpPr>
          <p:cNvPr id="53" name="Point 3 title"/>
          <p:cNvSpPr txBox="1"/>
          <p:nvPr/>
        </p:nvSpPr>
        <p:spPr>
          <a:xfrm>
            <a:off x="8301533" y="5248656"/>
            <a:ext cx="3094634" cy="270256"/>
          </a:xfrm>
          <a:prstGeom prst="rect">
            <a:avLst/>
          </a:prstGeom>
          <a:noFill/>
        </p:spPr>
        <p:txBody>
          <a:bodyPr wrap="square" lIns="0" rIns="0" tIns="0" bIns="0" anchor="t">
            <a:noAutofit/>
          </a:bodyPr>
          <a:lstStyle/>
          <a:p>
            <a:pPr algn="l">
              <a:lnSpc>
                <a:spcPct val="110000"/>
              </a:lnSpc>
              <a:spcBef>
                <a:spcPts val="0"/>
              </a:spcBef>
              <a:spcAft>
                <a:spcPts val="0"/>
              </a:spcAft>
            </a:pPr>
            <a:r>
              <a:rPr sz="1600" b="1" i="0" lang="en-US">
                <a:solidFill>
                  <a:srgbClr val="15122B"/>
                </a:solidFill>
                <a:latin typeface="Archivo" pitchFamily="34" charset="0"/>
              </a:rPr>
              <a:t>Payment rails are ready</a:t>
            </a:r>
          </a:p>
        </p:txBody>
      </p:sp>
      <p:sp>
        <p:nvSpPr>
          <p:cNvPr id="54" name="Point 3 text"/>
          <p:cNvSpPr txBox="1"/>
          <p:nvPr/>
        </p:nvSpPr>
        <p:spPr>
          <a:xfrm>
            <a:off x="8301533" y="5573776"/>
            <a:ext cx="3094634" cy="590194"/>
          </a:xfrm>
          <a:prstGeom prst="rect">
            <a:avLst/>
          </a:prstGeom>
          <a:noFill/>
        </p:spPr>
        <p:txBody>
          <a:bodyPr wrap="square" lIns="0" rIns="0" tIns="0" bIns="0" anchor="t">
            <a:noAutofit/>
          </a:bodyPr>
          <a:lstStyle/>
          <a:p>
            <a:pPr algn="l">
              <a:lnSpc>
                <a:spcPct val="130000"/>
              </a:lnSpc>
              <a:spcBef>
                <a:spcPts val="0"/>
              </a:spcBef>
              <a:spcAft>
                <a:spcPts val="0"/>
              </a:spcAft>
            </a:pPr>
            <a:r>
              <a:rPr sz="1350" b="0" i="0" lang="en-US">
                <a:solidFill>
                  <a:srgbClr val="5B5680"/>
                </a:solidFill>
                <a:latin typeface="Inter" pitchFamily="34" charset="0"/>
              </a:rPr>
              <a:t>x402 moves the money. It cannot say when a signal was made.</a:t>
            </a:r>
          </a:p>
        </p:txBody>
      </p:sp>
      <p:sp>
        <p:nvSpPr>
          <p:cNvPr id="55"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56"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914400"/>
            <a:ext cx="5669280" cy="2011680"/>
          </a:xfrm>
        </p:spPr>
        <p:txBody>
          <a:bodyPr wrap="square" lIns="0" rIns="0" tIns="0" bIns="0" anchor="t">
            <a:noAutofit/>
          </a:bodyPr>
          <a:lstStyle/>
          <a:p>
            <a:pPr algn="l">
              <a:lnSpc>
                <a:spcPct val="98000"/>
              </a:lnSpc>
              <a:spcBef>
                <a:spcPts val="0"/>
              </a:spcBef>
              <a:spcAft>
                <a:spcPts val="0"/>
              </a:spcAft>
            </a:pPr>
            <a:r>
              <a:rPr sz="6400" b="0" i="0" lang="en-US">
                <a:solidFill>
                  <a:srgbClr val="ECE8FA"/>
                </a:solidFill>
                <a:latin typeface="Archivo" pitchFamily="34" charset="0"/>
              </a:rPr>
              <a:t>Commit first.</a:t>
            </a:r>
            <a:br>
              <a:rPr sz="6400"/>
            </a:br>
            <a:r>
              <a:rPr sz="6400" b="1" i="1" lang="en-US">
                <a:solidFill>
                  <a:srgbClr val="9D86FF"/>
                </a:solidFill>
                <a:latin typeface="Archivo" pitchFamily="34" charset="0"/>
              </a:rPr>
              <a:t>Prove later.</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03 — THE IDEA</a:t>
            </a:r>
          </a:p>
        </p:txBody>
      </p:sp>
      <p:sp>
        <p:nvSpPr>
          <p:cNvPr id="7" name="Sub"/>
          <p:cNvSpPr txBox="1"/>
          <p:nvPr/>
        </p:nvSpPr>
        <p:spPr>
          <a:xfrm>
            <a:off x="594360" y="3017520"/>
            <a:ext cx="5120640" cy="1188720"/>
          </a:xfrm>
          <a:prstGeom prst="rect">
            <a:avLst/>
          </a:prstGeom>
          <a:noFill/>
        </p:spPr>
        <p:txBody>
          <a:bodyPr wrap="square" lIns="0" rIns="0" tIns="0" bIns="0" anchor="t">
            <a:noAutofit/>
          </a:bodyPr>
          <a:lstStyle/>
          <a:p>
            <a:pPr algn="l">
              <a:lnSpc>
                <a:spcPct val="130000"/>
              </a:lnSpc>
              <a:spcBef>
                <a:spcPts val="0"/>
              </a:spcBef>
              <a:spcAft>
                <a:spcPts val="0"/>
              </a:spcAft>
            </a:pPr>
            <a:r>
              <a:rPr sz="1800" b="0" i="0" lang="en-US">
                <a:solidFill>
                  <a:srgbClr val="C9BDF2"/>
                </a:solidFill>
                <a:latin typeface="Inter" pitchFamily="34" charset="0"/>
              </a:rPr>
              <a:t>Fabius seals every decision on-chain before the market answers, so nobody has to take our word for the order.</a:t>
            </a:r>
          </a:p>
        </p:txBody>
      </p:sp>
      <p:grpSp>
        <p:nvGrpSpPr>
          <p:cNvPr id="8" name="Halo"/>
          <p:cNvGrpSpPr/>
          <p:nvPr/>
        </p:nvGrpSpPr>
        <p:grpSpPr>
          <a:xfrm>
            <a:off x="4937760" y="411480"/>
            <a:ext cx="7680960" cy="4572000"/>
            <a:chOff x="4937760" y="411480"/>
            <a:chExt cx="7680960" cy="4572000"/>
          </a:xfrm>
        </p:grpSpPr>
        <p:sp>
          <p:nvSpPr>
            <p:cNvPr id="9" name="Halo 1"/>
            <p:cNvSpPr/>
            <p:nvPr/>
          </p:nvSpPr>
          <p:spPr>
            <a:xfrm>
              <a:off x="4937760" y="411480"/>
              <a:ext cx="7680960" cy="457200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alo 2"/>
            <p:cNvSpPr/>
            <p:nvPr/>
          </p:nvSpPr>
          <p:spPr>
            <a:xfrm>
              <a:off x="5068621" y="489373"/>
              <a:ext cx="7419238" cy="441621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alo 3"/>
            <p:cNvSpPr/>
            <p:nvPr/>
          </p:nvSpPr>
          <p:spPr>
            <a:xfrm>
              <a:off x="5199482" y="567267"/>
              <a:ext cx="7157517" cy="426042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alo 4"/>
            <p:cNvSpPr/>
            <p:nvPr/>
          </p:nvSpPr>
          <p:spPr>
            <a:xfrm>
              <a:off x="5330342" y="645160"/>
              <a:ext cx="6895795" cy="410464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alo 5"/>
            <p:cNvSpPr/>
            <p:nvPr/>
          </p:nvSpPr>
          <p:spPr>
            <a:xfrm>
              <a:off x="5461203" y="723053"/>
              <a:ext cx="6634074" cy="394885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lo 6"/>
            <p:cNvSpPr/>
            <p:nvPr/>
          </p:nvSpPr>
          <p:spPr>
            <a:xfrm>
              <a:off x="5592064" y="800947"/>
              <a:ext cx="6372352" cy="379306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alo 7"/>
            <p:cNvSpPr/>
            <p:nvPr/>
          </p:nvSpPr>
          <p:spPr>
            <a:xfrm>
              <a:off x="5722925" y="878840"/>
              <a:ext cx="6110630" cy="363728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alo 8"/>
            <p:cNvSpPr/>
            <p:nvPr/>
          </p:nvSpPr>
          <p:spPr>
            <a:xfrm>
              <a:off x="5853786" y="956733"/>
              <a:ext cx="5848909" cy="348149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alo 9"/>
            <p:cNvSpPr/>
            <p:nvPr/>
          </p:nvSpPr>
          <p:spPr>
            <a:xfrm>
              <a:off x="5984646" y="1034627"/>
              <a:ext cx="5587187" cy="332570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lo 10"/>
            <p:cNvSpPr/>
            <p:nvPr/>
          </p:nvSpPr>
          <p:spPr>
            <a:xfrm>
              <a:off x="6115507" y="1112520"/>
              <a:ext cx="5325466" cy="316992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alo 11"/>
            <p:cNvSpPr/>
            <p:nvPr/>
          </p:nvSpPr>
          <p:spPr>
            <a:xfrm>
              <a:off x="6246368" y="1190413"/>
              <a:ext cx="5063744" cy="301413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alo 12"/>
            <p:cNvSpPr/>
            <p:nvPr/>
          </p:nvSpPr>
          <p:spPr>
            <a:xfrm>
              <a:off x="6377229" y="1268307"/>
              <a:ext cx="4802022" cy="285834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alo 13"/>
            <p:cNvSpPr/>
            <p:nvPr/>
          </p:nvSpPr>
          <p:spPr>
            <a:xfrm>
              <a:off x="6508090" y="1346200"/>
              <a:ext cx="4540301" cy="270256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alo 14"/>
            <p:cNvSpPr/>
            <p:nvPr/>
          </p:nvSpPr>
          <p:spPr>
            <a:xfrm>
              <a:off x="6638950" y="1424093"/>
              <a:ext cx="4278579" cy="254677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alo 15"/>
            <p:cNvSpPr/>
            <p:nvPr/>
          </p:nvSpPr>
          <p:spPr>
            <a:xfrm>
              <a:off x="6769811" y="1501987"/>
              <a:ext cx="4016858" cy="239098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alo 16"/>
            <p:cNvSpPr/>
            <p:nvPr/>
          </p:nvSpPr>
          <p:spPr>
            <a:xfrm>
              <a:off x="6900672" y="1579880"/>
              <a:ext cx="3755136" cy="223520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alo 17"/>
            <p:cNvSpPr/>
            <p:nvPr/>
          </p:nvSpPr>
          <p:spPr>
            <a:xfrm>
              <a:off x="7031533" y="1657773"/>
              <a:ext cx="3493414" cy="207941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lo 18"/>
            <p:cNvSpPr/>
            <p:nvPr/>
          </p:nvSpPr>
          <p:spPr>
            <a:xfrm>
              <a:off x="7162394" y="1735667"/>
              <a:ext cx="3231693" cy="192362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lo 19"/>
            <p:cNvSpPr/>
            <p:nvPr/>
          </p:nvSpPr>
          <p:spPr>
            <a:xfrm>
              <a:off x="7293254" y="1813560"/>
              <a:ext cx="2969971" cy="176784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lo 20"/>
            <p:cNvSpPr/>
            <p:nvPr/>
          </p:nvSpPr>
          <p:spPr>
            <a:xfrm>
              <a:off x="7424115" y="1891453"/>
              <a:ext cx="2708250" cy="161205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lo 21"/>
            <p:cNvSpPr/>
            <p:nvPr/>
          </p:nvSpPr>
          <p:spPr>
            <a:xfrm>
              <a:off x="7554976" y="1969347"/>
              <a:ext cx="2446528" cy="145626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alo 22"/>
            <p:cNvSpPr/>
            <p:nvPr/>
          </p:nvSpPr>
          <p:spPr>
            <a:xfrm>
              <a:off x="7685837" y="2047240"/>
              <a:ext cx="2184806" cy="130048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Halo 23"/>
            <p:cNvSpPr/>
            <p:nvPr/>
          </p:nvSpPr>
          <p:spPr>
            <a:xfrm>
              <a:off x="7816698" y="2125133"/>
              <a:ext cx="1923085" cy="114469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Halo 24"/>
            <p:cNvSpPr/>
            <p:nvPr/>
          </p:nvSpPr>
          <p:spPr>
            <a:xfrm>
              <a:off x="7947558" y="2203027"/>
              <a:ext cx="1661363" cy="98890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alo 25"/>
            <p:cNvSpPr/>
            <p:nvPr/>
          </p:nvSpPr>
          <p:spPr>
            <a:xfrm>
              <a:off x="8078419" y="2280920"/>
              <a:ext cx="1399642" cy="83312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alo 26"/>
            <p:cNvSpPr/>
            <p:nvPr/>
          </p:nvSpPr>
          <p:spPr>
            <a:xfrm>
              <a:off x="8209280" y="2358813"/>
              <a:ext cx="1137920" cy="677333"/>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alo 27"/>
            <p:cNvSpPr/>
            <p:nvPr/>
          </p:nvSpPr>
          <p:spPr>
            <a:xfrm>
              <a:off x="8340141" y="2436707"/>
              <a:ext cx="876198" cy="521547"/>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alo 28"/>
            <p:cNvSpPr/>
            <p:nvPr/>
          </p:nvSpPr>
          <p:spPr>
            <a:xfrm>
              <a:off x="8471002" y="2514600"/>
              <a:ext cx="614477" cy="365760"/>
            </a:xfrm>
            <a:prstGeom prst="ellipse">
              <a:avLst/>
            </a:prstGeom>
            <a:solidFill>
              <a:srgbClr val="7B5CFF">
                <a:alpha val="147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7" name="Scene · decision before outcome"/>
          <p:cNvGrpSpPr/>
          <p:nvPr/>
        </p:nvGrpSpPr>
        <p:grpSpPr>
          <a:xfrm>
            <a:off x="0" y="0"/>
            <a:ext cx="0" cy="0"/>
            <a:chOff x="0" y="0"/>
            <a:chExt cx="0" cy="0"/>
          </a:xfrm>
        </p:grpSpPr>
        <p:sp>
          <p:nvSpPr>
            <p:cNvPr id="42" name="Sealed decision · kiri"/>
            <p:cNvSpPr/>
            <p:nvPr/>
          </p:nvSpPr>
          <p:spPr>
            <a:xfrm>
              <a:off x="6211605" y="2206447"/>
              <a:ext cx="692115" cy="1198779"/>
            </a:xfrm>
            <a:custGeom>
              <a:avLst/>
              <a:gdLst/>
              <a:ahLst/>
              <a:cxnLst/>
              <a:rect l="l" t="t" r="r" b="b"/>
              <a:pathLst>
                <a:path w="692115" h="1198779">
                  <a:moveTo>
                    <a:pt x="0" y="799186"/>
                  </a:moveTo>
                  <a:lnTo>
                    <a:pt x="692115" y="1198779"/>
                  </a:lnTo>
                  <a:lnTo>
                    <a:pt x="692115" y="399593"/>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ealed decision · kanan"/>
            <p:cNvSpPr/>
            <p:nvPr/>
          </p:nvSpPr>
          <p:spPr>
            <a:xfrm>
              <a:off x="6903720" y="2206447"/>
              <a:ext cx="692115" cy="1198779"/>
            </a:xfrm>
            <a:custGeom>
              <a:avLst/>
              <a:gdLst/>
              <a:ahLst/>
              <a:cxnLst/>
              <a:rect l="l" t="t" r="r" b="b"/>
              <a:pathLst>
                <a:path w="692115" h="1198779">
                  <a:moveTo>
                    <a:pt x="692115" y="799186"/>
                  </a:moveTo>
                  <a:lnTo>
                    <a:pt x="0" y="1198779"/>
                  </a:lnTo>
                  <a:lnTo>
                    <a:pt x="0" y="399593"/>
                  </a:lnTo>
                  <a:lnTo>
                    <a:pt x="692115"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ealed decision · atas"/>
            <p:cNvSpPr/>
            <p:nvPr/>
          </p:nvSpPr>
          <p:spPr>
            <a:xfrm>
              <a:off x="6211605" y="1806854"/>
              <a:ext cx="1384230" cy="799186"/>
            </a:xfrm>
            <a:custGeom>
              <a:avLst/>
              <a:gdLst/>
              <a:ahLst/>
              <a:cxnLst/>
              <a:rect l="l" t="t" r="r" b="b"/>
              <a:pathLst>
                <a:path w="1384230" h="799186">
                  <a:moveTo>
                    <a:pt x="692115" y="0"/>
                  </a:moveTo>
                  <a:lnTo>
                    <a:pt x="1384230" y="399593"/>
                  </a:lnTo>
                  <a:lnTo>
                    <a:pt x="692115" y="799186"/>
                  </a:lnTo>
                  <a:lnTo>
                    <a:pt x="0" y="399593"/>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eal · kiri"/>
            <p:cNvSpPr/>
            <p:nvPr/>
          </p:nvSpPr>
          <p:spPr>
            <a:xfrm>
              <a:off x="6466595" y="1520830"/>
              <a:ext cx="437125" cy="319674"/>
            </a:xfrm>
            <a:custGeom>
              <a:avLst/>
              <a:gdLst/>
              <a:ahLst/>
              <a:cxnLst/>
              <a:rect l="l" t="t" r="r" b="b"/>
              <a:pathLst>
                <a:path w="437125" h="319674">
                  <a:moveTo>
                    <a:pt x="0" y="67300"/>
                  </a:moveTo>
                  <a:lnTo>
                    <a:pt x="437125" y="319674"/>
                  </a:lnTo>
                  <a:lnTo>
                    <a:pt x="437125" y="252374"/>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eal · kanan"/>
            <p:cNvSpPr/>
            <p:nvPr/>
          </p:nvSpPr>
          <p:spPr>
            <a:xfrm>
              <a:off x="6903720" y="1520830"/>
              <a:ext cx="437125" cy="319674"/>
            </a:xfrm>
            <a:custGeom>
              <a:avLst/>
              <a:gdLst/>
              <a:ahLst/>
              <a:cxnLst/>
              <a:rect l="l" t="t" r="r" b="b"/>
              <a:pathLst>
                <a:path w="437125" h="319674">
                  <a:moveTo>
                    <a:pt x="437125" y="67300"/>
                  </a:moveTo>
                  <a:lnTo>
                    <a:pt x="0" y="319674"/>
                  </a:lnTo>
                  <a:lnTo>
                    <a:pt x="0" y="252374"/>
                  </a:lnTo>
                  <a:lnTo>
                    <a:pt x="437125"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eal · atas"/>
            <p:cNvSpPr/>
            <p:nvPr/>
          </p:nvSpPr>
          <p:spPr>
            <a:xfrm>
              <a:off x="6466595" y="1268456"/>
              <a:ext cx="874250" cy="504748"/>
            </a:xfrm>
            <a:custGeom>
              <a:avLst/>
              <a:gdLst/>
              <a:ahLst/>
              <a:cxnLst/>
              <a:rect l="l" t="t" r="r" b="b"/>
              <a:pathLst>
                <a:path w="874250" h="504748">
                  <a:moveTo>
                    <a:pt x="437125" y="0"/>
                  </a:moveTo>
                  <a:lnTo>
                    <a:pt x="874250" y="252374"/>
                  </a:lnTo>
                  <a:lnTo>
                    <a:pt x="437125" y="504748"/>
                  </a:lnTo>
                  <a:lnTo>
                    <a:pt x="0" y="252374"/>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r close wall · kiri"/>
            <p:cNvSpPr/>
            <p:nvPr/>
          </p:nvSpPr>
          <p:spPr>
            <a:xfrm>
              <a:off x="8372264" y="1931030"/>
              <a:ext cx="101996" cy="1446946"/>
            </a:xfrm>
            <a:custGeom>
              <a:avLst/>
              <a:gdLst/>
              <a:ahLst/>
              <a:cxnLst/>
              <a:rect l="l" t="t" r="r" b="b"/>
              <a:pathLst>
                <a:path w="101996" h="1446946">
                  <a:moveTo>
                    <a:pt x="0" y="1388059"/>
                  </a:moveTo>
                  <a:lnTo>
                    <a:pt x="101996" y="1446946"/>
                  </a:lnTo>
                  <a:lnTo>
                    <a:pt x="101996" y="58887"/>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r close wall · kanan"/>
            <p:cNvSpPr/>
            <p:nvPr/>
          </p:nvSpPr>
          <p:spPr>
            <a:xfrm>
              <a:off x="8474260" y="1527231"/>
              <a:ext cx="801396" cy="1850745"/>
            </a:xfrm>
            <a:custGeom>
              <a:avLst/>
              <a:gdLst/>
              <a:ahLst/>
              <a:cxnLst/>
              <a:rect l="l" t="t" r="r" b="b"/>
              <a:pathLst>
                <a:path w="801396" h="1850745">
                  <a:moveTo>
                    <a:pt x="801396" y="1388059"/>
                  </a:moveTo>
                  <a:lnTo>
                    <a:pt x="0" y="1850745"/>
                  </a:lnTo>
                  <a:lnTo>
                    <a:pt x="0" y="462686"/>
                  </a:lnTo>
                  <a:lnTo>
                    <a:pt x="801396"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r close wall · atas"/>
            <p:cNvSpPr/>
            <p:nvPr/>
          </p:nvSpPr>
          <p:spPr>
            <a:xfrm>
              <a:off x="8372264" y="1468344"/>
              <a:ext cx="903392" cy="521573"/>
            </a:xfrm>
            <a:custGeom>
              <a:avLst/>
              <a:gdLst/>
              <a:ahLst/>
              <a:cxnLst/>
              <a:rect l="l" t="t" r="r" b="b"/>
              <a:pathLst>
                <a:path w="903392" h="521573">
                  <a:moveTo>
                    <a:pt x="801396" y="0"/>
                  </a:moveTo>
                  <a:lnTo>
                    <a:pt x="903392" y="58887"/>
                  </a:lnTo>
                  <a:lnTo>
                    <a:pt x="101996" y="521573"/>
                  </a:lnTo>
                  <a:lnTo>
                    <a:pt x="0" y="462686"/>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utcome (not yet) · kiri"/>
            <p:cNvSpPr/>
            <p:nvPr/>
          </p:nvSpPr>
          <p:spPr>
            <a:xfrm>
              <a:off x="10052085" y="2206447"/>
              <a:ext cx="692115" cy="1198779"/>
            </a:xfrm>
            <a:custGeom>
              <a:avLst/>
              <a:gdLst/>
              <a:ahLst/>
              <a:cxnLst/>
              <a:rect l="l" t="t" r="r" b="b"/>
              <a:pathLst>
                <a:path w="692115" h="1198779">
                  <a:moveTo>
                    <a:pt x="0" y="799186"/>
                  </a:moveTo>
                  <a:lnTo>
                    <a:pt x="692115" y="1198779"/>
                  </a:lnTo>
                  <a:lnTo>
                    <a:pt x="692115" y="399593"/>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utcome (not yet) · kanan"/>
            <p:cNvSpPr/>
            <p:nvPr/>
          </p:nvSpPr>
          <p:spPr>
            <a:xfrm>
              <a:off x="10744200" y="2206447"/>
              <a:ext cx="692115" cy="1198779"/>
            </a:xfrm>
            <a:custGeom>
              <a:avLst/>
              <a:gdLst/>
              <a:ahLst/>
              <a:cxnLst/>
              <a:rect l="l" t="t" r="r" b="b"/>
              <a:pathLst>
                <a:path w="692115" h="1198779">
                  <a:moveTo>
                    <a:pt x="692115" y="799186"/>
                  </a:moveTo>
                  <a:lnTo>
                    <a:pt x="0" y="1198779"/>
                  </a:lnTo>
                  <a:lnTo>
                    <a:pt x="0" y="399593"/>
                  </a:lnTo>
                  <a:lnTo>
                    <a:pt x="692115"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utcome (not yet) · atas"/>
            <p:cNvSpPr/>
            <p:nvPr/>
          </p:nvSpPr>
          <p:spPr>
            <a:xfrm>
              <a:off x="10052085" y="1806854"/>
              <a:ext cx="1384230" cy="799186"/>
            </a:xfrm>
            <a:custGeom>
              <a:avLst/>
              <a:gdLst/>
              <a:ahLst/>
              <a:cxnLst/>
              <a:rect l="l" t="t" r="r" b="b"/>
              <a:pathLst>
                <a:path w="1384230" h="799186">
                  <a:moveTo>
                    <a:pt x="692115" y="0"/>
                  </a:moveTo>
                  <a:lnTo>
                    <a:pt x="1384230" y="399593"/>
                  </a:lnTo>
                  <a:lnTo>
                    <a:pt x="692115" y="799186"/>
                  </a:lnTo>
                  <a:lnTo>
                    <a:pt x="0" y="399593"/>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8" name="Time axis"/>
          <p:cNvSpPr/>
          <p:nvPr/>
        </p:nvSpPr>
        <p:spPr>
          <a:xfrm>
            <a:off x="6172200" y="3913632"/>
            <a:ext cx="5303520" cy="0"/>
          </a:xfrm>
          <a:custGeom>
            <a:avLst/>
            <a:gdLst/>
            <a:ahLst/>
            <a:cxnLst/>
            <a:rect l="l" t="t" r="r" b="b"/>
            <a:pathLst>
              <a:path w="5303520" h="0">
                <a:moveTo>
                  <a:pt x="0" y="0"/>
                </a:moveTo>
                <a:lnTo>
                  <a:pt x="5303520" y="0"/>
                </a:lnTo>
              </a:path>
            </a:pathLst>
          </a:custGeom>
          <a:noFill/>
          <a:ln w="17780" cap="rnd">
            <a:solidFill>
              <a:srgbClr val="C9BDF2">
                <a:alpha val="55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xis node"/>
          <p:cNvSpPr/>
          <p:nvPr/>
        </p:nvSpPr>
        <p:spPr>
          <a:xfrm>
            <a:off x="6848856" y="3858768"/>
            <a:ext cx="109728" cy="109728"/>
          </a:xfrm>
          <a:prstGeom prst="ellipse">
            <a:avLst/>
          </a:prstGeom>
          <a:solidFill>
            <a:srgbClr val="9D86FF"/>
          </a:solidFill>
          <a:ln w="9525" cap="rnd">
            <a:noFill/>
          </a:ln>
          <a:effectLst>
            <a:glow rad="63500">
              <a:srgbClr val="9D86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xis node"/>
          <p:cNvSpPr/>
          <p:nvPr/>
        </p:nvSpPr>
        <p:spPr>
          <a:xfrm>
            <a:off x="8769096" y="3858768"/>
            <a:ext cx="109728" cy="109728"/>
          </a:xfrm>
          <a:prstGeom prst="ellipse">
            <a:avLst/>
          </a:prstGeom>
          <a:solidFill>
            <a:srgbClr val="9D86FF"/>
          </a:solidFill>
          <a:ln w="9525" cap="rnd">
            <a:noFill/>
          </a:ln>
          <a:effectLst>
            <a:glow rad="63500">
              <a:srgbClr val="9D86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xis node"/>
          <p:cNvSpPr/>
          <p:nvPr/>
        </p:nvSpPr>
        <p:spPr>
          <a:xfrm>
            <a:off x="10689336" y="3858768"/>
            <a:ext cx="109728" cy="109728"/>
          </a:xfrm>
          <a:prstGeom prst="ellipse">
            <a:avLst/>
          </a:prstGeom>
          <a:solidFill>
            <a:srgbClr val="9D86FF"/>
          </a:solidFill>
          <a:ln w="9525" cap="rnd">
            <a:noFill/>
          </a:ln>
          <a:effectLst>
            <a:glow rad="63500">
              <a:srgbClr val="9D86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ation 1"/>
          <p:cNvSpPr txBox="1"/>
          <p:nvPr/>
        </p:nvSpPr>
        <p:spPr>
          <a:xfrm>
            <a:off x="5989320" y="4096512"/>
            <a:ext cx="1828800" cy="237744"/>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DECISION</a:t>
            </a:r>
          </a:p>
        </p:txBody>
      </p:sp>
      <p:sp>
        <p:nvSpPr>
          <p:cNvPr id="55" name="Station 1 sub"/>
          <p:cNvSpPr txBox="1"/>
          <p:nvPr/>
        </p:nvSpPr>
        <p:spPr>
          <a:xfrm>
            <a:off x="5989320" y="4352544"/>
            <a:ext cx="1828800" cy="219456"/>
          </a:xfrm>
          <a:prstGeom prst="rect">
            <a:avLst/>
          </a:prstGeom>
          <a:noFill/>
        </p:spPr>
        <p:txBody>
          <a:bodyPr wrap="square" lIns="0" rIns="0" tIns="0" bIns="0" anchor="t">
            <a:noAutofit/>
          </a:bodyPr>
          <a:lstStyle/>
          <a:p>
            <a:pPr algn="ctr">
              <a:lnSpc>
                <a:spcPct val="125000"/>
              </a:lnSpc>
              <a:spcBef>
                <a:spcPts val="0"/>
              </a:spcBef>
              <a:spcAft>
                <a:spcPts val="0"/>
              </a:spcAft>
            </a:pPr>
            <a:r>
              <a:rPr sz="1100" b="0" i="0" lang="en-US">
                <a:solidFill>
                  <a:srgbClr val="8B86A6"/>
                </a:solidFill>
                <a:latin typeface="JetBrains Mono" pitchFamily="49" charset="0"/>
              </a:rPr>
              <a:t>sealed on-chain</a:t>
            </a:r>
          </a:p>
        </p:txBody>
      </p:sp>
      <p:sp>
        <p:nvSpPr>
          <p:cNvPr id="56" name="Station 2"/>
          <p:cNvSpPr txBox="1"/>
          <p:nvPr/>
        </p:nvSpPr>
        <p:spPr>
          <a:xfrm>
            <a:off x="7909560" y="4096512"/>
            <a:ext cx="1828800" cy="237744"/>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FFFFFF"/>
                </a:solidFill>
                <a:latin typeface="JetBrains Mono" pitchFamily="49" charset="0"/>
              </a:rPr>
              <a:t>BAR CLOSES</a:t>
            </a:r>
          </a:p>
        </p:txBody>
      </p:sp>
      <p:sp>
        <p:nvSpPr>
          <p:cNvPr id="57" name="Station 2 sub"/>
          <p:cNvSpPr txBox="1"/>
          <p:nvPr/>
        </p:nvSpPr>
        <p:spPr>
          <a:xfrm>
            <a:off x="7909560" y="4352544"/>
            <a:ext cx="1828800" cy="219456"/>
          </a:xfrm>
          <a:prstGeom prst="rect">
            <a:avLst/>
          </a:prstGeom>
          <a:noFill/>
        </p:spPr>
        <p:txBody>
          <a:bodyPr wrap="square" lIns="0" rIns="0" tIns="0" bIns="0" anchor="t">
            <a:noAutofit/>
          </a:bodyPr>
          <a:lstStyle/>
          <a:p>
            <a:pPr algn="ctr">
              <a:lnSpc>
                <a:spcPct val="125000"/>
              </a:lnSpc>
              <a:spcBef>
                <a:spcPts val="0"/>
              </a:spcBef>
              <a:spcAft>
                <a:spcPts val="0"/>
              </a:spcAft>
            </a:pPr>
            <a:r>
              <a:rPr sz="1100" b="0" i="0" lang="en-US">
                <a:solidFill>
                  <a:srgbClr val="8B86A6"/>
                </a:solidFill>
                <a:latin typeface="JetBrains Mono" pitchFamily="49" charset="0"/>
              </a:rPr>
              <a:t>00:00 UTC</a:t>
            </a:r>
          </a:p>
        </p:txBody>
      </p:sp>
      <p:sp>
        <p:nvSpPr>
          <p:cNvPr id="58" name="Station 3"/>
          <p:cNvSpPr txBox="1"/>
          <p:nvPr/>
        </p:nvSpPr>
        <p:spPr>
          <a:xfrm>
            <a:off x="9829800" y="4096512"/>
            <a:ext cx="1828800" cy="237744"/>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OUTCOME</a:t>
            </a:r>
          </a:p>
        </p:txBody>
      </p:sp>
      <p:sp>
        <p:nvSpPr>
          <p:cNvPr id="59" name="Station 3 sub"/>
          <p:cNvSpPr txBox="1"/>
          <p:nvPr/>
        </p:nvSpPr>
        <p:spPr>
          <a:xfrm>
            <a:off x="9829800" y="4352544"/>
            <a:ext cx="1828800" cy="219456"/>
          </a:xfrm>
          <a:prstGeom prst="rect">
            <a:avLst/>
          </a:prstGeom>
          <a:noFill/>
        </p:spPr>
        <p:txBody>
          <a:bodyPr wrap="square" lIns="0" rIns="0" tIns="0" bIns="0" anchor="t">
            <a:noAutofit/>
          </a:bodyPr>
          <a:lstStyle/>
          <a:p>
            <a:pPr algn="ctr">
              <a:lnSpc>
                <a:spcPct val="125000"/>
              </a:lnSpc>
              <a:spcBef>
                <a:spcPts val="0"/>
              </a:spcBef>
              <a:spcAft>
                <a:spcPts val="0"/>
              </a:spcAft>
            </a:pPr>
            <a:r>
              <a:rPr sz="1100" b="0" i="0" lang="en-US">
                <a:solidFill>
                  <a:srgbClr val="8B86A6"/>
                </a:solidFill>
                <a:latin typeface="JetBrains Mono" pitchFamily="49" charset="0"/>
              </a:rPr>
              <a:t>not known yet</a:t>
            </a:r>
          </a:p>
        </p:txBody>
      </p:sp>
      <p:sp>
        <p:nvSpPr>
          <p:cNvPr id="60" name="Principle 1"/>
          <p:cNvSpPr/>
          <p:nvPr/>
        </p:nvSpPr>
        <p:spPr>
          <a:xfrm>
            <a:off x="594360" y="4681728"/>
            <a:ext cx="3515258" cy="1207008"/>
          </a:xfrm>
          <a:prstGeom prst="roundRect">
            <a:avLst>
              <a:gd name="adj" fmla="val 1515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rinciple 1 title"/>
          <p:cNvSpPr txBox="1"/>
          <p:nvPr/>
        </p:nvSpPr>
        <p:spPr>
          <a:xfrm>
            <a:off x="795528" y="4882896"/>
            <a:ext cx="3112922" cy="255651"/>
          </a:xfrm>
          <a:prstGeom prst="rect">
            <a:avLst/>
          </a:prstGeom>
          <a:noFill/>
        </p:spPr>
        <p:txBody>
          <a:bodyPr wrap="square" lIns="0" rIns="0" tIns="0" bIns="0" anchor="t">
            <a:noAutofit/>
          </a:bodyPr>
          <a:lstStyle/>
          <a:p>
            <a:pPr algn="l">
              <a:lnSpc>
                <a:spcPct val="110000"/>
              </a:lnSpc>
              <a:spcBef>
                <a:spcPts val="0"/>
              </a:spcBef>
              <a:spcAft>
                <a:spcPts val="0"/>
              </a:spcAft>
            </a:pPr>
            <a:r>
              <a:rPr sz="1500" b="1" i="0" lang="en-US">
                <a:solidFill>
                  <a:srgbClr val="FFFFFF"/>
                </a:solidFill>
                <a:latin typeface="Archivo" pitchFamily="34" charset="0"/>
              </a:rPr>
              <a:t>Rules locked first</a:t>
            </a:r>
          </a:p>
        </p:txBody>
      </p:sp>
      <p:sp>
        <p:nvSpPr>
          <p:cNvPr id="62" name="Principle 1 text"/>
          <p:cNvSpPr txBox="1"/>
          <p:nvPr/>
        </p:nvSpPr>
        <p:spPr>
          <a:xfrm>
            <a:off x="795528" y="5193411"/>
            <a:ext cx="3112922" cy="604799"/>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A bot's rule is locked on-chain before it may commit a signal.</a:t>
            </a:r>
          </a:p>
        </p:txBody>
      </p:sp>
      <p:sp>
        <p:nvSpPr>
          <p:cNvPr id="63" name="Principle 2"/>
          <p:cNvSpPr/>
          <p:nvPr/>
        </p:nvSpPr>
        <p:spPr>
          <a:xfrm>
            <a:off x="4338218" y="4681728"/>
            <a:ext cx="3515258" cy="1207008"/>
          </a:xfrm>
          <a:prstGeom prst="roundRect">
            <a:avLst>
              <a:gd name="adj" fmla="val 1515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rinciple 2 title"/>
          <p:cNvSpPr txBox="1"/>
          <p:nvPr/>
        </p:nvSpPr>
        <p:spPr>
          <a:xfrm>
            <a:off x="4539386" y="4882896"/>
            <a:ext cx="3112922" cy="255651"/>
          </a:xfrm>
          <a:prstGeom prst="rect">
            <a:avLst/>
          </a:prstGeom>
          <a:noFill/>
        </p:spPr>
        <p:txBody>
          <a:bodyPr wrap="square" lIns="0" rIns="0" tIns="0" bIns="0" anchor="t">
            <a:noAutofit/>
          </a:bodyPr>
          <a:lstStyle/>
          <a:p>
            <a:pPr algn="l">
              <a:lnSpc>
                <a:spcPct val="110000"/>
              </a:lnSpc>
              <a:spcBef>
                <a:spcPts val="0"/>
              </a:spcBef>
              <a:spcAft>
                <a:spcPts val="0"/>
              </a:spcAft>
            </a:pPr>
            <a:r>
              <a:rPr sz="1500" b="1" i="0" lang="en-US">
                <a:solidFill>
                  <a:srgbClr val="FFFFFF"/>
                </a:solidFill>
                <a:latin typeface="Archivo" pitchFamily="34" charset="0"/>
              </a:rPr>
              <a:t>Signals sealed</a:t>
            </a:r>
          </a:p>
        </p:txBody>
      </p:sp>
      <p:sp>
        <p:nvSpPr>
          <p:cNvPr id="65" name="Principle 2 text"/>
          <p:cNvSpPr txBox="1"/>
          <p:nvPr/>
        </p:nvSpPr>
        <p:spPr>
          <a:xfrm>
            <a:off x="4539386" y="5193411"/>
            <a:ext cx="3112922" cy="604799"/>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One Merkle root per bar. A signal cannot be swapped afterwards.</a:t>
            </a:r>
          </a:p>
        </p:txBody>
      </p:sp>
      <p:sp>
        <p:nvSpPr>
          <p:cNvPr id="66" name="Principle 3"/>
          <p:cNvSpPr/>
          <p:nvPr/>
        </p:nvSpPr>
        <p:spPr>
          <a:xfrm>
            <a:off x="8082077" y="4681728"/>
            <a:ext cx="3515258" cy="1207008"/>
          </a:xfrm>
          <a:prstGeom prst="roundRect">
            <a:avLst>
              <a:gd name="adj" fmla="val 1515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rinciple 3 title"/>
          <p:cNvSpPr txBox="1"/>
          <p:nvPr/>
        </p:nvSpPr>
        <p:spPr>
          <a:xfrm>
            <a:off x="8283245" y="4882896"/>
            <a:ext cx="3112922" cy="255651"/>
          </a:xfrm>
          <a:prstGeom prst="rect">
            <a:avLst/>
          </a:prstGeom>
          <a:noFill/>
        </p:spPr>
        <p:txBody>
          <a:bodyPr wrap="square" lIns="0" rIns="0" tIns="0" bIns="0" anchor="t">
            <a:noAutofit/>
          </a:bodyPr>
          <a:lstStyle/>
          <a:p>
            <a:pPr algn="l">
              <a:lnSpc>
                <a:spcPct val="110000"/>
              </a:lnSpc>
              <a:spcBef>
                <a:spcPts val="0"/>
              </a:spcBef>
              <a:spcAft>
                <a:spcPts val="0"/>
              </a:spcAft>
            </a:pPr>
            <a:r>
              <a:rPr sz="1500" b="1" i="0" lang="en-US">
                <a:solidFill>
                  <a:srgbClr val="FFFFFF"/>
                </a:solidFill>
                <a:latin typeface="Archivo" pitchFamily="34" charset="0"/>
              </a:rPr>
              <a:t>Block time is the alibi</a:t>
            </a:r>
          </a:p>
        </p:txBody>
      </p:sp>
      <p:sp>
        <p:nvSpPr>
          <p:cNvPr id="68" name="Principle 3 text"/>
          <p:cNvSpPr txBox="1"/>
          <p:nvPr/>
        </p:nvSpPr>
        <p:spPr>
          <a:xfrm>
            <a:off x="8283245" y="5193411"/>
            <a:ext cx="3112922" cy="604799"/>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The chain proves when. Anyone can recompute what.</a:t>
            </a:r>
          </a:p>
        </p:txBody>
      </p:sp>
      <p:sp>
        <p:nvSpPr>
          <p:cNvPr id="69" name="Closing"/>
          <p:cNvSpPr txBox="1"/>
          <p:nvPr/>
        </p:nvSpPr>
        <p:spPr>
          <a:xfrm>
            <a:off x="594360" y="5998464"/>
            <a:ext cx="11002975" cy="384048"/>
          </a:xfrm>
          <a:prstGeom prst="rect">
            <a:avLst/>
          </a:prstGeom>
          <a:noFill/>
        </p:spPr>
        <p:txBody>
          <a:bodyPr wrap="square" lIns="0" rIns="0" tIns="0" bIns="0" anchor="t">
            <a:noAutofit/>
          </a:bodyPr>
          <a:lstStyle/>
          <a:p>
            <a:pPr algn="l">
              <a:lnSpc>
                <a:spcPct val="130000"/>
              </a:lnSpc>
              <a:spcBef>
                <a:spcPts val="0"/>
              </a:spcBef>
              <a:spcAft>
                <a:spcPts val="0"/>
              </a:spcAft>
            </a:pPr>
            <a:r>
              <a:rPr sz="1900" b="0" i="0" lang="en-US">
                <a:solidFill>
                  <a:srgbClr val="ECE8FA"/>
                </a:solidFill>
                <a:latin typeface="Inter" pitchFamily="34" charset="0"/>
              </a:rPr>
              <a:t>The order is the product. </a:t>
            </a:r>
            <a:r>
              <a:rPr sz="1900" b="1" i="1" lang="en-US">
                <a:solidFill>
                  <a:srgbClr val="9D86FF"/>
                </a:solidFill>
                <a:latin typeface="Inter" pitchFamily="34" charset="0"/>
              </a:rPr>
              <a:t>Proof of timing, not of profit.</a:t>
            </a:r>
          </a:p>
        </p:txBody>
      </p:sp>
      <p:sp>
        <p:nvSpPr>
          <p:cNvPr id="70"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71"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68680"/>
            <a:ext cx="8229600" cy="731520"/>
          </a:xfrm>
        </p:spPr>
        <p:txBody>
          <a:bodyPr wrap="square" lIns="0" rIns="0" tIns="0" bIns="0" anchor="t">
            <a:noAutofit/>
          </a:bodyPr>
          <a:lstStyle/>
          <a:p>
            <a:pPr algn="l">
              <a:lnSpc>
                <a:spcPct val="100000"/>
              </a:lnSpc>
              <a:spcBef>
                <a:spcPts val="0"/>
              </a:spcBef>
              <a:spcAft>
                <a:spcPts val="0"/>
              </a:spcAft>
            </a:pPr>
            <a:r>
              <a:rPr sz="4000" b="0" i="0" lang="en-US">
                <a:solidFill>
                  <a:srgbClr val="ECE8FA"/>
                </a:solidFill>
                <a:latin typeface="Archivo" pitchFamily="34" charset="0"/>
              </a:rPr>
              <a:t>From candle close to proof</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04 — HOW IT WORKS</a:t>
            </a:r>
          </a:p>
        </p:txBody>
      </p:sp>
      <p:sp>
        <p:nvSpPr>
          <p:cNvPr id="7" name="Sub"/>
          <p:cNvSpPr txBox="1"/>
          <p:nvPr/>
        </p:nvSpPr>
        <p:spPr>
          <a:xfrm>
            <a:off x="594360" y="1536192"/>
            <a:ext cx="11002975" cy="365760"/>
          </a:xfrm>
          <a:prstGeom prst="rect">
            <a:avLst/>
          </a:prstGeom>
          <a:noFill/>
        </p:spPr>
        <p:txBody>
          <a:bodyPr wrap="square" lIns="0" rIns="0" tIns="0" bIns="0" anchor="t">
            <a:noAutofit/>
          </a:bodyPr>
          <a:lstStyle/>
          <a:p>
            <a:pPr algn="l">
              <a:lnSpc>
                <a:spcPct val="130000"/>
              </a:lnSpc>
              <a:spcBef>
                <a:spcPts val="0"/>
              </a:spcBef>
              <a:spcAft>
                <a:spcPts val="0"/>
              </a:spcAft>
            </a:pPr>
            <a:r>
              <a:rPr sz="1700" b="0" i="0" lang="en-US">
                <a:solidFill>
                  <a:srgbClr val="C9BDF2"/>
                </a:solidFill>
                <a:latin typeface="Inter" pitchFamily="34" charset="0"/>
              </a:rPr>
              <a:t>One signal, five stations. Every station is public and can be checked without us.</a:t>
            </a:r>
          </a:p>
        </p:txBody>
      </p:sp>
      <p:sp>
        <p:nvSpPr>
          <p:cNvPr id="8" name="Chip · Step 0 · rules locked on-chain first"/>
          <p:cNvSpPr/>
          <p:nvPr/>
        </p:nvSpPr>
        <p:spPr>
          <a:xfrm>
            <a:off x="594360" y="1938528"/>
            <a:ext cx="4032504" cy="310896"/>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ip dot"/>
          <p:cNvSpPr/>
          <p:nvPr/>
        </p:nvSpPr>
        <p:spPr>
          <a:xfrm>
            <a:off x="731520" y="2050542"/>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ip text"/>
          <p:cNvSpPr txBox="1"/>
          <p:nvPr/>
        </p:nvSpPr>
        <p:spPr>
          <a:xfrm>
            <a:off x="914400" y="1938528"/>
            <a:ext cx="3575304" cy="310896"/>
          </a:xfrm>
          <a:prstGeom prst="rect">
            <a:avLst/>
          </a:prstGeom>
          <a:noFill/>
        </p:spPr>
        <p:txBody>
          <a:bodyPr wrap="square" lIns="0" rIns="0" tIns="0" bIns="0" anchor="ctr">
            <a:noAutofit/>
          </a:bodyPr>
          <a:lstStyle/>
          <a:p>
            <a:pPr algn="l">
              <a:lnSpc>
                <a:spcPct val="100000"/>
              </a:lnSpc>
              <a:spcBef>
                <a:spcPts val="0"/>
              </a:spcBef>
              <a:spcAft>
                <a:spcPts val="0"/>
              </a:spcAft>
            </a:pPr>
            <a:r>
              <a:rPr sz="1100" b="0" i="0" lang="en-US" spc="100">
                <a:solidFill>
                  <a:srgbClr val="FFFFFF"/>
                </a:solidFill>
                <a:latin typeface="JetBrains Mono" pitchFamily="49" charset="0"/>
              </a:rPr>
              <a:t>STEP 0 · RULES LOCKED ON-CHAIN FIRST</a:t>
            </a:r>
          </a:p>
        </p:txBody>
      </p:sp>
      <p:grpSp>
        <p:nvGrpSpPr>
          <p:cNvPr id="11" name="Halo"/>
          <p:cNvGrpSpPr/>
          <p:nvPr/>
        </p:nvGrpSpPr>
        <p:grpSpPr>
          <a:xfrm>
            <a:off x="1158088" y="1691640"/>
            <a:ext cx="9875520" cy="2926080"/>
            <a:chOff x="1158088" y="1691640"/>
            <a:chExt cx="9875520" cy="2926080"/>
          </a:xfrm>
        </p:grpSpPr>
        <p:sp>
          <p:nvSpPr>
            <p:cNvPr id="12" name="Halo 1"/>
            <p:cNvSpPr/>
            <p:nvPr/>
          </p:nvSpPr>
          <p:spPr>
            <a:xfrm>
              <a:off x="1158088" y="1691640"/>
              <a:ext cx="9875520" cy="2926080"/>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alo 2"/>
            <p:cNvSpPr/>
            <p:nvPr/>
          </p:nvSpPr>
          <p:spPr>
            <a:xfrm>
              <a:off x="1374409" y="1755735"/>
              <a:ext cx="9442878" cy="2797890"/>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lo 3"/>
            <p:cNvSpPr/>
            <p:nvPr/>
          </p:nvSpPr>
          <p:spPr>
            <a:xfrm>
              <a:off x="1590729" y="1819830"/>
              <a:ext cx="9010236" cy="2669700"/>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alo 4"/>
            <p:cNvSpPr/>
            <p:nvPr/>
          </p:nvSpPr>
          <p:spPr>
            <a:xfrm>
              <a:off x="1807050" y="1883925"/>
              <a:ext cx="8577595" cy="2541509"/>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alo 5"/>
            <p:cNvSpPr/>
            <p:nvPr/>
          </p:nvSpPr>
          <p:spPr>
            <a:xfrm>
              <a:off x="2023371" y="1948020"/>
              <a:ext cx="8144953" cy="2413319"/>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alo 6"/>
            <p:cNvSpPr/>
            <p:nvPr/>
          </p:nvSpPr>
          <p:spPr>
            <a:xfrm>
              <a:off x="2239692" y="2012115"/>
              <a:ext cx="7712311" cy="2285129"/>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lo 7"/>
            <p:cNvSpPr/>
            <p:nvPr/>
          </p:nvSpPr>
          <p:spPr>
            <a:xfrm>
              <a:off x="2456013" y="2076211"/>
              <a:ext cx="7279669" cy="2156939"/>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alo 8"/>
            <p:cNvSpPr/>
            <p:nvPr/>
          </p:nvSpPr>
          <p:spPr>
            <a:xfrm>
              <a:off x="2672334" y="2140306"/>
              <a:ext cx="6847027" cy="2028749"/>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alo 9"/>
            <p:cNvSpPr/>
            <p:nvPr/>
          </p:nvSpPr>
          <p:spPr>
            <a:xfrm>
              <a:off x="2888655" y="2204401"/>
              <a:ext cx="6414385" cy="1900559"/>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alo 10"/>
            <p:cNvSpPr/>
            <p:nvPr/>
          </p:nvSpPr>
          <p:spPr>
            <a:xfrm>
              <a:off x="3104976" y="2268496"/>
              <a:ext cx="5981744" cy="1772368"/>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alo 11"/>
            <p:cNvSpPr/>
            <p:nvPr/>
          </p:nvSpPr>
          <p:spPr>
            <a:xfrm>
              <a:off x="3321297" y="2332591"/>
              <a:ext cx="5549102" cy="1644178"/>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alo 12"/>
            <p:cNvSpPr/>
            <p:nvPr/>
          </p:nvSpPr>
          <p:spPr>
            <a:xfrm>
              <a:off x="3537618" y="2396686"/>
              <a:ext cx="5116460" cy="1515988"/>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alo 13"/>
            <p:cNvSpPr/>
            <p:nvPr/>
          </p:nvSpPr>
          <p:spPr>
            <a:xfrm>
              <a:off x="3753939" y="2460781"/>
              <a:ext cx="4683818" cy="1387798"/>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alo 14"/>
            <p:cNvSpPr/>
            <p:nvPr/>
          </p:nvSpPr>
          <p:spPr>
            <a:xfrm>
              <a:off x="3970259" y="2524876"/>
              <a:ext cx="4251176" cy="1259608"/>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lo 15"/>
            <p:cNvSpPr/>
            <p:nvPr/>
          </p:nvSpPr>
          <p:spPr>
            <a:xfrm>
              <a:off x="4186580" y="2588971"/>
              <a:ext cx="3818534" cy="1131418"/>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lo 16"/>
            <p:cNvSpPr/>
            <p:nvPr/>
          </p:nvSpPr>
          <p:spPr>
            <a:xfrm>
              <a:off x="4402901" y="2653066"/>
              <a:ext cx="3385893" cy="1003227"/>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lo 17"/>
            <p:cNvSpPr/>
            <p:nvPr/>
          </p:nvSpPr>
          <p:spPr>
            <a:xfrm>
              <a:off x="4619222" y="2717161"/>
              <a:ext cx="2953251" cy="875037"/>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lo 18"/>
            <p:cNvSpPr/>
            <p:nvPr/>
          </p:nvSpPr>
          <p:spPr>
            <a:xfrm>
              <a:off x="4835543" y="2781256"/>
              <a:ext cx="2520609" cy="746847"/>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alo 19"/>
            <p:cNvSpPr/>
            <p:nvPr/>
          </p:nvSpPr>
          <p:spPr>
            <a:xfrm>
              <a:off x="5051864" y="2845352"/>
              <a:ext cx="2087967" cy="618657"/>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Halo 20"/>
            <p:cNvSpPr/>
            <p:nvPr/>
          </p:nvSpPr>
          <p:spPr>
            <a:xfrm>
              <a:off x="5268185" y="2909447"/>
              <a:ext cx="1655325" cy="490467"/>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Halo 21"/>
            <p:cNvSpPr/>
            <p:nvPr/>
          </p:nvSpPr>
          <p:spPr>
            <a:xfrm>
              <a:off x="5484506" y="2973542"/>
              <a:ext cx="1222683" cy="362277"/>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alo 22"/>
            <p:cNvSpPr/>
            <p:nvPr/>
          </p:nvSpPr>
          <p:spPr>
            <a:xfrm>
              <a:off x="5700827" y="3037637"/>
              <a:ext cx="790042" cy="234086"/>
            </a:xfrm>
            <a:prstGeom prst="ellipse">
              <a:avLst/>
            </a:prstGeom>
            <a:solidFill>
              <a:srgbClr val="6E4BFF">
                <a:alpha val="683"/>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4" name="Rail"/>
          <p:cNvSpPr/>
          <p:nvPr/>
        </p:nvSpPr>
        <p:spPr>
          <a:xfrm>
            <a:off x="1328898" y="3730752"/>
            <a:ext cx="9671060" cy="0"/>
          </a:xfrm>
          <a:custGeom>
            <a:avLst/>
            <a:gdLst/>
            <a:ahLst/>
            <a:cxnLst/>
            <a:rect l="l" t="t" r="r" b="b"/>
            <a:pathLst>
              <a:path w="9671060" h="0">
                <a:moveTo>
                  <a:pt x="0" y="0"/>
                </a:moveTo>
                <a:lnTo>
                  <a:pt x="9671060" y="0"/>
                </a:lnTo>
              </a:path>
            </a:pathLst>
          </a:custGeom>
          <a:noFill/>
          <a:ln w="27940" cap="rnd">
            <a:solidFill>
              <a:srgbClr val="C9BDF2">
                <a:alpha val="5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5" name="Scene · rail of blocks"/>
          <p:cNvGrpSpPr/>
          <p:nvPr/>
        </p:nvGrpSpPr>
        <p:grpSpPr>
          <a:xfrm>
            <a:off x="0" y="0"/>
            <a:ext cx="0" cy="0"/>
            <a:chOff x="0" y="0"/>
            <a:chExt cx="0" cy="0"/>
          </a:xfrm>
        </p:grpSpPr>
        <p:sp>
          <p:nvSpPr>
            <p:cNvPr id="36" name="Station 1 · empty bar · kiri"/>
            <p:cNvSpPr/>
            <p:nvPr/>
          </p:nvSpPr>
          <p:spPr>
            <a:xfrm>
              <a:off x="1196976" y="2691536"/>
              <a:ext cx="406242" cy="703631"/>
            </a:xfrm>
            <a:custGeom>
              <a:avLst/>
              <a:gdLst/>
              <a:ahLst/>
              <a:cxnLst/>
              <a:rect l="l" t="t" r="r" b="b"/>
              <a:pathLst>
                <a:path w="406242" h="703631">
                  <a:moveTo>
                    <a:pt x="0" y="469088"/>
                  </a:moveTo>
                  <a:lnTo>
                    <a:pt x="406242" y="703631"/>
                  </a:lnTo>
                  <a:lnTo>
                    <a:pt x="406242" y="234544"/>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ation 1 · empty bar · kanan"/>
            <p:cNvSpPr/>
            <p:nvPr/>
          </p:nvSpPr>
          <p:spPr>
            <a:xfrm>
              <a:off x="1603218" y="2691536"/>
              <a:ext cx="406241" cy="703631"/>
            </a:xfrm>
            <a:custGeom>
              <a:avLst/>
              <a:gdLst/>
              <a:ahLst/>
              <a:cxnLst/>
              <a:rect l="l" t="t" r="r" b="b"/>
              <a:pathLst>
                <a:path w="406241" h="703631">
                  <a:moveTo>
                    <a:pt x="406241" y="469088"/>
                  </a:moveTo>
                  <a:lnTo>
                    <a:pt x="0" y="703631"/>
                  </a:lnTo>
                  <a:lnTo>
                    <a:pt x="0" y="234544"/>
                  </a:lnTo>
                  <a:lnTo>
                    <a:pt x="406241"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tion 1 · empty bar · atas"/>
            <p:cNvSpPr/>
            <p:nvPr/>
          </p:nvSpPr>
          <p:spPr>
            <a:xfrm>
              <a:off x="1196976" y="2456993"/>
              <a:ext cx="812483" cy="469087"/>
            </a:xfrm>
            <a:custGeom>
              <a:avLst/>
              <a:gdLst/>
              <a:ahLst/>
              <a:cxnLst/>
              <a:rect l="l" t="t" r="r" b="b"/>
              <a:pathLst>
                <a:path w="812483" h="469087">
                  <a:moveTo>
                    <a:pt x="406242" y="0"/>
                  </a:moveTo>
                  <a:lnTo>
                    <a:pt x="812483" y="234543"/>
                  </a:lnTo>
                  <a:lnTo>
                    <a:pt x="406242" y="469087"/>
                  </a:lnTo>
                  <a:lnTo>
                    <a:pt x="0" y="234543"/>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tation 2 · sealed · kiri"/>
            <p:cNvSpPr/>
            <p:nvPr/>
          </p:nvSpPr>
          <p:spPr>
            <a:xfrm>
              <a:off x="3443291" y="2691536"/>
              <a:ext cx="406242" cy="703631"/>
            </a:xfrm>
            <a:custGeom>
              <a:avLst/>
              <a:gdLst/>
              <a:ahLst/>
              <a:cxnLst/>
              <a:rect l="l" t="t" r="r" b="b"/>
              <a:pathLst>
                <a:path w="406242" h="703631">
                  <a:moveTo>
                    <a:pt x="0" y="469088"/>
                  </a:moveTo>
                  <a:lnTo>
                    <a:pt x="406242" y="703631"/>
                  </a:lnTo>
                  <a:lnTo>
                    <a:pt x="406242" y="234544"/>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tion 2 · sealed · kanan"/>
            <p:cNvSpPr/>
            <p:nvPr/>
          </p:nvSpPr>
          <p:spPr>
            <a:xfrm>
              <a:off x="3849533" y="2691536"/>
              <a:ext cx="406241" cy="703631"/>
            </a:xfrm>
            <a:custGeom>
              <a:avLst/>
              <a:gdLst/>
              <a:ahLst/>
              <a:cxnLst/>
              <a:rect l="l" t="t" r="r" b="b"/>
              <a:pathLst>
                <a:path w="406241" h="703631">
                  <a:moveTo>
                    <a:pt x="406241" y="469088"/>
                  </a:moveTo>
                  <a:lnTo>
                    <a:pt x="0" y="703631"/>
                  </a:lnTo>
                  <a:lnTo>
                    <a:pt x="0" y="234544"/>
                  </a:lnTo>
                  <a:lnTo>
                    <a:pt x="406241"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tation 2 · sealed · atas"/>
            <p:cNvSpPr/>
            <p:nvPr/>
          </p:nvSpPr>
          <p:spPr>
            <a:xfrm>
              <a:off x="3443291" y="2456993"/>
              <a:ext cx="812483" cy="469087"/>
            </a:xfrm>
            <a:custGeom>
              <a:avLst/>
              <a:gdLst/>
              <a:ahLst/>
              <a:cxnLst/>
              <a:rect l="l" t="t" r="r" b="b"/>
              <a:pathLst>
                <a:path w="812483" h="469087">
                  <a:moveTo>
                    <a:pt x="406242" y="0"/>
                  </a:moveTo>
                  <a:lnTo>
                    <a:pt x="812483" y="234543"/>
                  </a:lnTo>
                  <a:lnTo>
                    <a:pt x="406242" y="469087"/>
                  </a:lnTo>
                  <a:lnTo>
                    <a:pt x="0" y="234543"/>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tation 3 · sealed · kiri"/>
            <p:cNvSpPr/>
            <p:nvPr/>
          </p:nvSpPr>
          <p:spPr>
            <a:xfrm>
              <a:off x="5689606" y="2691536"/>
              <a:ext cx="406242" cy="703631"/>
            </a:xfrm>
            <a:custGeom>
              <a:avLst/>
              <a:gdLst/>
              <a:ahLst/>
              <a:cxnLst/>
              <a:rect l="l" t="t" r="r" b="b"/>
              <a:pathLst>
                <a:path w="406242" h="703631">
                  <a:moveTo>
                    <a:pt x="0" y="469088"/>
                  </a:moveTo>
                  <a:lnTo>
                    <a:pt x="406242" y="703631"/>
                  </a:lnTo>
                  <a:lnTo>
                    <a:pt x="406242" y="234544"/>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Station 3 · sealed · kanan"/>
            <p:cNvSpPr/>
            <p:nvPr/>
          </p:nvSpPr>
          <p:spPr>
            <a:xfrm>
              <a:off x="6095848" y="2691536"/>
              <a:ext cx="406241" cy="703631"/>
            </a:xfrm>
            <a:custGeom>
              <a:avLst/>
              <a:gdLst/>
              <a:ahLst/>
              <a:cxnLst/>
              <a:rect l="l" t="t" r="r" b="b"/>
              <a:pathLst>
                <a:path w="406241" h="703631">
                  <a:moveTo>
                    <a:pt x="406241" y="469088"/>
                  </a:moveTo>
                  <a:lnTo>
                    <a:pt x="0" y="703631"/>
                  </a:lnTo>
                  <a:lnTo>
                    <a:pt x="0" y="234544"/>
                  </a:lnTo>
                  <a:lnTo>
                    <a:pt x="406241"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ation 3 · sealed · atas"/>
            <p:cNvSpPr/>
            <p:nvPr/>
          </p:nvSpPr>
          <p:spPr>
            <a:xfrm>
              <a:off x="5689606" y="2456993"/>
              <a:ext cx="812483" cy="469087"/>
            </a:xfrm>
            <a:custGeom>
              <a:avLst/>
              <a:gdLst/>
              <a:ahLst/>
              <a:cxnLst/>
              <a:rect l="l" t="t" r="r" b="b"/>
              <a:pathLst>
                <a:path w="812483" h="469087">
                  <a:moveTo>
                    <a:pt x="406242" y="0"/>
                  </a:moveTo>
                  <a:lnTo>
                    <a:pt x="812483" y="234543"/>
                  </a:lnTo>
                  <a:lnTo>
                    <a:pt x="406242" y="469087"/>
                  </a:lnTo>
                  <a:lnTo>
                    <a:pt x="0" y="234543"/>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Station 3 · seal · kiri"/>
            <p:cNvSpPr/>
            <p:nvPr/>
          </p:nvSpPr>
          <p:spPr>
            <a:xfrm>
              <a:off x="5825020" y="2334829"/>
              <a:ext cx="270828" cy="205008"/>
            </a:xfrm>
            <a:custGeom>
              <a:avLst/>
              <a:gdLst/>
              <a:ahLst/>
              <a:cxnLst/>
              <a:rect l="l" t="t" r="r" b="b"/>
              <a:pathLst>
                <a:path w="270828" h="205008">
                  <a:moveTo>
                    <a:pt x="0" y="48646"/>
                  </a:moveTo>
                  <a:lnTo>
                    <a:pt x="270828" y="205008"/>
                  </a:lnTo>
                  <a:lnTo>
                    <a:pt x="270828" y="156362"/>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tion 3 · seal · kanan"/>
            <p:cNvSpPr/>
            <p:nvPr/>
          </p:nvSpPr>
          <p:spPr>
            <a:xfrm>
              <a:off x="6095848" y="2334829"/>
              <a:ext cx="270827" cy="205008"/>
            </a:xfrm>
            <a:custGeom>
              <a:avLst/>
              <a:gdLst/>
              <a:ahLst/>
              <a:cxnLst/>
              <a:rect l="l" t="t" r="r" b="b"/>
              <a:pathLst>
                <a:path w="270827" h="205008">
                  <a:moveTo>
                    <a:pt x="270827" y="48646"/>
                  </a:moveTo>
                  <a:lnTo>
                    <a:pt x="0" y="205008"/>
                  </a:lnTo>
                  <a:lnTo>
                    <a:pt x="0" y="156362"/>
                  </a:lnTo>
                  <a:lnTo>
                    <a:pt x="270827"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ation 3 · seal · atas"/>
            <p:cNvSpPr/>
            <p:nvPr/>
          </p:nvSpPr>
          <p:spPr>
            <a:xfrm>
              <a:off x="5825020" y="2178467"/>
              <a:ext cx="541655" cy="312724"/>
            </a:xfrm>
            <a:custGeom>
              <a:avLst/>
              <a:gdLst/>
              <a:ahLst/>
              <a:cxnLst/>
              <a:rect l="l" t="t" r="r" b="b"/>
              <a:pathLst>
                <a:path w="541655" h="312724">
                  <a:moveTo>
                    <a:pt x="270828" y="0"/>
                  </a:moveTo>
                  <a:lnTo>
                    <a:pt x="541655" y="156362"/>
                  </a:lnTo>
                  <a:lnTo>
                    <a:pt x="270828" y="312724"/>
                  </a:lnTo>
                  <a:lnTo>
                    <a:pt x="0" y="156362"/>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ation 4 · chain · kiri"/>
            <p:cNvSpPr/>
            <p:nvPr/>
          </p:nvSpPr>
          <p:spPr>
            <a:xfrm>
              <a:off x="7860691" y="3198754"/>
              <a:ext cx="481472" cy="354422"/>
            </a:xfrm>
            <a:custGeom>
              <a:avLst/>
              <a:gdLst/>
              <a:ahLst/>
              <a:cxnLst/>
              <a:rect l="l" t="t" r="r" b="b"/>
              <a:pathLst>
                <a:path w="481472" h="354422">
                  <a:moveTo>
                    <a:pt x="0" y="76444"/>
                  </a:moveTo>
                  <a:lnTo>
                    <a:pt x="481472" y="354422"/>
                  </a:lnTo>
                  <a:lnTo>
                    <a:pt x="481472" y="277978"/>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ation 4 · chain · kanan"/>
            <p:cNvSpPr/>
            <p:nvPr/>
          </p:nvSpPr>
          <p:spPr>
            <a:xfrm>
              <a:off x="8342163" y="3198754"/>
              <a:ext cx="481471" cy="354422"/>
            </a:xfrm>
            <a:custGeom>
              <a:avLst/>
              <a:gdLst/>
              <a:ahLst/>
              <a:cxnLst/>
              <a:rect l="l" t="t" r="r" b="b"/>
              <a:pathLst>
                <a:path w="481471" h="354422">
                  <a:moveTo>
                    <a:pt x="481471" y="76444"/>
                  </a:moveTo>
                  <a:lnTo>
                    <a:pt x="0" y="354422"/>
                  </a:lnTo>
                  <a:lnTo>
                    <a:pt x="0" y="277978"/>
                  </a:lnTo>
                  <a:lnTo>
                    <a:pt x="481471"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ation 4 · chain · atas"/>
            <p:cNvSpPr/>
            <p:nvPr/>
          </p:nvSpPr>
          <p:spPr>
            <a:xfrm>
              <a:off x="7860691" y="2920776"/>
              <a:ext cx="962943" cy="555956"/>
            </a:xfrm>
            <a:custGeom>
              <a:avLst/>
              <a:gdLst/>
              <a:ahLst/>
              <a:cxnLst/>
              <a:rect l="l" t="t" r="r" b="b"/>
              <a:pathLst>
                <a:path w="962943" h="555956">
                  <a:moveTo>
                    <a:pt x="481472" y="0"/>
                  </a:moveTo>
                  <a:lnTo>
                    <a:pt x="962943" y="277978"/>
                  </a:lnTo>
                  <a:lnTo>
                    <a:pt x="481472" y="555956"/>
                  </a:lnTo>
                  <a:lnTo>
                    <a:pt x="0" y="277978"/>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ation 4 · chain · kiri"/>
            <p:cNvSpPr/>
            <p:nvPr/>
          </p:nvSpPr>
          <p:spPr>
            <a:xfrm>
              <a:off x="7860691" y="3006730"/>
              <a:ext cx="481472" cy="354422"/>
            </a:xfrm>
            <a:custGeom>
              <a:avLst/>
              <a:gdLst/>
              <a:ahLst/>
              <a:cxnLst/>
              <a:rect l="l" t="t" r="r" b="b"/>
              <a:pathLst>
                <a:path w="481472" h="354422">
                  <a:moveTo>
                    <a:pt x="0" y="76444"/>
                  </a:moveTo>
                  <a:lnTo>
                    <a:pt x="481472" y="354422"/>
                  </a:lnTo>
                  <a:lnTo>
                    <a:pt x="481472" y="277978"/>
                  </a:lnTo>
                  <a:lnTo>
                    <a:pt x="0" y="0"/>
                  </a:lnTo>
                  <a:close/>
                </a:path>
              </a:pathLst>
            </a:custGeom>
            <a:solidFill>
              <a:srgbClr val="121022"/>
            </a:solidFill>
            <a:ln w="6350" cap="rnd">
              <a:solidFill>
                <a:srgbClr val="ECE8FA">
                  <a:alpha val="17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Station 4 · chain · kanan"/>
            <p:cNvSpPr/>
            <p:nvPr/>
          </p:nvSpPr>
          <p:spPr>
            <a:xfrm>
              <a:off x="8342163" y="3006730"/>
              <a:ext cx="481471" cy="354422"/>
            </a:xfrm>
            <a:custGeom>
              <a:avLst/>
              <a:gdLst/>
              <a:ahLst/>
              <a:cxnLst/>
              <a:rect l="l" t="t" r="r" b="b"/>
              <a:pathLst>
                <a:path w="481471" h="354422">
                  <a:moveTo>
                    <a:pt x="481471" y="76444"/>
                  </a:moveTo>
                  <a:lnTo>
                    <a:pt x="0" y="354422"/>
                  </a:lnTo>
                  <a:lnTo>
                    <a:pt x="0" y="277978"/>
                  </a:lnTo>
                  <a:lnTo>
                    <a:pt x="481471" y="0"/>
                  </a:lnTo>
                  <a:close/>
                </a:path>
              </a:pathLst>
            </a:custGeom>
            <a:solidFill>
              <a:srgbClr val="1B1830"/>
            </a:solidFill>
            <a:ln w="6350" cap="rnd">
              <a:solidFill>
                <a:srgbClr val="ECE8FA">
                  <a:alpha val="17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tation 4 · chain · atas"/>
            <p:cNvSpPr/>
            <p:nvPr/>
          </p:nvSpPr>
          <p:spPr>
            <a:xfrm>
              <a:off x="7860691" y="2728752"/>
              <a:ext cx="962943" cy="555956"/>
            </a:xfrm>
            <a:custGeom>
              <a:avLst/>
              <a:gdLst/>
              <a:ahLst/>
              <a:cxnLst/>
              <a:rect l="l" t="t" r="r" b="b"/>
              <a:pathLst>
                <a:path w="962943" h="555956">
                  <a:moveTo>
                    <a:pt x="481472" y="0"/>
                  </a:moveTo>
                  <a:lnTo>
                    <a:pt x="962943" y="277978"/>
                  </a:lnTo>
                  <a:lnTo>
                    <a:pt x="481472" y="555956"/>
                  </a:lnTo>
                  <a:lnTo>
                    <a:pt x="0" y="277978"/>
                  </a:lnTo>
                  <a:close/>
                </a:path>
              </a:pathLst>
            </a:custGeom>
            <a:solidFill>
              <a:srgbClr val="2E2A48"/>
            </a:solidFill>
            <a:ln w="6350" cap="rnd">
              <a:solidFill>
                <a:srgbClr val="ECE8FA">
                  <a:alpha val="17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Station 4 · committed · kiri"/>
            <p:cNvSpPr/>
            <p:nvPr/>
          </p:nvSpPr>
          <p:spPr>
            <a:xfrm>
              <a:off x="7935921" y="2362352"/>
              <a:ext cx="406242" cy="703631"/>
            </a:xfrm>
            <a:custGeom>
              <a:avLst/>
              <a:gdLst/>
              <a:ahLst/>
              <a:cxnLst/>
              <a:rect l="l" t="t" r="r" b="b"/>
              <a:pathLst>
                <a:path w="406242" h="703631">
                  <a:moveTo>
                    <a:pt x="0" y="469088"/>
                  </a:moveTo>
                  <a:lnTo>
                    <a:pt x="406242" y="703631"/>
                  </a:lnTo>
                  <a:lnTo>
                    <a:pt x="406242" y="234544"/>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tation 4 · committed · kanan"/>
            <p:cNvSpPr/>
            <p:nvPr/>
          </p:nvSpPr>
          <p:spPr>
            <a:xfrm>
              <a:off x="8342163" y="2362352"/>
              <a:ext cx="406241" cy="703631"/>
            </a:xfrm>
            <a:custGeom>
              <a:avLst/>
              <a:gdLst/>
              <a:ahLst/>
              <a:cxnLst/>
              <a:rect l="l" t="t" r="r" b="b"/>
              <a:pathLst>
                <a:path w="406241" h="703631">
                  <a:moveTo>
                    <a:pt x="406241" y="469088"/>
                  </a:moveTo>
                  <a:lnTo>
                    <a:pt x="0" y="703631"/>
                  </a:lnTo>
                  <a:lnTo>
                    <a:pt x="0" y="234544"/>
                  </a:lnTo>
                  <a:lnTo>
                    <a:pt x="406241"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Station 4 · committed · atas"/>
            <p:cNvSpPr/>
            <p:nvPr/>
          </p:nvSpPr>
          <p:spPr>
            <a:xfrm>
              <a:off x="7935921" y="2127809"/>
              <a:ext cx="812483" cy="469087"/>
            </a:xfrm>
            <a:custGeom>
              <a:avLst/>
              <a:gdLst/>
              <a:ahLst/>
              <a:cxnLst/>
              <a:rect l="l" t="t" r="r" b="b"/>
              <a:pathLst>
                <a:path w="812483" h="469087">
                  <a:moveTo>
                    <a:pt x="406242" y="0"/>
                  </a:moveTo>
                  <a:lnTo>
                    <a:pt x="812483" y="234543"/>
                  </a:lnTo>
                  <a:lnTo>
                    <a:pt x="406242" y="469087"/>
                  </a:lnTo>
                  <a:lnTo>
                    <a:pt x="0" y="234543"/>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Station 5 · opened · kiri"/>
            <p:cNvSpPr/>
            <p:nvPr/>
          </p:nvSpPr>
          <p:spPr>
            <a:xfrm>
              <a:off x="10182236" y="2691536"/>
              <a:ext cx="406242" cy="703631"/>
            </a:xfrm>
            <a:custGeom>
              <a:avLst/>
              <a:gdLst/>
              <a:ahLst/>
              <a:cxnLst/>
              <a:rect l="l" t="t" r="r" b="b"/>
              <a:pathLst>
                <a:path w="406242" h="703631">
                  <a:moveTo>
                    <a:pt x="0" y="469088"/>
                  </a:moveTo>
                  <a:lnTo>
                    <a:pt x="406242" y="703631"/>
                  </a:lnTo>
                  <a:lnTo>
                    <a:pt x="406242" y="234544"/>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tation 5 · opened · kanan"/>
            <p:cNvSpPr/>
            <p:nvPr/>
          </p:nvSpPr>
          <p:spPr>
            <a:xfrm>
              <a:off x="10588478" y="2691536"/>
              <a:ext cx="406241" cy="703631"/>
            </a:xfrm>
            <a:custGeom>
              <a:avLst/>
              <a:gdLst/>
              <a:ahLst/>
              <a:cxnLst/>
              <a:rect l="l" t="t" r="r" b="b"/>
              <a:pathLst>
                <a:path w="406241" h="703631">
                  <a:moveTo>
                    <a:pt x="406241" y="469088"/>
                  </a:moveTo>
                  <a:lnTo>
                    <a:pt x="0" y="703631"/>
                  </a:lnTo>
                  <a:lnTo>
                    <a:pt x="0" y="234544"/>
                  </a:lnTo>
                  <a:lnTo>
                    <a:pt x="406241"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Station 5 · opened · atas"/>
            <p:cNvSpPr/>
            <p:nvPr/>
          </p:nvSpPr>
          <p:spPr>
            <a:xfrm>
              <a:off x="10182236" y="2456993"/>
              <a:ext cx="812483" cy="469087"/>
            </a:xfrm>
            <a:custGeom>
              <a:avLst/>
              <a:gdLst/>
              <a:ahLst/>
              <a:cxnLst/>
              <a:rect l="l" t="t" r="r" b="b"/>
              <a:pathLst>
                <a:path w="812483" h="469087">
                  <a:moveTo>
                    <a:pt x="406242" y="0"/>
                  </a:moveTo>
                  <a:lnTo>
                    <a:pt x="812483" y="234543"/>
                  </a:lnTo>
                  <a:lnTo>
                    <a:pt x="406242" y="469087"/>
                  </a:lnTo>
                  <a:lnTo>
                    <a:pt x="0" y="234543"/>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9" name="Node 1"/>
          <p:cNvSpPr/>
          <p:nvPr/>
        </p:nvSpPr>
        <p:spPr>
          <a:xfrm>
            <a:off x="1530066" y="3657600"/>
            <a:ext cx="146304" cy="146304"/>
          </a:xfrm>
          <a:prstGeom prst="ellipse">
            <a:avLst/>
          </a:prstGeom>
          <a:solidFill>
            <a:srgbClr val="9D86FF"/>
          </a:solidFill>
          <a:ln w="9525" cap="rnd">
            <a:noFill/>
          </a:ln>
          <a:effectLst>
            <a:glow rad="88900">
              <a:srgbClr val="9D86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ime 1"/>
          <p:cNvSpPr txBox="1"/>
          <p:nvPr/>
        </p:nvSpPr>
        <p:spPr>
          <a:xfrm>
            <a:off x="594360" y="3913632"/>
            <a:ext cx="2017715" cy="219456"/>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00:00 UTC</a:t>
            </a:r>
          </a:p>
        </p:txBody>
      </p:sp>
      <p:sp>
        <p:nvSpPr>
          <p:cNvPr id="41" name="Title 1"/>
          <p:cNvSpPr txBox="1"/>
          <p:nvPr/>
        </p:nvSpPr>
        <p:spPr>
          <a:xfrm>
            <a:off x="640080" y="4187952"/>
            <a:ext cx="1926275" cy="512064"/>
          </a:xfrm>
          <a:prstGeom prst="rect">
            <a:avLst/>
          </a:prstGeom>
          <a:noFill/>
        </p:spPr>
        <p:txBody>
          <a:bodyPr wrap="square" lIns="0" rIns="0" tIns="0" bIns="0" anchor="t">
            <a:noAutofit/>
          </a:bodyPr>
          <a:lstStyle/>
          <a:p>
            <a:pPr algn="ctr">
              <a:lnSpc>
                <a:spcPct val="105000"/>
              </a:lnSpc>
              <a:spcBef>
                <a:spcPts val="0"/>
              </a:spcBef>
              <a:spcAft>
                <a:spcPts val="0"/>
              </a:spcAft>
            </a:pPr>
            <a:r>
              <a:rPr sz="1700" b="1" i="0" lang="en-US">
                <a:solidFill>
                  <a:srgbClr val="FFFFFF"/>
                </a:solidFill>
                <a:latin typeface="Archivo" pitchFamily="34" charset="0"/>
              </a:rPr>
              <a:t>The bar closes</a:t>
            </a:r>
          </a:p>
        </p:txBody>
      </p:sp>
      <p:sp>
        <p:nvSpPr>
          <p:cNvPr id="42" name="Text 1"/>
          <p:cNvSpPr txBox="1"/>
          <p:nvPr/>
        </p:nvSpPr>
        <p:spPr>
          <a:xfrm>
            <a:off x="640080" y="4700016"/>
            <a:ext cx="1926275" cy="914400"/>
          </a:xfrm>
          <a:prstGeom prst="rect">
            <a:avLst/>
          </a:prstGeom>
          <a:noFill/>
        </p:spPr>
        <p:txBody>
          <a:bodyPr wrap="square" lIns="0" rIns="0" tIns="0" bIns="0" anchor="t">
            <a:noAutofit/>
          </a:bodyPr>
          <a:lstStyle/>
          <a:p>
            <a:pPr algn="ctr">
              <a:lnSpc>
                <a:spcPct val="130000"/>
              </a:lnSpc>
              <a:spcBef>
                <a:spcPts val="0"/>
              </a:spcBef>
              <a:spcAft>
                <a:spcPts val="0"/>
              </a:spcAft>
            </a:pPr>
            <a:r>
              <a:rPr sz="1350" b="0" i="0" lang="en-US">
                <a:solidFill>
                  <a:srgbClr val="C9BDF2"/>
                </a:solidFill>
                <a:latin typeface="Inter" pitchFamily="34" charset="0"/>
              </a:rPr>
              <a:t>The daily candle settles. Nothing later can enter the signal.</a:t>
            </a:r>
          </a:p>
        </p:txBody>
      </p:sp>
      <p:sp>
        <p:nvSpPr>
          <p:cNvPr id="43" name="Contract 1"/>
          <p:cNvSpPr txBox="1"/>
          <p:nvPr/>
        </p:nvSpPr>
        <p:spPr>
          <a:xfrm>
            <a:off x="594360" y="5687568"/>
            <a:ext cx="2017715" cy="201168"/>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public market bars</a:t>
            </a:r>
          </a:p>
        </p:txBody>
      </p:sp>
      <p:sp>
        <p:nvSpPr>
          <p:cNvPr id="47" name="Node 2"/>
          <p:cNvSpPr/>
          <p:nvPr/>
        </p:nvSpPr>
        <p:spPr>
          <a:xfrm>
            <a:off x="3776381" y="3657600"/>
            <a:ext cx="146304" cy="146304"/>
          </a:xfrm>
          <a:prstGeom prst="ellipse">
            <a:avLst/>
          </a:prstGeom>
          <a:solidFill>
            <a:srgbClr val="9D86FF"/>
          </a:solidFill>
          <a:ln w="9525" cap="rnd">
            <a:noFill/>
          </a:ln>
          <a:effectLst>
            <a:glow rad="88900">
              <a:srgbClr val="9D86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ime 2"/>
          <p:cNvSpPr txBox="1"/>
          <p:nvPr/>
        </p:nvSpPr>
        <p:spPr>
          <a:xfrm>
            <a:off x="2840675" y="3913632"/>
            <a:ext cx="2017715" cy="219456"/>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 SECONDS</a:t>
            </a:r>
          </a:p>
        </p:txBody>
      </p:sp>
      <p:sp>
        <p:nvSpPr>
          <p:cNvPr id="49" name="Title 2"/>
          <p:cNvSpPr txBox="1"/>
          <p:nvPr/>
        </p:nvSpPr>
        <p:spPr>
          <a:xfrm>
            <a:off x="2886395" y="4187952"/>
            <a:ext cx="1926275" cy="512064"/>
          </a:xfrm>
          <a:prstGeom prst="rect">
            <a:avLst/>
          </a:prstGeom>
          <a:noFill/>
        </p:spPr>
        <p:txBody>
          <a:bodyPr wrap="square" lIns="0" rIns="0" tIns="0" bIns="0" anchor="t">
            <a:noAutofit/>
          </a:bodyPr>
          <a:lstStyle/>
          <a:p>
            <a:pPr algn="ctr">
              <a:lnSpc>
                <a:spcPct val="105000"/>
              </a:lnSpc>
              <a:spcBef>
                <a:spcPts val="0"/>
              </a:spcBef>
              <a:spcAft>
                <a:spcPts val="0"/>
              </a:spcAft>
            </a:pPr>
            <a:r>
              <a:rPr sz="1700" b="1" i="0" lang="en-US">
                <a:solidFill>
                  <a:srgbClr val="FFFFFF"/>
                </a:solidFill>
                <a:latin typeface="Archivo" pitchFamily="34" charset="0"/>
              </a:rPr>
              <a:t>The bot decides</a:t>
            </a:r>
          </a:p>
        </p:txBody>
      </p:sp>
      <p:sp>
        <p:nvSpPr>
          <p:cNvPr id="50" name="Text 2"/>
          <p:cNvSpPr txBox="1"/>
          <p:nvPr/>
        </p:nvSpPr>
        <p:spPr>
          <a:xfrm>
            <a:off x="2886395" y="4700016"/>
            <a:ext cx="1926275" cy="914400"/>
          </a:xfrm>
          <a:prstGeom prst="rect">
            <a:avLst/>
          </a:prstGeom>
          <a:noFill/>
        </p:spPr>
        <p:txBody>
          <a:bodyPr wrap="square" lIns="0" rIns="0" tIns="0" bIns="0" anchor="t">
            <a:noAutofit/>
          </a:bodyPr>
          <a:lstStyle/>
          <a:p>
            <a:pPr algn="ctr">
              <a:lnSpc>
                <a:spcPct val="130000"/>
              </a:lnSpc>
              <a:spcBef>
                <a:spcPts val="0"/>
              </a:spcBef>
              <a:spcAft>
                <a:spcPts val="0"/>
              </a:spcAft>
            </a:pPr>
            <a:r>
              <a:rPr sz="1350" b="0" i="0" lang="en-US">
                <a:solidFill>
                  <a:srgbClr val="C9BDF2"/>
                </a:solidFill>
                <a:latin typeface="Inter" pitchFamily="34" charset="0"/>
              </a:rPr>
              <a:t>One locked method, one parameter: enter, exit or resize.</a:t>
            </a:r>
          </a:p>
        </p:txBody>
      </p:sp>
      <p:sp>
        <p:nvSpPr>
          <p:cNvPr id="51" name="Contract 2"/>
          <p:cNvSpPr txBox="1"/>
          <p:nvPr/>
        </p:nvSpPr>
        <p:spPr>
          <a:xfrm>
            <a:off x="2840675" y="5687568"/>
            <a:ext cx="2017715" cy="201168"/>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LockRegistry rule</a:t>
            </a:r>
          </a:p>
        </p:txBody>
      </p:sp>
      <p:sp>
        <p:nvSpPr>
          <p:cNvPr id="58" name="Node 3"/>
          <p:cNvSpPr/>
          <p:nvPr/>
        </p:nvSpPr>
        <p:spPr>
          <a:xfrm>
            <a:off x="6022696" y="3657600"/>
            <a:ext cx="146304" cy="146304"/>
          </a:xfrm>
          <a:prstGeom prst="ellipse">
            <a:avLst/>
          </a:prstGeom>
          <a:solidFill>
            <a:srgbClr val="9D86FF"/>
          </a:solidFill>
          <a:ln w="9525" cap="rnd">
            <a:noFill/>
          </a:ln>
          <a:effectLst>
            <a:glow rad="88900">
              <a:srgbClr val="9D86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ime 3"/>
          <p:cNvSpPr txBox="1"/>
          <p:nvPr/>
        </p:nvSpPr>
        <p:spPr>
          <a:xfrm>
            <a:off x="5086990" y="3913632"/>
            <a:ext cx="2017715" cy="219456"/>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 MINUTES</a:t>
            </a:r>
          </a:p>
        </p:txBody>
      </p:sp>
      <p:sp>
        <p:nvSpPr>
          <p:cNvPr id="60" name="Title 3"/>
          <p:cNvSpPr txBox="1"/>
          <p:nvPr/>
        </p:nvSpPr>
        <p:spPr>
          <a:xfrm>
            <a:off x="5132710" y="4187952"/>
            <a:ext cx="1926275" cy="512064"/>
          </a:xfrm>
          <a:prstGeom prst="rect">
            <a:avLst/>
          </a:prstGeom>
          <a:noFill/>
        </p:spPr>
        <p:txBody>
          <a:bodyPr wrap="square" lIns="0" rIns="0" tIns="0" bIns="0" anchor="t">
            <a:noAutofit/>
          </a:bodyPr>
          <a:lstStyle/>
          <a:p>
            <a:pPr algn="ctr">
              <a:lnSpc>
                <a:spcPct val="105000"/>
              </a:lnSpc>
              <a:spcBef>
                <a:spcPts val="0"/>
              </a:spcBef>
              <a:spcAft>
                <a:spcPts val="0"/>
              </a:spcAft>
            </a:pPr>
            <a:r>
              <a:rPr sz="1700" b="1" i="0" lang="en-US">
                <a:solidFill>
                  <a:srgbClr val="FFFFFF"/>
                </a:solidFill>
                <a:latin typeface="Archivo" pitchFamily="34" charset="0"/>
              </a:rPr>
              <a:t>Sealed</a:t>
            </a:r>
          </a:p>
        </p:txBody>
      </p:sp>
      <p:sp>
        <p:nvSpPr>
          <p:cNvPr id="61" name="Text 3"/>
          <p:cNvSpPr txBox="1"/>
          <p:nvPr/>
        </p:nvSpPr>
        <p:spPr>
          <a:xfrm>
            <a:off x="5132710" y="4700016"/>
            <a:ext cx="1926275" cy="914400"/>
          </a:xfrm>
          <a:prstGeom prst="rect">
            <a:avLst/>
          </a:prstGeom>
          <a:noFill/>
        </p:spPr>
        <p:txBody>
          <a:bodyPr wrap="square" lIns="0" rIns="0" tIns="0" bIns="0" anchor="t">
            <a:noAutofit/>
          </a:bodyPr>
          <a:lstStyle/>
          <a:p>
            <a:pPr algn="ctr">
              <a:lnSpc>
                <a:spcPct val="130000"/>
              </a:lnSpc>
              <a:spcBef>
                <a:spcPts val="0"/>
              </a:spcBef>
              <a:spcAft>
                <a:spcPts val="0"/>
              </a:spcAft>
            </a:pPr>
            <a:r>
              <a:rPr sz="1350" b="0" i="0" lang="en-US">
                <a:solidFill>
                  <a:srgbClr val="C9BDF2"/>
                </a:solidFill>
                <a:latin typeface="Inter" pitchFamily="34" charset="0"/>
              </a:rPr>
              <a:t>Every signal is salted and folded into one Merkle root.</a:t>
            </a:r>
          </a:p>
        </p:txBody>
      </p:sp>
      <p:sp>
        <p:nvSpPr>
          <p:cNvPr id="62" name="Contract 3"/>
          <p:cNvSpPr txBox="1"/>
          <p:nvPr/>
        </p:nvSpPr>
        <p:spPr>
          <a:xfrm>
            <a:off x="5086990" y="5687568"/>
            <a:ext cx="2017715" cy="201168"/>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Merkle root</a:t>
            </a:r>
          </a:p>
        </p:txBody>
      </p:sp>
      <p:sp>
        <p:nvSpPr>
          <p:cNvPr id="72" name="Node 4"/>
          <p:cNvSpPr/>
          <p:nvPr/>
        </p:nvSpPr>
        <p:spPr>
          <a:xfrm>
            <a:off x="8269011" y="3657600"/>
            <a:ext cx="146304" cy="146304"/>
          </a:xfrm>
          <a:prstGeom prst="ellipse">
            <a:avLst/>
          </a:prstGeom>
          <a:solidFill>
            <a:srgbClr val="9D86FF"/>
          </a:solidFill>
          <a:ln w="9525" cap="rnd">
            <a:noFill/>
          </a:ln>
          <a:effectLst>
            <a:glow rad="88900">
              <a:srgbClr val="9D86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ime 4"/>
          <p:cNvSpPr txBox="1"/>
          <p:nvPr/>
        </p:nvSpPr>
        <p:spPr>
          <a:xfrm>
            <a:off x="7333305" y="3913632"/>
            <a:ext cx="2017715" cy="219456"/>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 12 H</a:t>
            </a:r>
          </a:p>
        </p:txBody>
      </p:sp>
      <p:sp>
        <p:nvSpPr>
          <p:cNvPr id="74" name="Title 4"/>
          <p:cNvSpPr txBox="1"/>
          <p:nvPr/>
        </p:nvSpPr>
        <p:spPr>
          <a:xfrm>
            <a:off x="7379025" y="4187952"/>
            <a:ext cx="1926275" cy="512064"/>
          </a:xfrm>
          <a:prstGeom prst="rect">
            <a:avLst/>
          </a:prstGeom>
          <a:noFill/>
        </p:spPr>
        <p:txBody>
          <a:bodyPr wrap="square" lIns="0" rIns="0" tIns="0" bIns="0" anchor="t">
            <a:noAutofit/>
          </a:bodyPr>
          <a:lstStyle/>
          <a:p>
            <a:pPr algn="ctr">
              <a:lnSpc>
                <a:spcPct val="105000"/>
              </a:lnSpc>
              <a:spcBef>
                <a:spcPts val="0"/>
              </a:spcBef>
              <a:spcAft>
                <a:spcPts val="0"/>
              </a:spcAft>
            </a:pPr>
            <a:r>
              <a:rPr sz="1700" b="1" i="0" lang="en-US">
                <a:solidFill>
                  <a:srgbClr val="FFFFFF"/>
                </a:solidFill>
                <a:latin typeface="Archivo" pitchFamily="34" charset="0"/>
              </a:rPr>
              <a:t>Committed on BNB Chain</a:t>
            </a:r>
          </a:p>
        </p:txBody>
      </p:sp>
      <p:sp>
        <p:nvSpPr>
          <p:cNvPr id="75" name="Text 4"/>
          <p:cNvSpPr txBox="1"/>
          <p:nvPr/>
        </p:nvSpPr>
        <p:spPr>
          <a:xfrm>
            <a:off x="7379025" y="4700016"/>
            <a:ext cx="1926275" cy="914400"/>
          </a:xfrm>
          <a:prstGeom prst="rect">
            <a:avLst/>
          </a:prstGeom>
          <a:noFill/>
        </p:spPr>
        <p:txBody>
          <a:bodyPr wrap="square" lIns="0" rIns="0" tIns="0" bIns="0" anchor="t">
            <a:noAutofit/>
          </a:bodyPr>
          <a:lstStyle/>
          <a:p>
            <a:pPr algn="ctr">
              <a:lnSpc>
                <a:spcPct val="130000"/>
              </a:lnSpc>
              <a:spcBef>
                <a:spcPts val="0"/>
              </a:spcBef>
              <a:spcAft>
                <a:spcPts val="0"/>
              </a:spcAft>
            </a:pPr>
            <a:r>
              <a:rPr sz="1350" b="0" i="0" lang="en-US">
                <a:solidFill>
                  <a:srgbClr val="C9BDF2"/>
                </a:solidFill>
                <a:latin typeface="Inter" pitchFamily="34" charset="0"/>
              </a:rPr>
              <a:t>The root lands in SignalAnchor. The block time is the alibi.</a:t>
            </a:r>
          </a:p>
        </p:txBody>
      </p:sp>
      <p:sp>
        <p:nvSpPr>
          <p:cNvPr id="76" name="Contract 4"/>
          <p:cNvSpPr txBox="1"/>
          <p:nvPr/>
        </p:nvSpPr>
        <p:spPr>
          <a:xfrm>
            <a:off x="7333305" y="5687568"/>
            <a:ext cx="2017715" cy="201168"/>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SignalAnchor.commit</a:t>
            </a:r>
          </a:p>
        </p:txBody>
      </p:sp>
      <p:sp>
        <p:nvSpPr>
          <p:cNvPr id="80" name="Node 5"/>
          <p:cNvSpPr/>
          <p:nvPr/>
        </p:nvSpPr>
        <p:spPr>
          <a:xfrm>
            <a:off x="10515326" y="3657600"/>
            <a:ext cx="146304" cy="146304"/>
          </a:xfrm>
          <a:prstGeom prst="ellipse">
            <a:avLst/>
          </a:prstGeom>
          <a:solidFill>
            <a:srgbClr val="F6F2FF"/>
          </a:solidFill>
          <a:ln w="9525" cap="rnd">
            <a:noFill/>
          </a:ln>
          <a:effectLst>
            <a:glow rad="88900">
              <a:srgbClr val="9D86FF">
                <a:alpha val="5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ime 5"/>
          <p:cNvSpPr txBox="1"/>
          <p:nvPr/>
        </p:nvSpPr>
        <p:spPr>
          <a:xfrm>
            <a:off x="9579620" y="3913632"/>
            <a:ext cx="2017715" cy="219456"/>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9D86FF"/>
                </a:solidFill>
                <a:latin typeface="JetBrains Mono" pitchFamily="49" charset="0"/>
              </a:rPr>
              <a:t>AFTER</a:t>
            </a:r>
          </a:p>
        </p:txBody>
      </p:sp>
      <p:sp>
        <p:nvSpPr>
          <p:cNvPr id="82" name="Title 5"/>
          <p:cNvSpPr txBox="1"/>
          <p:nvPr/>
        </p:nvSpPr>
        <p:spPr>
          <a:xfrm>
            <a:off x="9625340" y="4187952"/>
            <a:ext cx="1926275" cy="512064"/>
          </a:xfrm>
          <a:prstGeom prst="rect">
            <a:avLst/>
          </a:prstGeom>
          <a:noFill/>
        </p:spPr>
        <p:txBody>
          <a:bodyPr wrap="square" lIns="0" rIns="0" tIns="0" bIns="0" anchor="t">
            <a:noAutofit/>
          </a:bodyPr>
          <a:lstStyle/>
          <a:p>
            <a:pPr algn="ctr">
              <a:lnSpc>
                <a:spcPct val="105000"/>
              </a:lnSpc>
              <a:spcBef>
                <a:spcPts val="0"/>
              </a:spcBef>
              <a:spcAft>
                <a:spcPts val="0"/>
              </a:spcAft>
            </a:pPr>
            <a:r>
              <a:rPr sz="1700" b="1" i="0" lang="en-US">
                <a:solidFill>
                  <a:srgbClr val="FFFFFF"/>
                </a:solidFill>
                <a:latin typeface="Archivo" pitchFamily="34" charset="0"/>
              </a:rPr>
              <a:t>Opened and checked</a:t>
            </a:r>
          </a:p>
        </p:txBody>
      </p:sp>
      <p:sp>
        <p:nvSpPr>
          <p:cNvPr id="83" name="Text 5"/>
          <p:cNvSpPr txBox="1"/>
          <p:nvPr/>
        </p:nvSpPr>
        <p:spPr>
          <a:xfrm>
            <a:off x="9625340" y="4700016"/>
            <a:ext cx="1926275" cy="914400"/>
          </a:xfrm>
          <a:prstGeom prst="rect">
            <a:avLst/>
          </a:prstGeom>
          <a:noFill/>
        </p:spPr>
        <p:txBody>
          <a:bodyPr wrap="square" lIns="0" rIns="0" tIns="0" bIns="0" anchor="t">
            <a:noAutofit/>
          </a:bodyPr>
          <a:lstStyle/>
          <a:p>
            <a:pPr algn="ctr">
              <a:lnSpc>
                <a:spcPct val="130000"/>
              </a:lnSpc>
              <a:spcBef>
                <a:spcPts val="0"/>
              </a:spcBef>
              <a:spcAft>
                <a:spcPts val="0"/>
              </a:spcAft>
            </a:pPr>
            <a:r>
              <a:rPr sz="1350" b="0" i="0" lang="en-US">
                <a:solidFill>
                  <a:srgbClr val="C9BDF2"/>
                </a:solidFill>
                <a:latin typeface="Inter" pitchFamily="34" charset="0"/>
              </a:rPr>
              <a:t>Payloads are revealed. Anyone recomputes them from public bars.</a:t>
            </a:r>
          </a:p>
        </p:txBody>
      </p:sp>
      <p:sp>
        <p:nvSpPr>
          <p:cNvPr id="84" name="Contract 5"/>
          <p:cNvSpPr txBox="1"/>
          <p:nvPr/>
        </p:nvSpPr>
        <p:spPr>
          <a:xfrm>
            <a:off x="9579620" y="5687568"/>
            <a:ext cx="2017715" cy="201168"/>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reveal · verify</a:t>
            </a:r>
          </a:p>
        </p:txBody>
      </p:sp>
      <p:sp>
        <p:nvSpPr>
          <p:cNvPr id="85" name="Verify strip"/>
          <p:cNvSpPr/>
          <p:nvPr/>
        </p:nvSpPr>
        <p:spPr>
          <a:xfrm>
            <a:off x="594360" y="5971032"/>
            <a:ext cx="11002975" cy="384048"/>
          </a:xfrm>
          <a:prstGeom prst="roundRect">
            <a:avLst>
              <a:gd name="adj" fmla="val 50000"/>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Verify command"/>
          <p:cNvSpPr txBox="1"/>
          <p:nvPr/>
        </p:nvSpPr>
        <p:spPr>
          <a:xfrm>
            <a:off x="822960" y="5971032"/>
            <a:ext cx="6583680" cy="384048"/>
          </a:xfrm>
          <a:prstGeom prst="rect">
            <a:avLst/>
          </a:prstGeom>
          <a:noFill/>
        </p:spPr>
        <p:txBody>
          <a:bodyPr wrap="square" lIns="0" rIns="0" tIns="0" bIns="0" anchor="ctr">
            <a:noAutofit/>
          </a:bodyPr>
          <a:lstStyle/>
          <a:p>
            <a:pPr algn="l">
              <a:lnSpc>
                <a:spcPct val="125000"/>
              </a:lnSpc>
              <a:spcBef>
                <a:spcPts val="0"/>
              </a:spcBef>
              <a:spcAft>
                <a:spcPts val="0"/>
              </a:spcAft>
            </a:pPr>
            <a:r>
              <a:rPr sz="1200" b="0" i="0" lang="en-US">
                <a:solidFill>
                  <a:srgbClr val="ECE8FA"/>
                </a:solidFill>
                <a:latin typeface="JetBrains Mono" pitchFamily="49" charset="0"/>
              </a:rPr>
              <a:t>python -X utf8 tools/verify_signals.py</a:t>
            </a:r>
          </a:p>
        </p:txBody>
      </p:sp>
      <p:sp>
        <p:nvSpPr>
          <p:cNvPr id="87" name="Chip · NO KEY"/>
          <p:cNvSpPr/>
          <p:nvPr/>
        </p:nvSpPr>
        <p:spPr>
          <a:xfrm>
            <a:off x="7116775" y="6035040"/>
            <a:ext cx="822960" cy="256032"/>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Chip text"/>
          <p:cNvSpPr txBox="1"/>
          <p:nvPr/>
        </p:nvSpPr>
        <p:spPr>
          <a:xfrm>
            <a:off x="7253935" y="6035040"/>
            <a:ext cx="54864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ECE8FA"/>
                </a:solidFill>
                <a:latin typeface="JetBrains Mono" pitchFamily="49" charset="0"/>
              </a:rPr>
              <a:t>NO KEY</a:t>
            </a:r>
          </a:p>
        </p:txBody>
      </p:sp>
      <p:sp>
        <p:nvSpPr>
          <p:cNvPr id="89" name="Chip · NO GAS"/>
          <p:cNvSpPr/>
          <p:nvPr/>
        </p:nvSpPr>
        <p:spPr>
          <a:xfrm>
            <a:off x="8031175" y="6035040"/>
            <a:ext cx="822960" cy="256032"/>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Chip text"/>
          <p:cNvSpPr txBox="1"/>
          <p:nvPr/>
        </p:nvSpPr>
        <p:spPr>
          <a:xfrm>
            <a:off x="8168335" y="6035040"/>
            <a:ext cx="54864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ECE8FA"/>
                </a:solidFill>
                <a:latin typeface="JetBrains Mono" pitchFamily="49" charset="0"/>
              </a:rPr>
              <a:t>NO GAS</a:t>
            </a:r>
          </a:p>
        </p:txBody>
      </p:sp>
      <p:sp>
        <p:nvSpPr>
          <p:cNvPr id="91" name="Chip · SAH = recomputes exactly"/>
          <p:cNvSpPr/>
          <p:nvPr/>
        </p:nvSpPr>
        <p:spPr>
          <a:xfrm>
            <a:off x="8945575" y="6035040"/>
            <a:ext cx="2468880" cy="256032"/>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hip text"/>
          <p:cNvSpPr txBox="1"/>
          <p:nvPr/>
        </p:nvSpPr>
        <p:spPr>
          <a:xfrm>
            <a:off x="9082735" y="6035040"/>
            <a:ext cx="219456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ECE8FA"/>
                </a:solidFill>
                <a:latin typeface="JetBrains Mono" pitchFamily="49" charset="0"/>
              </a:rPr>
              <a:t>SAH = RECOMPUTES EXACTLY</a:t>
            </a:r>
          </a:p>
        </p:txBody>
      </p:sp>
      <p:sp>
        <p:nvSpPr>
          <p:cNvPr id="93"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94"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68680"/>
            <a:ext cx="10515600" cy="731520"/>
          </a:xfrm>
        </p:spPr>
        <p:txBody>
          <a:bodyPr wrap="square" lIns="0" rIns="0" tIns="0" bIns="0" anchor="t">
            <a:noAutofit/>
          </a:bodyPr>
          <a:lstStyle/>
          <a:p>
            <a:pPr algn="l">
              <a:lnSpc>
                <a:spcPct val="100000"/>
              </a:lnSpc>
              <a:spcBef>
                <a:spcPts val="0"/>
              </a:spcBef>
              <a:spcAft>
                <a:spcPts val="0"/>
              </a:spcAft>
            </a:pPr>
            <a:r>
              <a:rPr sz="4000" b="0" i="0" lang="en-US">
                <a:solidFill>
                  <a:srgbClr val="ECE8FA"/>
                </a:solidFill>
                <a:latin typeface="Archivo" pitchFamily="34" charset="0"/>
              </a:rPr>
              <a:t>Bring your bot. </a:t>
            </a:r>
            <a:r>
              <a:rPr sz="4000" b="1" i="1" lang="en-US">
                <a:solidFill>
                  <a:srgbClr val="9D86FF"/>
                </a:solidFill>
                <a:latin typeface="Archivo" pitchFamily="34" charset="0"/>
              </a:rPr>
              <a:t>Bring your agent.</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05 — THE OPEN PLATFORM</a:t>
            </a:r>
          </a:p>
        </p:txBody>
      </p:sp>
      <p:sp>
        <p:nvSpPr>
          <p:cNvPr id="7" name="Sub"/>
          <p:cNvSpPr txBox="1"/>
          <p:nvPr/>
        </p:nvSpPr>
        <p:spPr>
          <a:xfrm>
            <a:off x="594360" y="1554480"/>
            <a:ext cx="11002975" cy="457200"/>
          </a:xfrm>
          <a:prstGeom prst="rect">
            <a:avLst/>
          </a:prstGeom>
          <a:noFill/>
        </p:spPr>
        <p:txBody>
          <a:bodyPr wrap="square" lIns="0" rIns="0" tIns="0" bIns="0" anchor="t">
            <a:noAutofit/>
          </a:bodyPr>
          <a:lstStyle/>
          <a:p>
            <a:pPr algn="l">
              <a:lnSpc>
                <a:spcPct val="130000"/>
              </a:lnSpc>
              <a:spcBef>
                <a:spcPts val="0"/>
              </a:spcBef>
              <a:spcAft>
                <a:spcPts val="0"/>
              </a:spcAft>
            </a:pPr>
            <a:r>
              <a:rPr sz="1700" b="0" i="0" lang="en-US">
                <a:solidFill>
                  <a:srgbClr val="C9BDF2"/>
                </a:solidFill>
                <a:latin typeface="Inter" pitchFamily="34" charset="0"/>
              </a:rPr>
              <a:t>Same public gates for everyone, ours included. Open now, and the first third-party seat is still yours.</a:t>
            </a:r>
          </a:p>
        </p:txBody>
      </p:sp>
      <p:sp>
        <p:nvSpPr>
          <p:cNvPr id="8" name="Door card 1"/>
          <p:cNvSpPr/>
          <p:nvPr/>
        </p:nvSpPr>
        <p:spPr>
          <a:xfrm>
            <a:off x="594360" y="2240280"/>
            <a:ext cx="2599868" cy="3154680"/>
          </a:xfrm>
          <a:prstGeom prst="roundRect">
            <a:avLst>
              <a:gd name="adj" fmla="val 84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 name="Portal 1 · RULE"/>
          <p:cNvGrpSpPr/>
          <p:nvPr/>
        </p:nvGrpSpPr>
        <p:grpSpPr>
          <a:xfrm>
            <a:off x="466344" y="2293315"/>
            <a:ext cx="1554480" cy="1554480"/>
            <a:chOff x="466344" y="2293315"/>
            <a:chExt cx="1554480" cy="1554480"/>
          </a:xfrm>
        </p:grpSpPr>
        <p:grpSp>
          <p:nvGrpSpPr>
            <p:cNvPr id="10" name="Portal glow"/>
            <p:cNvGrpSpPr/>
            <p:nvPr/>
          </p:nvGrpSpPr>
          <p:grpSpPr>
            <a:xfrm>
              <a:off x="466344" y="2293315"/>
              <a:ext cx="1554480" cy="1554480"/>
              <a:chOff x="466344" y="2293315"/>
              <a:chExt cx="1554480" cy="1554480"/>
            </a:xfrm>
          </p:grpSpPr>
          <p:sp>
            <p:nvSpPr>
              <p:cNvPr id="11" name="Portal glow 1"/>
              <p:cNvSpPr/>
              <p:nvPr/>
            </p:nvSpPr>
            <p:spPr>
              <a:xfrm>
                <a:off x="466344" y="2293315"/>
                <a:ext cx="1554480" cy="1554480"/>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ortal glow 2"/>
              <p:cNvSpPr/>
              <p:nvPr/>
            </p:nvSpPr>
            <p:spPr>
              <a:xfrm>
                <a:off x="521349" y="2348320"/>
                <a:ext cx="1444471" cy="1444471"/>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ortal glow 3"/>
              <p:cNvSpPr/>
              <p:nvPr/>
            </p:nvSpPr>
            <p:spPr>
              <a:xfrm>
                <a:off x="576353" y="2403325"/>
                <a:ext cx="1334461" cy="1334461"/>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ortal glow 4"/>
              <p:cNvSpPr/>
              <p:nvPr/>
            </p:nvSpPr>
            <p:spPr>
              <a:xfrm>
                <a:off x="631358" y="2458329"/>
                <a:ext cx="1224452" cy="1224452"/>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ortal glow 5"/>
              <p:cNvSpPr/>
              <p:nvPr/>
            </p:nvSpPr>
            <p:spPr>
              <a:xfrm>
                <a:off x="686363" y="2513334"/>
                <a:ext cx="1114443" cy="1114443"/>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ortal glow 6"/>
              <p:cNvSpPr/>
              <p:nvPr/>
            </p:nvSpPr>
            <p:spPr>
              <a:xfrm>
                <a:off x="741367" y="2568339"/>
                <a:ext cx="1004433" cy="1004433"/>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ortal glow 7"/>
              <p:cNvSpPr/>
              <p:nvPr/>
            </p:nvSpPr>
            <p:spPr>
              <a:xfrm>
                <a:off x="796372" y="2623343"/>
                <a:ext cx="894424" cy="894424"/>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ortal glow 8"/>
              <p:cNvSpPr/>
              <p:nvPr/>
            </p:nvSpPr>
            <p:spPr>
              <a:xfrm>
                <a:off x="851377" y="2678348"/>
                <a:ext cx="784415" cy="784415"/>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ortal glow 9"/>
              <p:cNvSpPr/>
              <p:nvPr/>
            </p:nvSpPr>
            <p:spPr>
              <a:xfrm>
                <a:off x="906381" y="2733353"/>
                <a:ext cx="674405" cy="674405"/>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ortal glow 10"/>
              <p:cNvSpPr/>
              <p:nvPr/>
            </p:nvSpPr>
            <p:spPr>
              <a:xfrm>
                <a:off x="961386" y="2788357"/>
                <a:ext cx="564396" cy="564396"/>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ortal glow 11"/>
              <p:cNvSpPr/>
              <p:nvPr/>
            </p:nvSpPr>
            <p:spPr>
              <a:xfrm>
                <a:off x="1016391" y="2843362"/>
                <a:ext cx="454386" cy="454386"/>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ortal glow 12"/>
              <p:cNvSpPr/>
              <p:nvPr/>
            </p:nvSpPr>
            <p:spPr>
              <a:xfrm>
                <a:off x="1071395" y="2898367"/>
                <a:ext cx="344377" cy="344377"/>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ortal glow 13"/>
              <p:cNvSpPr/>
              <p:nvPr/>
            </p:nvSpPr>
            <p:spPr>
              <a:xfrm>
                <a:off x="1126400" y="2953371"/>
                <a:ext cx="234368" cy="234368"/>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ortal glow 14"/>
              <p:cNvSpPr/>
              <p:nvPr/>
            </p:nvSpPr>
            <p:spPr>
              <a:xfrm>
                <a:off x="1181405" y="3008376"/>
                <a:ext cx="124358" cy="124358"/>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5" name="Portal"/>
            <p:cNvSpPr/>
            <p:nvPr/>
          </p:nvSpPr>
          <p:spPr>
            <a:xfrm>
              <a:off x="850392" y="2478024"/>
              <a:ext cx="786384" cy="987552"/>
            </a:xfrm>
            <a:custGeom>
              <a:avLst/>
              <a:gdLst/>
              <a:ahLst/>
              <a:cxnLst/>
              <a:rect l="l" t="t" r="r" b="b"/>
              <a:pathLst>
                <a:path w="786384" h="987552">
                  <a:moveTo>
                    <a:pt x="0" y="393192"/>
                  </a:moveTo>
                  <a:lnTo>
                    <a:pt x="3364" y="341870"/>
                  </a:lnTo>
                  <a:lnTo>
                    <a:pt x="13398" y="291426"/>
                  </a:lnTo>
                  <a:lnTo>
                    <a:pt x="29930" y="242724"/>
                  </a:lnTo>
                  <a:lnTo>
                    <a:pt x="52678" y="196596"/>
                  </a:lnTo>
                  <a:lnTo>
                    <a:pt x="81252" y="153832"/>
                  </a:lnTo>
                  <a:lnTo>
                    <a:pt x="115163" y="115163"/>
                  </a:lnTo>
                  <a:lnTo>
                    <a:pt x="153832" y="81252"/>
                  </a:lnTo>
                  <a:lnTo>
                    <a:pt x="196596" y="52678"/>
                  </a:lnTo>
                  <a:lnTo>
                    <a:pt x="242724" y="29930"/>
                  </a:lnTo>
                  <a:lnTo>
                    <a:pt x="291426" y="13398"/>
                  </a:lnTo>
                  <a:lnTo>
                    <a:pt x="341870" y="3364"/>
                  </a:lnTo>
                  <a:lnTo>
                    <a:pt x="393192" y="0"/>
                  </a:lnTo>
                  <a:lnTo>
                    <a:pt x="444514" y="3364"/>
                  </a:lnTo>
                  <a:lnTo>
                    <a:pt x="494958" y="13398"/>
                  </a:lnTo>
                  <a:lnTo>
                    <a:pt x="543660" y="29930"/>
                  </a:lnTo>
                  <a:lnTo>
                    <a:pt x="589788" y="52678"/>
                  </a:lnTo>
                  <a:lnTo>
                    <a:pt x="632552" y="81252"/>
                  </a:lnTo>
                  <a:lnTo>
                    <a:pt x="671221" y="115163"/>
                  </a:lnTo>
                  <a:lnTo>
                    <a:pt x="705132" y="153832"/>
                  </a:lnTo>
                  <a:lnTo>
                    <a:pt x="733706" y="196596"/>
                  </a:lnTo>
                  <a:lnTo>
                    <a:pt x="756454" y="242724"/>
                  </a:lnTo>
                  <a:lnTo>
                    <a:pt x="772986" y="291426"/>
                  </a:lnTo>
                  <a:lnTo>
                    <a:pt x="783020" y="341870"/>
                  </a:lnTo>
                  <a:lnTo>
                    <a:pt x="786384" y="393192"/>
                  </a:lnTo>
                  <a:lnTo>
                    <a:pt x="786384" y="987552"/>
                  </a:lnTo>
                  <a:lnTo>
                    <a:pt x="0" y="987552"/>
                  </a:lnTo>
                  <a:close/>
                </a:path>
              </a:pathLst>
            </a:custGeom>
            <a:solidFill>
              <a:srgbClr val="6E4BFF">
                <a:alpha val="22000"/>
              </a:srgbClr>
            </a:solidFill>
            <a:ln w="20320" cap="rnd">
              <a:solidFill>
                <a:srgbClr val="9D86FF">
                  <a:alpha val="95000"/>
                </a:srgbClr>
              </a:solidFill>
              <a:round/>
            </a:ln>
            <a:effectLst>
              <a:glow rad="88900">
                <a:srgbClr val="9D86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lock entering · kiri"/>
            <p:cNvSpPr/>
            <p:nvPr/>
          </p:nvSpPr>
          <p:spPr>
            <a:xfrm>
              <a:off x="974340" y="2944368"/>
              <a:ext cx="269244" cy="466344"/>
            </a:xfrm>
            <a:custGeom>
              <a:avLst/>
              <a:gdLst/>
              <a:ahLst/>
              <a:cxnLst/>
              <a:rect l="l" t="t" r="r" b="b"/>
              <a:pathLst>
                <a:path w="269244" h="466344">
                  <a:moveTo>
                    <a:pt x="0" y="310896"/>
                  </a:moveTo>
                  <a:lnTo>
                    <a:pt x="269244" y="466344"/>
                  </a:lnTo>
                  <a:lnTo>
                    <a:pt x="269244" y="155448"/>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lock entering · kanan"/>
            <p:cNvSpPr/>
            <p:nvPr/>
          </p:nvSpPr>
          <p:spPr>
            <a:xfrm>
              <a:off x="1243584" y="2944368"/>
              <a:ext cx="269244" cy="466344"/>
            </a:xfrm>
            <a:custGeom>
              <a:avLst/>
              <a:gdLst/>
              <a:ahLst/>
              <a:cxnLst/>
              <a:rect l="l" t="t" r="r" b="b"/>
              <a:pathLst>
                <a:path w="269244" h="466344">
                  <a:moveTo>
                    <a:pt x="269244" y="310896"/>
                  </a:moveTo>
                  <a:lnTo>
                    <a:pt x="0" y="466344"/>
                  </a:lnTo>
                  <a:lnTo>
                    <a:pt x="0" y="155448"/>
                  </a:lnTo>
                  <a:lnTo>
                    <a:pt x="269244"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lock entering · atas"/>
            <p:cNvSpPr/>
            <p:nvPr/>
          </p:nvSpPr>
          <p:spPr>
            <a:xfrm>
              <a:off x="974340" y="2788920"/>
              <a:ext cx="538488" cy="310896"/>
            </a:xfrm>
            <a:custGeom>
              <a:avLst/>
              <a:gdLst/>
              <a:ahLst/>
              <a:cxnLst/>
              <a:rect l="l" t="t" r="r" b="b"/>
              <a:pathLst>
                <a:path w="538488" h="310896">
                  <a:moveTo>
                    <a:pt x="269244" y="0"/>
                  </a:moveTo>
                  <a:lnTo>
                    <a:pt x="538488" y="155448"/>
                  </a:lnTo>
                  <a:lnTo>
                    <a:pt x="269244" y="310896"/>
                  </a:lnTo>
                  <a:lnTo>
                    <a:pt x="0" y="155448"/>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9" name="Chip · LIVE"/>
          <p:cNvSpPr/>
          <p:nvPr/>
        </p:nvSpPr>
        <p:spPr>
          <a:xfrm>
            <a:off x="1959788" y="2496312"/>
            <a:ext cx="822960" cy="256032"/>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hip dot"/>
          <p:cNvSpPr/>
          <p:nvPr/>
        </p:nvSpPr>
        <p:spPr>
          <a:xfrm>
            <a:off x="2096948" y="2580894"/>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hip text"/>
          <p:cNvSpPr txBox="1"/>
          <p:nvPr/>
        </p:nvSpPr>
        <p:spPr>
          <a:xfrm>
            <a:off x="2279828" y="2496312"/>
            <a:ext cx="36576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FFFFFF"/>
                </a:solidFill>
                <a:latin typeface="JetBrains Mono" pitchFamily="49" charset="0"/>
              </a:rPr>
              <a:t>LIVE</a:t>
            </a:r>
          </a:p>
        </p:txBody>
      </p:sp>
      <p:sp>
        <p:nvSpPr>
          <p:cNvPr id="32" name="Door kind 1"/>
          <p:cNvSpPr txBox="1"/>
          <p:nvPr/>
        </p:nvSpPr>
        <p:spPr>
          <a:xfrm>
            <a:off x="850392" y="3630168"/>
            <a:ext cx="2142668"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RULE</a:t>
            </a:r>
          </a:p>
        </p:txBody>
      </p:sp>
      <p:sp>
        <p:nvSpPr>
          <p:cNvPr id="33" name="Door title 1"/>
          <p:cNvSpPr txBox="1"/>
          <p:nvPr/>
        </p:nvSpPr>
        <p:spPr>
          <a:xfrm>
            <a:off x="850392" y="3886200"/>
            <a:ext cx="2142668" cy="329184"/>
          </a:xfrm>
          <a:prstGeom prst="rect">
            <a:avLst/>
          </a:prstGeom>
          <a:noFill/>
        </p:spPr>
        <p:txBody>
          <a:bodyPr wrap="square" lIns="0" rIns="0" tIns="0" bIns="0" anchor="t">
            <a:noAutofit/>
          </a:bodyPr>
          <a:lstStyle/>
          <a:p>
            <a:pPr algn="l">
              <a:lnSpc>
                <a:spcPct val="105000"/>
              </a:lnSpc>
              <a:spcBef>
                <a:spcPts val="0"/>
              </a:spcBef>
              <a:spcAft>
                <a:spcPts val="0"/>
              </a:spcAft>
            </a:pPr>
            <a:r>
              <a:rPr sz="1500" b="1" i="0" lang="en-US">
                <a:solidFill>
                  <a:srgbClr val="FFFFFF"/>
                </a:solidFill>
                <a:latin typeface="Archivo" pitchFamily="34" charset="0"/>
              </a:rPr>
              <a:t>Compose a rule</a:t>
            </a:r>
          </a:p>
        </p:txBody>
      </p:sp>
      <p:sp>
        <p:nvSpPr>
          <p:cNvPr id="34" name="Door text 1"/>
          <p:cNvSpPr txBox="1"/>
          <p:nvPr/>
        </p:nvSpPr>
        <p:spPr>
          <a:xfrm>
            <a:off x="850392" y="4270248"/>
            <a:ext cx="2142668" cy="1005840"/>
          </a:xfrm>
          <a:prstGeom prst="rect">
            <a:avLst/>
          </a:prstGeom>
          <a:noFill/>
        </p:spPr>
        <p:txBody>
          <a:bodyPr wrap="square" lIns="0" rIns="0" tIns="0" bIns="0" anchor="t">
            <a:noAutofit/>
          </a:bodyPr>
          <a:lstStyle/>
          <a:p>
            <a:pPr algn="l">
              <a:lnSpc>
                <a:spcPct val="125000"/>
              </a:lnSpc>
              <a:spcBef>
                <a:spcPts val="0"/>
              </a:spcBef>
              <a:spcAft>
                <a:spcPts val="0"/>
              </a:spcAft>
            </a:pPr>
            <a:r>
              <a:rPr sz="1150" b="0" i="0" lang="en-US">
                <a:solidFill>
                  <a:srgbClr val="C9BDF2"/>
                </a:solidFill>
                <a:latin typeface="Inter" pitchFamily="34" charset="0"/>
              </a:rPr>
              <a:t>Pick features, combine conditions, size positions. Our engine runs it and publishes it.</a:t>
            </a:r>
          </a:p>
        </p:txBody>
      </p:sp>
      <p:sp>
        <p:nvSpPr>
          <p:cNvPr id="35" name="Door card 2"/>
          <p:cNvSpPr/>
          <p:nvPr/>
        </p:nvSpPr>
        <p:spPr>
          <a:xfrm>
            <a:off x="3395396" y="2240280"/>
            <a:ext cx="2599868" cy="3154680"/>
          </a:xfrm>
          <a:prstGeom prst="roundRect">
            <a:avLst>
              <a:gd name="adj" fmla="val 84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6" name="Portal 2 · FEED"/>
          <p:cNvGrpSpPr/>
          <p:nvPr/>
        </p:nvGrpSpPr>
        <p:grpSpPr>
          <a:xfrm>
            <a:off x="3267380" y="2293315"/>
            <a:ext cx="1554480" cy="1554480"/>
            <a:chOff x="3267380" y="2293315"/>
            <a:chExt cx="1554480" cy="1554480"/>
          </a:xfrm>
        </p:grpSpPr>
        <p:grpSp>
          <p:nvGrpSpPr>
            <p:cNvPr id="37" name="Portal glow"/>
            <p:cNvGrpSpPr/>
            <p:nvPr/>
          </p:nvGrpSpPr>
          <p:grpSpPr>
            <a:xfrm>
              <a:off x="3267380" y="2293315"/>
              <a:ext cx="1554480" cy="1554480"/>
              <a:chOff x="3267380" y="2293315"/>
              <a:chExt cx="1554480" cy="1554480"/>
            </a:xfrm>
          </p:grpSpPr>
          <p:sp>
            <p:nvSpPr>
              <p:cNvPr id="38" name="Portal glow 1"/>
              <p:cNvSpPr/>
              <p:nvPr/>
            </p:nvSpPr>
            <p:spPr>
              <a:xfrm>
                <a:off x="3267380" y="2293315"/>
                <a:ext cx="1554480" cy="1554480"/>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ortal glow 2"/>
              <p:cNvSpPr/>
              <p:nvPr/>
            </p:nvSpPr>
            <p:spPr>
              <a:xfrm>
                <a:off x="3322384" y="2348320"/>
                <a:ext cx="1444471" cy="1444471"/>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ortal glow 3"/>
              <p:cNvSpPr/>
              <p:nvPr/>
            </p:nvSpPr>
            <p:spPr>
              <a:xfrm>
                <a:off x="3377389" y="2403325"/>
                <a:ext cx="1334461" cy="1334461"/>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ortal glow 4"/>
              <p:cNvSpPr/>
              <p:nvPr/>
            </p:nvSpPr>
            <p:spPr>
              <a:xfrm>
                <a:off x="3432394" y="2458329"/>
                <a:ext cx="1224452" cy="1224452"/>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ortal glow 5"/>
              <p:cNvSpPr/>
              <p:nvPr/>
            </p:nvSpPr>
            <p:spPr>
              <a:xfrm>
                <a:off x="3487399" y="2513334"/>
                <a:ext cx="1114443" cy="1114443"/>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ortal glow 6"/>
              <p:cNvSpPr/>
              <p:nvPr/>
            </p:nvSpPr>
            <p:spPr>
              <a:xfrm>
                <a:off x="3542403" y="2568339"/>
                <a:ext cx="1004433" cy="1004433"/>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ortal glow 7"/>
              <p:cNvSpPr/>
              <p:nvPr/>
            </p:nvSpPr>
            <p:spPr>
              <a:xfrm>
                <a:off x="3597408" y="2623343"/>
                <a:ext cx="894424" cy="894424"/>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ortal glow 8"/>
              <p:cNvSpPr/>
              <p:nvPr/>
            </p:nvSpPr>
            <p:spPr>
              <a:xfrm>
                <a:off x="3652413" y="2678348"/>
                <a:ext cx="784415" cy="784415"/>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ortal glow 9"/>
              <p:cNvSpPr/>
              <p:nvPr/>
            </p:nvSpPr>
            <p:spPr>
              <a:xfrm>
                <a:off x="3707417" y="2733353"/>
                <a:ext cx="674405" cy="674405"/>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ortal glow 10"/>
              <p:cNvSpPr/>
              <p:nvPr/>
            </p:nvSpPr>
            <p:spPr>
              <a:xfrm>
                <a:off x="3762422" y="2788357"/>
                <a:ext cx="564396" cy="564396"/>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ortal glow 11"/>
              <p:cNvSpPr/>
              <p:nvPr/>
            </p:nvSpPr>
            <p:spPr>
              <a:xfrm>
                <a:off x="3817427" y="2843362"/>
                <a:ext cx="454386" cy="454386"/>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ortal glow 12"/>
              <p:cNvSpPr/>
              <p:nvPr/>
            </p:nvSpPr>
            <p:spPr>
              <a:xfrm>
                <a:off x="3872431" y="2898367"/>
                <a:ext cx="344377" cy="344377"/>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ortal glow 13"/>
              <p:cNvSpPr/>
              <p:nvPr/>
            </p:nvSpPr>
            <p:spPr>
              <a:xfrm>
                <a:off x="3927436" y="2953371"/>
                <a:ext cx="234368" cy="234368"/>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ortal glow 14"/>
              <p:cNvSpPr/>
              <p:nvPr/>
            </p:nvSpPr>
            <p:spPr>
              <a:xfrm>
                <a:off x="3982441" y="3008376"/>
                <a:ext cx="124358" cy="124358"/>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52" name="Portal"/>
            <p:cNvSpPr/>
            <p:nvPr/>
          </p:nvSpPr>
          <p:spPr>
            <a:xfrm>
              <a:off x="3651428" y="2478024"/>
              <a:ext cx="786384" cy="987552"/>
            </a:xfrm>
            <a:custGeom>
              <a:avLst/>
              <a:gdLst/>
              <a:ahLst/>
              <a:cxnLst/>
              <a:rect l="l" t="t" r="r" b="b"/>
              <a:pathLst>
                <a:path w="786384" h="987552">
                  <a:moveTo>
                    <a:pt x="0" y="393192"/>
                  </a:moveTo>
                  <a:lnTo>
                    <a:pt x="3364" y="341870"/>
                  </a:lnTo>
                  <a:lnTo>
                    <a:pt x="13397" y="291426"/>
                  </a:lnTo>
                  <a:lnTo>
                    <a:pt x="29930" y="242724"/>
                  </a:lnTo>
                  <a:lnTo>
                    <a:pt x="52678" y="196596"/>
                  </a:lnTo>
                  <a:lnTo>
                    <a:pt x="81252" y="153832"/>
                  </a:lnTo>
                  <a:lnTo>
                    <a:pt x="115163" y="115163"/>
                  </a:lnTo>
                  <a:lnTo>
                    <a:pt x="153832" y="81252"/>
                  </a:lnTo>
                  <a:lnTo>
                    <a:pt x="196596" y="52678"/>
                  </a:lnTo>
                  <a:lnTo>
                    <a:pt x="242724" y="29930"/>
                  </a:lnTo>
                  <a:lnTo>
                    <a:pt x="291426" y="13398"/>
                  </a:lnTo>
                  <a:lnTo>
                    <a:pt x="341870" y="3364"/>
                  </a:lnTo>
                  <a:lnTo>
                    <a:pt x="393192" y="0"/>
                  </a:lnTo>
                  <a:lnTo>
                    <a:pt x="444514" y="3364"/>
                  </a:lnTo>
                  <a:lnTo>
                    <a:pt x="494957" y="13398"/>
                  </a:lnTo>
                  <a:lnTo>
                    <a:pt x="543660" y="29930"/>
                  </a:lnTo>
                  <a:lnTo>
                    <a:pt x="589788" y="52678"/>
                  </a:lnTo>
                  <a:lnTo>
                    <a:pt x="632552" y="81252"/>
                  </a:lnTo>
                  <a:lnTo>
                    <a:pt x="671221" y="115163"/>
                  </a:lnTo>
                  <a:lnTo>
                    <a:pt x="705132" y="153832"/>
                  </a:lnTo>
                  <a:lnTo>
                    <a:pt x="733706" y="196596"/>
                  </a:lnTo>
                  <a:lnTo>
                    <a:pt x="756454" y="242724"/>
                  </a:lnTo>
                  <a:lnTo>
                    <a:pt x="772986" y="291426"/>
                  </a:lnTo>
                  <a:lnTo>
                    <a:pt x="783020" y="341870"/>
                  </a:lnTo>
                  <a:lnTo>
                    <a:pt x="786384" y="393192"/>
                  </a:lnTo>
                  <a:lnTo>
                    <a:pt x="786384" y="987552"/>
                  </a:lnTo>
                  <a:lnTo>
                    <a:pt x="0" y="987552"/>
                  </a:lnTo>
                  <a:close/>
                </a:path>
              </a:pathLst>
            </a:custGeom>
            <a:solidFill>
              <a:srgbClr val="6E4BFF">
                <a:alpha val="22000"/>
              </a:srgbClr>
            </a:solidFill>
            <a:ln w="20320" cap="rnd">
              <a:solidFill>
                <a:srgbClr val="9D86FF">
                  <a:alpha val="95000"/>
                </a:srgbClr>
              </a:solidFill>
              <a:round/>
            </a:ln>
            <a:effectLst>
              <a:glow rad="88900">
                <a:srgbClr val="9D86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lock entering · kiri"/>
            <p:cNvSpPr/>
            <p:nvPr/>
          </p:nvSpPr>
          <p:spPr>
            <a:xfrm>
              <a:off x="3775376" y="2944368"/>
              <a:ext cx="269244" cy="466344"/>
            </a:xfrm>
            <a:custGeom>
              <a:avLst/>
              <a:gdLst/>
              <a:ahLst/>
              <a:cxnLst/>
              <a:rect l="l" t="t" r="r" b="b"/>
              <a:pathLst>
                <a:path w="269244" h="466344">
                  <a:moveTo>
                    <a:pt x="0" y="310896"/>
                  </a:moveTo>
                  <a:lnTo>
                    <a:pt x="269244" y="466344"/>
                  </a:lnTo>
                  <a:lnTo>
                    <a:pt x="269244" y="155448"/>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lock entering · kanan"/>
            <p:cNvSpPr/>
            <p:nvPr/>
          </p:nvSpPr>
          <p:spPr>
            <a:xfrm>
              <a:off x="4044620" y="2944368"/>
              <a:ext cx="269244" cy="466344"/>
            </a:xfrm>
            <a:custGeom>
              <a:avLst/>
              <a:gdLst/>
              <a:ahLst/>
              <a:cxnLst/>
              <a:rect l="l" t="t" r="r" b="b"/>
              <a:pathLst>
                <a:path w="269244" h="466344">
                  <a:moveTo>
                    <a:pt x="269244" y="310896"/>
                  </a:moveTo>
                  <a:lnTo>
                    <a:pt x="0" y="466344"/>
                  </a:lnTo>
                  <a:lnTo>
                    <a:pt x="0" y="155448"/>
                  </a:lnTo>
                  <a:lnTo>
                    <a:pt x="269244"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lock entering · atas"/>
            <p:cNvSpPr/>
            <p:nvPr/>
          </p:nvSpPr>
          <p:spPr>
            <a:xfrm>
              <a:off x="3775376" y="2788920"/>
              <a:ext cx="538488" cy="310896"/>
            </a:xfrm>
            <a:custGeom>
              <a:avLst/>
              <a:gdLst/>
              <a:ahLst/>
              <a:cxnLst/>
              <a:rect l="l" t="t" r="r" b="b"/>
              <a:pathLst>
                <a:path w="538488" h="310896">
                  <a:moveTo>
                    <a:pt x="269244" y="0"/>
                  </a:moveTo>
                  <a:lnTo>
                    <a:pt x="538488" y="155448"/>
                  </a:lnTo>
                  <a:lnTo>
                    <a:pt x="269244" y="310896"/>
                  </a:lnTo>
                  <a:lnTo>
                    <a:pt x="0" y="155448"/>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56" name="Chip · LIVE"/>
          <p:cNvSpPr/>
          <p:nvPr/>
        </p:nvSpPr>
        <p:spPr>
          <a:xfrm>
            <a:off x="4760824" y="2496312"/>
            <a:ext cx="822960" cy="256032"/>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hip dot"/>
          <p:cNvSpPr/>
          <p:nvPr/>
        </p:nvSpPr>
        <p:spPr>
          <a:xfrm>
            <a:off x="4897984" y="2580894"/>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hip text"/>
          <p:cNvSpPr txBox="1"/>
          <p:nvPr/>
        </p:nvSpPr>
        <p:spPr>
          <a:xfrm>
            <a:off x="5080864" y="2496312"/>
            <a:ext cx="36576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FFFFFF"/>
                </a:solidFill>
                <a:latin typeface="JetBrains Mono" pitchFamily="49" charset="0"/>
              </a:rPr>
              <a:t>LIVE</a:t>
            </a:r>
          </a:p>
        </p:txBody>
      </p:sp>
      <p:sp>
        <p:nvSpPr>
          <p:cNvPr id="59" name="Door kind 2"/>
          <p:cNvSpPr txBox="1"/>
          <p:nvPr/>
        </p:nvSpPr>
        <p:spPr>
          <a:xfrm>
            <a:off x="3651428" y="3630168"/>
            <a:ext cx="2142668"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FEED</a:t>
            </a:r>
          </a:p>
        </p:txBody>
      </p:sp>
      <p:sp>
        <p:nvSpPr>
          <p:cNvPr id="60" name="Door title 2"/>
          <p:cNvSpPr txBox="1"/>
          <p:nvPr/>
        </p:nvSpPr>
        <p:spPr>
          <a:xfrm>
            <a:off x="3651428" y="3886200"/>
            <a:ext cx="2142668" cy="329184"/>
          </a:xfrm>
          <a:prstGeom prst="rect">
            <a:avLst/>
          </a:prstGeom>
          <a:noFill/>
        </p:spPr>
        <p:txBody>
          <a:bodyPr wrap="square" lIns="0" rIns="0" tIns="0" bIns="0" anchor="t">
            <a:noAutofit/>
          </a:bodyPr>
          <a:lstStyle/>
          <a:p>
            <a:pPr algn="l">
              <a:lnSpc>
                <a:spcPct val="105000"/>
              </a:lnSpc>
              <a:spcBef>
                <a:spcPts val="0"/>
              </a:spcBef>
              <a:spcAft>
                <a:spcPts val="0"/>
              </a:spcAft>
            </a:pPr>
            <a:r>
              <a:rPr sz="1500" b="1" i="0" lang="en-US">
                <a:solidFill>
                  <a:srgbClr val="FFFFFF"/>
                </a:solidFill>
                <a:latin typeface="Archivo" pitchFamily="34" charset="0"/>
              </a:rPr>
              <a:t>Run your own program</a:t>
            </a:r>
          </a:p>
        </p:txBody>
      </p:sp>
      <p:sp>
        <p:nvSpPr>
          <p:cNvPr id="61" name="Door text 2"/>
          <p:cNvSpPr txBox="1"/>
          <p:nvPr/>
        </p:nvSpPr>
        <p:spPr>
          <a:xfrm>
            <a:off x="3651428" y="4270248"/>
            <a:ext cx="2142668" cy="1005840"/>
          </a:xfrm>
          <a:prstGeom prst="rect">
            <a:avLst/>
          </a:prstGeom>
          <a:noFill/>
        </p:spPr>
        <p:txBody>
          <a:bodyPr wrap="square" lIns="0" rIns="0" tIns="0" bIns="0" anchor="t">
            <a:noAutofit/>
          </a:bodyPr>
          <a:lstStyle/>
          <a:p>
            <a:pPr algn="l">
              <a:lnSpc>
                <a:spcPct val="125000"/>
              </a:lnSpc>
              <a:spcBef>
                <a:spcPts val="0"/>
              </a:spcBef>
              <a:spcAft>
                <a:spcPts val="0"/>
              </a:spcAft>
            </a:pPr>
            <a:r>
              <a:rPr sz="1150" b="0" i="0" lang="en-US">
                <a:solidFill>
                  <a:srgbClr val="C9BDF2"/>
                </a:solidFill>
                <a:latin typeface="Inter" pitchFamily="34" charset="0"/>
              </a:rPr>
              <a:t>Commit signed target weights before each daily close. Judged on forward evidence only.</a:t>
            </a:r>
          </a:p>
        </p:txBody>
      </p:sp>
      <p:sp>
        <p:nvSpPr>
          <p:cNvPr id="62" name="Door card 3"/>
          <p:cNvSpPr/>
          <p:nvPr/>
        </p:nvSpPr>
        <p:spPr>
          <a:xfrm>
            <a:off x="6196432" y="2240280"/>
            <a:ext cx="2599868" cy="3154680"/>
          </a:xfrm>
          <a:prstGeom prst="roundRect">
            <a:avLst>
              <a:gd name="adj" fmla="val 84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3" name="Portal 3 · AGENT"/>
          <p:cNvGrpSpPr/>
          <p:nvPr/>
        </p:nvGrpSpPr>
        <p:grpSpPr>
          <a:xfrm>
            <a:off x="6068416" y="2293315"/>
            <a:ext cx="1554480" cy="1554480"/>
            <a:chOff x="6068416" y="2293315"/>
            <a:chExt cx="1554480" cy="1554480"/>
          </a:xfrm>
        </p:grpSpPr>
        <p:grpSp>
          <p:nvGrpSpPr>
            <p:cNvPr id="64" name="Portal glow"/>
            <p:cNvGrpSpPr/>
            <p:nvPr/>
          </p:nvGrpSpPr>
          <p:grpSpPr>
            <a:xfrm>
              <a:off x="6068416" y="2293315"/>
              <a:ext cx="1554480" cy="1554480"/>
              <a:chOff x="6068416" y="2293315"/>
              <a:chExt cx="1554480" cy="1554480"/>
            </a:xfrm>
          </p:grpSpPr>
          <p:sp>
            <p:nvSpPr>
              <p:cNvPr id="65" name="Portal glow 1"/>
              <p:cNvSpPr/>
              <p:nvPr/>
            </p:nvSpPr>
            <p:spPr>
              <a:xfrm>
                <a:off x="6068416" y="2293315"/>
                <a:ext cx="1554480" cy="1554480"/>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ortal glow 2"/>
              <p:cNvSpPr/>
              <p:nvPr/>
            </p:nvSpPr>
            <p:spPr>
              <a:xfrm>
                <a:off x="6123420" y="2348320"/>
                <a:ext cx="1444471" cy="1444471"/>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ortal glow 3"/>
              <p:cNvSpPr/>
              <p:nvPr/>
            </p:nvSpPr>
            <p:spPr>
              <a:xfrm>
                <a:off x="6178425" y="2403325"/>
                <a:ext cx="1334461" cy="1334461"/>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ortal glow 4"/>
              <p:cNvSpPr/>
              <p:nvPr/>
            </p:nvSpPr>
            <p:spPr>
              <a:xfrm>
                <a:off x="6233430" y="2458329"/>
                <a:ext cx="1224452" cy="1224452"/>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ortal glow 5"/>
              <p:cNvSpPr/>
              <p:nvPr/>
            </p:nvSpPr>
            <p:spPr>
              <a:xfrm>
                <a:off x="6288434" y="2513334"/>
                <a:ext cx="1114443" cy="1114443"/>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ortal glow 6"/>
              <p:cNvSpPr/>
              <p:nvPr/>
            </p:nvSpPr>
            <p:spPr>
              <a:xfrm>
                <a:off x="6343439" y="2568339"/>
                <a:ext cx="1004433" cy="1004433"/>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ortal glow 7"/>
              <p:cNvSpPr/>
              <p:nvPr/>
            </p:nvSpPr>
            <p:spPr>
              <a:xfrm>
                <a:off x="6398444" y="2623343"/>
                <a:ext cx="894424" cy="894424"/>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ortal glow 8"/>
              <p:cNvSpPr/>
              <p:nvPr/>
            </p:nvSpPr>
            <p:spPr>
              <a:xfrm>
                <a:off x="6453448" y="2678348"/>
                <a:ext cx="784415" cy="784415"/>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ortal glow 9"/>
              <p:cNvSpPr/>
              <p:nvPr/>
            </p:nvSpPr>
            <p:spPr>
              <a:xfrm>
                <a:off x="6508453" y="2733353"/>
                <a:ext cx="674405" cy="674405"/>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ortal glow 10"/>
              <p:cNvSpPr/>
              <p:nvPr/>
            </p:nvSpPr>
            <p:spPr>
              <a:xfrm>
                <a:off x="6563458" y="2788357"/>
                <a:ext cx="564396" cy="564396"/>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ortal glow 11"/>
              <p:cNvSpPr/>
              <p:nvPr/>
            </p:nvSpPr>
            <p:spPr>
              <a:xfrm>
                <a:off x="6618462" y="2843362"/>
                <a:ext cx="454386" cy="454386"/>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ortal glow 12"/>
              <p:cNvSpPr/>
              <p:nvPr/>
            </p:nvSpPr>
            <p:spPr>
              <a:xfrm>
                <a:off x="6673467" y="2898367"/>
                <a:ext cx="344377" cy="344377"/>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ortal glow 13"/>
              <p:cNvSpPr/>
              <p:nvPr/>
            </p:nvSpPr>
            <p:spPr>
              <a:xfrm>
                <a:off x="6728472" y="2953371"/>
                <a:ext cx="234368" cy="234368"/>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ortal glow 14"/>
              <p:cNvSpPr/>
              <p:nvPr/>
            </p:nvSpPr>
            <p:spPr>
              <a:xfrm>
                <a:off x="6783476" y="3008376"/>
                <a:ext cx="124358" cy="124358"/>
              </a:xfrm>
              <a:prstGeom prst="ellipse">
                <a:avLst/>
              </a:prstGeom>
              <a:solidFill>
                <a:srgbClr val="6E4BFF">
                  <a:alpha val="2515"/>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79" name="Portal"/>
            <p:cNvSpPr/>
            <p:nvPr/>
          </p:nvSpPr>
          <p:spPr>
            <a:xfrm>
              <a:off x="6452464" y="2478024"/>
              <a:ext cx="786384" cy="987552"/>
            </a:xfrm>
            <a:custGeom>
              <a:avLst/>
              <a:gdLst/>
              <a:ahLst/>
              <a:cxnLst/>
              <a:rect l="l" t="t" r="r" b="b"/>
              <a:pathLst>
                <a:path w="786384" h="987552">
                  <a:moveTo>
                    <a:pt x="0" y="393192"/>
                  </a:moveTo>
                  <a:lnTo>
                    <a:pt x="3363" y="341870"/>
                  </a:lnTo>
                  <a:lnTo>
                    <a:pt x="13397" y="291426"/>
                  </a:lnTo>
                  <a:lnTo>
                    <a:pt x="29930" y="242724"/>
                  </a:lnTo>
                  <a:lnTo>
                    <a:pt x="52677" y="196596"/>
                  </a:lnTo>
                  <a:lnTo>
                    <a:pt x="81251" y="153832"/>
                  </a:lnTo>
                  <a:lnTo>
                    <a:pt x="115163" y="115163"/>
                  </a:lnTo>
                  <a:lnTo>
                    <a:pt x="153831" y="81252"/>
                  </a:lnTo>
                  <a:lnTo>
                    <a:pt x="196596" y="52678"/>
                  </a:lnTo>
                  <a:lnTo>
                    <a:pt x="242724" y="29930"/>
                  </a:lnTo>
                  <a:lnTo>
                    <a:pt x="291426" y="13398"/>
                  </a:lnTo>
                  <a:lnTo>
                    <a:pt x="341870" y="3364"/>
                  </a:lnTo>
                  <a:lnTo>
                    <a:pt x="393192" y="0"/>
                  </a:lnTo>
                  <a:lnTo>
                    <a:pt x="444513" y="3364"/>
                  </a:lnTo>
                  <a:lnTo>
                    <a:pt x="494957" y="13398"/>
                  </a:lnTo>
                  <a:lnTo>
                    <a:pt x="543660" y="29930"/>
                  </a:lnTo>
                  <a:lnTo>
                    <a:pt x="589788" y="52678"/>
                  </a:lnTo>
                  <a:lnTo>
                    <a:pt x="632552" y="81252"/>
                  </a:lnTo>
                  <a:lnTo>
                    <a:pt x="671220" y="115163"/>
                  </a:lnTo>
                  <a:lnTo>
                    <a:pt x="705132" y="153832"/>
                  </a:lnTo>
                  <a:lnTo>
                    <a:pt x="733706" y="196596"/>
                  </a:lnTo>
                  <a:lnTo>
                    <a:pt x="756454" y="242724"/>
                  </a:lnTo>
                  <a:lnTo>
                    <a:pt x="772986" y="291426"/>
                  </a:lnTo>
                  <a:lnTo>
                    <a:pt x="783020" y="341870"/>
                  </a:lnTo>
                  <a:lnTo>
                    <a:pt x="786384" y="393192"/>
                  </a:lnTo>
                  <a:lnTo>
                    <a:pt x="786384" y="987552"/>
                  </a:lnTo>
                  <a:lnTo>
                    <a:pt x="0" y="987552"/>
                  </a:lnTo>
                  <a:close/>
                </a:path>
              </a:pathLst>
            </a:custGeom>
            <a:solidFill>
              <a:srgbClr val="6E4BFF">
                <a:alpha val="22000"/>
              </a:srgbClr>
            </a:solidFill>
            <a:ln w="20320" cap="rnd">
              <a:solidFill>
                <a:srgbClr val="9D86FF">
                  <a:alpha val="95000"/>
                </a:srgbClr>
              </a:solidFill>
              <a:round/>
            </a:ln>
            <a:effectLst>
              <a:glow rad="88900">
                <a:srgbClr val="9D86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Block entering · kiri"/>
            <p:cNvSpPr/>
            <p:nvPr/>
          </p:nvSpPr>
          <p:spPr>
            <a:xfrm>
              <a:off x="6576412" y="2944368"/>
              <a:ext cx="269244" cy="466344"/>
            </a:xfrm>
            <a:custGeom>
              <a:avLst/>
              <a:gdLst/>
              <a:ahLst/>
              <a:cxnLst/>
              <a:rect l="l" t="t" r="r" b="b"/>
              <a:pathLst>
                <a:path w="269244" h="466344">
                  <a:moveTo>
                    <a:pt x="0" y="310896"/>
                  </a:moveTo>
                  <a:lnTo>
                    <a:pt x="269244" y="466344"/>
                  </a:lnTo>
                  <a:lnTo>
                    <a:pt x="269244" y="155448"/>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lock entering · kanan"/>
            <p:cNvSpPr/>
            <p:nvPr/>
          </p:nvSpPr>
          <p:spPr>
            <a:xfrm>
              <a:off x="6845656" y="2944368"/>
              <a:ext cx="269243" cy="466344"/>
            </a:xfrm>
            <a:custGeom>
              <a:avLst/>
              <a:gdLst/>
              <a:ahLst/>
              <a:cxnLst/>
              <a:rect l="l" t="t" r="r" b="b"/>
              <a:pathLst>
                <a:path w="269243" h="466344">
                  <a:moveTo>
                    <a:pt x="269243" y="310896"/>
                  </a:moveTo>
                  <a:lnTo>
                    <a:pt x="0" y="466344"/>
                  </a:lnTo>
                  <a:lnTo>
                    <a:pt x="0" y="155448"/>
                  </a:lnTo>
                  <a:lnTo>
                    <a:pt x="269243"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Block entering · atas"/>
            <p:cNvSpPr/>
            <p:nvPr/>
          </p:nvSpPr>
          <p:spPr>
            <a:xfrm>
              <a:off x="6576412" y="2788920"/>
              <a:ext cx="538487" cy="310896"/>
            </a:xfrm>
            <a:custGeom>
              <a:avLst/>
              <a:gdLst/>
              <a:ahLst/>
              <a:cxnLst/>
              <a:rect l="l" t="t" r="r" b="b"/>
              <a:pathLst>
                <a:path w="538487" h="310896">
                  <a:moveTo>
                    <a:pt x="269244" y="0"/>
                  </a:moveTo>
                  <a:lnTo>
                    <a:pt x="538487" y="155448"/>
                  </a:lnTo>
                  <a:lnTo>
                    <a:pt x="269244" y="310896"/>
                  </a:lnTo>
                  <a:lnTo>
                    <a:pt x="0" y="155448"/>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3" name="Chip · LIVE"/>
          <p:cNvSpPr/>
          <p:nvPr/>
        </p:nvSpPr>
        <p:spPr>
          <a:xfrm>
            <a:off x="7561859" y="2496312"/>
            <a:ext cx="822960" cy="256032"/>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hip dot"/>
          <p:cNvSpPr/>
          <p:nvPr/>
        </p:nvSpPr>
        <p:spPr>
          <a:xfrm>
            <a:off x="7699019" y="2580894"/>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hip text"/>
          <p:cNvSpPr txBox="1"/>
          <p:nvPr/>
        </p:nvSpPr>
        <p:spPr>
          <a:xfrm>
            <a:off x="7881899" y="2496312"/>
            <a:ext cx="36576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FFFFFF"/>
                </a:solidFill>
                <a:latin typeface="JetBrains Mono" pitchFamily="49" charset="0"/>
              </a:rPr>
              <a:t>LIVE</a:t>
            </a:r>
          </a:p>
        </p:txBody>
      </p:sp>
      <p:sp>
        <p:nvSpPr>
          <p:cNvPr id="86" name="Door kind 3"/>
          <p:cNvSpPr txBox="1"/>
          <p:nvPr/>
        </p:nvSpPr>
        <p:spPr>
          <a:xfrm>
            <a:off x="6452464" y="3630168"/>
            <a:ext cx="2142668"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AGENT</a:t>
            </a:r>
          </a:p>
        </p:txBody>
      </p:sp>
      <p:sp>
        <p:nvSpPr>
          <p:cNvPr id="87" name="Door title 3"/>
          <p:cNvSpPr txBox="1"/>
          <p:nvPr/>
        </p:nvSpPr>
        <p:spPr>
          <a:xfrm>
            <a:off x="6452464" y="3886200"/>
            <a:ext cx="2142668" cy="329184"/>
          </a:xfrm>
          <a:prstGeom prst="rect">
            <a:avLst/>
          </a:prstGeom>
          <a:noFill/>
        </p:spPr>
        <p:txBody>
          <a:bodyPr wrap="square" lIns="0" rIns="0" tIns="0" bIns="0" anchor="t">
            <a:noAutofit/>
          </a:bodyPr>
          <a:lstStyle/>
          <a:p>
            <a:pPr algn="l">
              <a:lnSpc>
                <a:spcPct val="105000"/>
              </a:lnSpc>
              <a:spcBef>
                <a:spcPts val="0"/>
              </a:spcBef>
              <a:spcAft>
                <a:spcPts val="0"/>
              </a:spcAft>
            </a:pPr>
            <a:r>
              <a:rPr sz="1500" b="1" i="0" lang="en-US">
                <a:solidFill>
                  <a:srgbClr val="FFFFFF"/>
                </a:solidFill>
                <a:latin typeface="Archivo" pitchFamily="34" charset="0"/>
              </a:rPr>
              <a:t>Seat an AI analyst</a:t>
            </a:r>
          </a:p>
        </p:txBody>
      </p:sp>
      <p:sp>
        <p:nvSpPr>
          <p:cNvPr id="88" name="Door text 3"/>
          <p:cNvSpPr txBox="1"/>
          <p:nvPr/>
        </p:nvSpPr>
        <p:spPr>
          <a:xfrm>
            <a:off x="6452464" y="4270248"/>
            <a:ext cx="2142668" cy="1005840"/>
          </a:xfrm>
          <a:prstGeom prst="rect">
            <a:avLst/>
          </a:prstGeom>
          <a:noFill/>
        </p:spPr>
        <p:txBody>
          <a:bodyPr wrap="square" lIns="0" rIns="0" tIns="0" bIns="0" anchor="t">
            <a:noAutofit/>
          </a:bodyPr>
          <a:lstStyle/>
          <a:p>
            <a:pPr algn="l">
              <a:lnSpc>
                <a:spcPct val="125000"/>
              </a:lnSpc>
              <a:spcBef>
                <a:spcPts val="0"/>
              </a:spcBef>
              <a:spcAft>
                <a:spcPts val="0"/>
              </a:spcAft>
            </a:pPr>
            <a:r>
              <a:rPr sz="1150" b="0" i="0" lang="en-US">
                <a:solidFill>
                  <a:srgbClr val="C9BDF2"/>
                </a:solidFill>
                <a:latin typeface="Inter" pitchFamily="34" charset="0"/>
              </a:rPr>
              <a:t>Register an ERC-8004 agent for the desk. It starts in a trial seat and earns its place.</a:t>
            </a:r>
          </a:p>
        </p:txBody>
      </p:sp>
      <p:sp>
        <p:nvSpPr>
          <p:cNvPr id="89" name="Door card 4"/>
          <p:cNvSpPr/>
          <p:nvPr/>
        </p:nvSpPr>
        <p:spPr>
          <a:xfrm>
            <a:off x="8997467" y="2240280"/>
            <a:ext cx="2599868" cy="3154680"/>
          </a:xfrm>
          <a:prstGeom prst="roundRect">
            <a:avLst>
              <a:gd name="adj" fmla="val 8441"/>
            </a:avLst>
          </a:prstGeom>
          <a:gradFill rotWithShape="1">
            <a:gsLst>
              <a:gs pos="0">
                <a:srgbClr val="FFFFFF">
                  <a:alpha val="10000"/>
                </a:srgbClr>
              </a:gs>
              <a:gs pos="100000">
                <a:srgbClr val="FFFFFF">
                  <a:alpha val="2500"/>
                </a:srgbClr>
              </a:gs>
            </a:gsLst>
            <a:lin ang="8100000" scaled="0"/>
          </a:gradFill>
          <a:ln w="9525" cap="rnd">
            <a:solidFill>
              <a:srgbClr val="8B86A6">
                <a:alpha val="60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0" name="Portal 4 · CODE"/>
          <p:cNvGrpSpPr/>
          <p:nvPr/>
        </p:nvGrpSpPr>
        <p:grpSpPr>
          <a:xfrm>
            <a:off x="0" y="0"/>
            <a:ext cx="0" cy="0"/>
            <a:chOff x="0" y="0"/>
            <a:chExt cx="0" cy="0"/>
          </a:xfrm>
        </p:grpSpPr>
        <p:sp>
          <p:nvSpPr>
            <p:cNvPr id="91" name="Portal"/>
            <p:cNvSpPr/>
            <p:nvPr/>
          </p:nvSpPr>
          <p:spPr>
            <a:xfrm>
              <a:off x="9253499" y="2478024"/>
              <a:ext cx="786384" cy="987552"/>
            </a:xfrm>
            <a:custGeom>
              <a:avLst/>
              <a:gdLst/>
              <a:ahLst/>
              <a:cxnLst/>
              <a:rect l="l" t="t" r="r" b="b"/>
              <a:pathLst>
                <a:path w="786384" h="987552">
                  <a:moveTo>
                    <a:pt x="0" y="393192"/>
                  </a:moveTo>
                  <a:lnTo>
                    <a:pt x="3364" y="341870"/>
                  </a:lnTo>
                  <a:lnTo>
                    <a:pt x="13398" y="291426"/>
                  </a:lnTo>
                  <a:lnTo>
                    <a:pt x="29930" y="242724"/>
                  </a:lnTo>
                  <a:lnTo>
                    <a:pt x="52678" y="196596"/>
                  </a:lnTo>
                  <a:lnTo>
                    <a:pt x="81252" y="153832"/>
                  </a:lnTo>
                  <a:lnTo>
                    <a:pt x="115164" y="115163"/>
                  </a:lnTo>
                  <a:lnTo>
                    <a:pt x="153832" y="81252"/>
                  </a:lnTo>
                  <a:lnTo>
                    <a:pt x="196596" y="52678"/>
                  </a:lnTo>
                  <a:lnTo>
                    <a:pt x="242724" y="29930"/>
                  </a:lnTo>
                  <a:lnTo>
                    <a:pt x="291427" y="13398"/>
                  </a:lnTo>
                  <a:lnTo>
                    <a:pt x="341871" y="3364"/>
                  </a:lnTo>
                  <a:lnTo>
                    <a:pt x="393192" y="0"/>
                  </a:lnTo>
                  <a:lnTo>
                    <a:pt x="444514" y="3364"/>
                  </a:lnTo>
                  <a:lnTo>
                    <a:pt x="494958" y="13398"/>
                  </a:lnTo>
                  <a:lnTo>
                    <a:pt x="543660" y="29930"/>
                  </a:lnTo>
                  <a:lnTo>
                    <a:pt x="589788" y="52678"/>
                  </a:lnTo>
                  <a:lnTo>
                    <a:pt x="632553" y="81252"/>
                  </a:lnTo>
                  <a:lnTo>
                    <a:pt x="671221" y="115163"/>
                  </a:lnTo>
                  <a:lnTo>
                    <a:pt x="705133" y="153832"/>
                  </a:lnTo>
                  <a:lnTo>
                    <a:pt x="733707" y="196596"/>
                  </a:lnTo>
                  <a:lnTo>
                    <a:pt x="756454" y="242724"/>
                  </a:lnTo>
                  <a:lnTo>
                    <a:pt x="772987" y="291426"/>
                  </a:lnTo>
                  <a:lnTo>
                    <a:pt x="783021" y="341870"/>
                  </a:lnTo>
                  <a:lnTo>
                    <a:pt x="786384" y="393192"/>
                  </a:lnTo>
                  <a:lnTo>
                    <a:pt x="786384" y="987552"/>
                  </a:lnTo>
                  <a:lnTo>
                    <a:pt x="0" y="987552"/>
                  </a:lnTo>
                  <a:close/>
                </a:path>
              </a:pathLst>
            </a:custGeom>
            <a:solidFill>
              <a:srgbClr val="FFFFFF">
                <a:alpha val="4000"/>
              </a:srgbClr>
            </a:solidFill>
            <a:ln w="20320" cap="rnd">
              <a:solidFill>
                <a:srgbClr val="8B86A6">
                  <a:alpha val="80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Block entering · kiri"/>
            <p:cNvSpPr/>
            <p:nvPr/>
          </p:nvSpPr>
          <p:spPr>
            <a:xfrm>
              <a:off x="9377448" y="2944368"/>
              <a:ext cx="269243" cy="466344"/>
            </a:xfrm>
            <a:custGeom>
              <a:avLst/>
              <a:gdLst/>
              <a:ahLst/>
              <a:cxnLst/>
              <a:rect l="l" t="t" r="r" b="b"/>
              <a:pathLst>
                <a:path w="269243" h="466344">
                  <a:moveTo>
                    <a:pt x="0" y="310896"/>
                  </a:moveTo>
                  <a:lnTo>
                    <a:pt x="269243" y="466344"/>
                  </a:lnTo>
                  <a:lnTo>
                    <a:pt x="269243" y="155448"/>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lock entering · kanan"/>
            <p:cNvSpPr/>
            <p:nvPr/>
          </p:nvSpPr>
          <p:spPr>
            <a:xfrm>
              <a:off x="9646691" y="2944368"/>
              <a:ext cx="269244" cy="466344"/>
            </a:xfrm>
            <a:custGeom>
              <a:avLst/>
              <a:gdLst/>
              <a:ahLst/>
              <a:cxnLst/>
              <a:rect l="l" t="t" r="r" b="b"/>
              <a:pathLst>
                <a:path w="269244" h="466344">
                  <a:moveTo>
                    <a:pt x="269244" y="310896"/>
                  </a:moveTo>
                  <a:lnTo>
                    <a:pt x="0" y="466344"/>
                  </a:lnTo>
                  <a:lnTo>
                    <a:pt x="0" y="155448"/>
                  </a:lnTo>
                  <a:lnTo>
                    <a:pt x="269244"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Block entering · atas"/>
            <p:cNvSpPr/>
            <p:nvPr/>
          </p:nvSpPr>
          <p:spPr>
            <a:xfrm>
              <a:off x="9377448" y="2788920"/>
              <a:ext cx="538487" cy="310896"/>
            </a:xfrm>
            <a:custGeom>
              <a:avLst/>
              <a:gdLst/>
              <a:ahLst/>
              <a:cxnLst/>
              <a:rect l="l" t="t" r="r" b="b"/>
              <a:pathLst>
                <a:path w="538487" h="310896">
                  <a:moveTo>
                    <a:pt x="269243" y="0"/>
                  </a:moveTo>
                  <a:lnTo>
                    <a:pt x="538487" y="155448"/>
                  </a:lnTo>
                  <a:lnTo>
                    <a:pt x="269243" y="310896"/>
                  </a:lnTo>
                  <a:lnTo>
                    <a:pt x="0" y="155448"/>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95" name="Chip · NEXT"/>
          <p:cNvSpPr/>
          <p:nvPr/>
        </p:nvSpPr>
        <p:spPr>
          <a:xfrm>
            <a:off x="10362895" y="2496312"/>
            <a:ext cx="822960" cy="256032"/>
          </a:xfrm>
          <a:prstGeom prst="roundRect">
            <a:avLst>
              <a:gd name="adj" fmla="val 50000"/>
            </a:avLst>
          </a:prstGeom>
          <a:noFill/>
          <a:ln w="11430" cap="rnd">
            <a:solidFill>
              <a:srgbClr val="8B86A6">
                <a:alpha val="75000"/>
              </a:srgbClr>
            </a:solidFill>
            <a:prstDash val="dash"/>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Chip dot"/>
          <p:cNvSpPr/>
          <p:nvPr/>
        </p:nvSpPr>
        <p:spPr>
          <a:xfrm>
            <a:off x="10500055" y="2580894"/>
            <a:ext cx="86868" cy="86868"/>
          </a:xfrm>
          <a:prstGeom prst="ellipse">
            <a:avLst/>
          </a:prstGeom>
          <a:noFill/>
          <a:ln w="11430" cap="rnd">
            <a:solidFill>
              <a:srgbClr val="8B86A6">
                <a:alpha val="9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hip text"/>
          <p:cNvSpPr txBox="1"/>
          <p:nvPr/>
        </p:nvSpPr>
        <p:spPr>
          <a:xfrm>
            <a:off x="10682935" y="2496312"/>
            <a:ext cx="365760" cy="256032"/>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C9BDF2"/>
                </a:solidFill>
                <a:latin typeface="JetBrains Mono" pitchFamily="49" charset="0"/>
              </a:rPr>
              <a:t>NEXT</a:t>
            </a:r>
          </a:p>
        </p:txBody>
      </p:sp>
      <p:sp>
        <p:nvSpPr>
          <p:cNvPr id="98" name="Door kind 4"/>
          <p:cNvSpPr txBox="1"/>
          <p:nvPr/>
        </p:nvSpPr>
        <p:spPr>
          <a:xfrm>
            <a:off x="9253499" y="3630168"/>
            <a:ext cx="2142668"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CODE</a:t>
            </a:r>
          </a:p>
        </p:txBody>
      </p:sp>
      <p:sp>
        <p:nvSpPr>
          <p:cNvPr id="99" name="Door title 4"/>
          <p:cNvSpPr txBox="1"/>
          <p:nvPr/>
        </p:nvSpPr>
        <p:spPr>
          <a:xfrm>
            <a:off x="9253499" y="3886200"/>
            <a:ext cx="2142668" cy="329184"/>
          </a:xfrm>
          <a:prstGeom prst="rect">
            <a:avLst/>
          </a:prstGeom>
          <a:noFill/>
        </p:spPr>
        <p:txBody>
          <a:bodyPr wrap="square" lIns="0" rIns="0" tIns="0" bIns="0" anchor="t">
            <a:noAutofit/>
          </a:bodyPr>
          <a:lstStyle/>
          <a:p>
            <a:pPr algn="l">
              <a:lnSpc>
                <a:spcPct val="105000"/>
              </a:lnSpc>
              <a:spcBef>
                <a:spcPts val="0"/>
              </a:spcBef>
              <a:spcAft>
                <a:spcPts val="0"/>
              </a:spcAft>
            </a:pPr>
            <a:r>
              <a:rPr sz="1500" b="1" i="0" lang="en-US">
                <a:solidFill>
                  <a:srgbClr val="FFFFFF"/>
                </a:solidFill>
                <a:latin typeface="Archivo" pitchFamily="34" charset="0"/>
              </a:rPr>
              <a:t>Ship your own code</a:t>
            </a:r>
          </a:p>
        </p:txBody>
      </p:sp>
      <p:sp>
        <p:nvSpPr>
          <p:cNvPr id="100" name="Door text 4"/>
          <p:cNvSpPr txBox="1"/>
          <p:nvPr/>
        </p:nvSpPr>
        <p:spPr>
          <a:xfrm>
            <a:off x="9253499" y="4270248"/>
            <a:ext cx="2142668" cy="1005840"/>
          </a:xfrm>
          <a:prstGeom prst="rect">
            <a:avLst/>
          </a:prstGeom>
          <a:noFill/>
        </p:spPr>
        <p:txBody>
          <a:bodyPr wrap="square" lIns="0" rIns="0" tIns="0" bIns="0" anchor="t">
            <a:noAutofit/>
          </a:bodyPr>
          <a:lstStyle/>
          <a:p>
            <a:pPr algn="l">
              <a:lnSpc>
                <a:spcPct val="125000"/>
              </a:lnSpc>
              <a:spcBef>
                <a:spcPts val="0"/>
              </a:spcBef>
              <a:spcAft>
                <a:spcPts val="0"/>
              </a:spcAft>
            </a:pPr>
            <a:r>
              <a:rPr sz="1150" b="0" i="0" lang="en-US">
                <a:solidFill>
                  <a:srgbClr val="C9BDF2"/>
                </a:solidFill>
                <a:latin typeface="Inter" pitchFamily="34" charset="0"/>
              </a:rPr>
              <a:t>A sandboxed function kept private. It opens once the private runner is approved.</a:t>
            </a:r>
          </a:p>
        </p:txBody>
      </p:sp>
      <p:sp>
        <p:nvSpPr>
          <p:cNvPr id="101" name="Pipeline 1"/>
          <p:cNvSpPr/>
          <p:nvPr/>
        </p:nvSpPr>
        <p:spPr>
          <a:xfrm>
            <a:off x="594360" y="5650992"/>
            <a:ext cx="2579294" cy="566928"/>
          </a:xfrm>
          <a:prstGeom prst="roundRect">
            <a:avLst>
              <a:gd name="adj" fmla="val 50000"/>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Stage 1"/>
          <p:cNvSpPr txBox="1"/>
          <p:nvPr/>
        </p:nvSpPr>
        <p:spPr>
          <a:xfrm>
            <a:off x="777240" y="5715000"/>
            <a:ext cx="2213534" cy="256032"/>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FFFFFF"/>
                </a:solidFill>
                <a:latin typeface="JetBrains Mono" pitchFamily="49" charset="0"/>
              </a:rPr>
              <a:t>RECEIVED</a:t>
            </a:r>
          </a:p>
        </p:txBody>
      </p:sp>
      <p:sp>
        <p:nvSpPr>
          <p:cNvPr id="103" name="Stage sub 1"/>
          <p:cNvSpPr txBox="1"/>
          <p:nvPr/>
        </p:nvSpPr>
        <p:spPr>
          <a:xfrm>
            <a:off x="777240" y="5952744"/>
            <a:ext cx="2213534" cy="219456"/>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signed with your wallet</a:t>
            </a:r>
          </a:p>
        </p:txBody>
      </p:sp>
      <p:sp>
        <p:nvSpPr>
          <p:cNvPr id="104" name="Stage arrow"/>
          <p:cNvSpPr/>
          <p:nvPr/>
        </p:nvSpPr>
        <p:spPr>
          <a:xfrm>
            <a:off x="3201086" y="5934456"/>
            <a:ext cx="173736" cy="0"/>
          </a:xfrm>
          <a:custGeom>
            <a:avLst/>
            <a:gdLst/>
            <a:ahLst/>
            <a:cxnLst/>
            <a:rect l="l" t="t" r="r" b="b"/>
            <a:pathLst>
              <a:path w="173736" h="0">
                <a:moveTo>
                  <a:pt x="0" y="0"/>
                </a:moveTo>
                <a:lnTo>
                  <a:pt x="173736" y="0"/>
                </a:lnTo>
              </a:path>
            </a:pathLst>
          </a:custGeom>
          <a:noFill/>
          <a:ln w="19050" cap="rnd">
            <a:solidFill>
              <a:srgbClr val="9D86FF">
                <a:alpha val="9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ipeline 2"/>
          <p:cNvSpPr/>
          <p:nvPr/>
        </p:nvSpPr>
        <p:spPr>
          <a:xfrm>
            <a:off x="3402254" y="5650992"/>
            <a:ext cx="2579294" cy="566928"/>
          </a:xfrm>
          <a:prstGeom prst="roundRect">
            <a:avLst>
              <a:gd name="adj" fmla="val 50000"/>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Stage 2"/>
          <p:cNvSpPr txBox="1"/>
          <p:nvPr/>
        </p:nvSpPr>
        <p:spPr>
          <a:xfrm>
            <a:off x="3585134" y="5715000"/>
            <a:ext cx="2213534" cy="256032"/>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FFFFFF"/>
                </a:solidFill>
                <a:latin typeface="JetBrains Mono" pitchFamily="49" charset="0"/>
              </a:rPr>
              <a:t>GATES G1–G11</a:t>
            </a:r>
          </a:p>
        </p:txBody>
      </p:sp>
      <p:sp>
        <p:nvSpPr>
          <p:cNvPr id="107" name="Stage sub 2"/>
          <p:cNvSpPr txBox="1"/>
          <p:nvPr/>
        </p:nvSpPr>
        <p:spPr>
          <a:xfrm>
            <a:off x="3585134" y="5952744"/>
            <a:ext cx="2213534" cy="219456"/>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 KPIs, with reasons</a:t>
            </a:r>
          </a:p>
        </p:txBody>
      </p:sp>
      <p:sp>
        <p:nvSpPr>
          <p:cNvPr id="108" name="Stage arrow"/>
          <p:cNvSpPr/>
          <p:nvPr/>
        </p:nvSpPr>
        <p:spPr>
          <a:xfrm>
            <a:off x="6008980" y="5934456"/>
            <a:ext cx="173736" cy="0"/>
          </a:xfrm>
          <a:custGeom>
            <a:avLst/>
            <a:gdLst/>
            <a:ahLst/>
            <a:cxnLst/>
            <a:rect l="l" t="t" r="r" b="b"/>
            <a:pathLst>
              <a:path w="173736" h="0">
                <a:moveTo>
                  <a:pt x="0" y="0"/>
                </a:moveTo>
                <a:lnTo>
                  <a:pt x="173736" y="0"/>
                </a:lnTo>
              </a:path>
            </a:pathLst>
          </a:custGeom>
          <a:noFill/>
          <a:ln w="19050" cap="rnd">
            <a:solidFill>
              <a:srgbClr val="9D86FF">
                <a:alpha val="9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ipeline 3"/>
          <p:cNvSpPr/>
          <p:nvPr/>
        </p:nvSpPr>
        <p:spPr>
          <a:xfrm>
            <a:off x="6210148" y="5650992"/>
            <a:ext cx="2579294" cy="566928"/>
          </a:xfrm>
          <a:prstGeom prst="roundRect">
            <a:avLst>
              <a:gd name="adj" fmla="val 50000"/>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Stage 3"/>
          <p:cNvSpPr txBox="1"/>
          <p:nvPr/>
        </p:nvSpPr>
        <p:spPr>
          <a:xfrm>
            <a:off x="6393028" y="5715000"/>
            <a:ext cx="2213534" cy="256032"/>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FFFFFF"/>
                </a:solidFill>
                <a:latin typeface="JetBrains Mono" pitchFamily="49" charset="0"/>
              </a:rPr>
              <a:t>FORWARD SHADOW</a:t>
            </a:r>
          </a:p>
        </p:txBody>
      </p:sp>
      <p:sp>
        <p:nvSpPr>
          <p:cNvPr id="111" name="Stage sub 3"/>
          <p:cNvSpPr txBox="1"/>
          <p:nvPr/>
        </p:nvSpPr>
        <p:spPr>
          <a:xfrm>
            <a:off x="6393028" y="5952744"/>
            <a:ext cx="2213534" cy="219456"/>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60 days · feed 120</a:t>
            </a:r>
          </a:p>
        </p:txBody>
      </p:sp>
      <p:sp>
        <p:nvSpPr>
          <p:cNvPr id="112" name="Stage arrow"/>
          <p:cNvSpPr/>
          <p:nvPr/>
        </p:nvSpPr>
        <p:spPr>
          <a:xfrm>
            <a:off x="8816873" y="5934456"/>
            <a:ext cx="173736" cy="0"/>
          </a:xfrm>
          <a:custGeom>
            <a:avLst/>
            <a:gdLst/>
            <a:ahLst/>
            <a:cxnLst/>
            <a:rect l="l" t="t" r="r" b="b"/>
            <a:pathLst>
              <a:path w="173736" h="0">
                <a:moveTo>
                  <a:pt x="0" y="0"/>
                </a:moveTo>
                <a:lnTo>
                  <a:pt x="173736" y="0"/>
                </a:lnTo>
              </a:path>
            </a:pathLst>
          </a:custGeom>
          <a:noFill/>
          <a:ln w="19050" cap="rnd">
            <a:solidFill>
              <a:srgbClr val="9D86FF">
                <a:alpha val="9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ipeline 4"/>
          <p:cNvSpPr/>
          <p:nvPr/>
        </p:nvSpPr>
        <p:spPr>
          <a:xfrm>
            <a:off x="9018041" y="5650992"/>
            <a:ext cx="2579294" cy="566928"/>
          </a:xfrm>
          <a:prstGeom prst="roundRect">
            <a:avLst>
              <a:gd name="adj" fmla="val 50000"/>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Stage 4"/>
          <p:cNvSpPr txBox="1"/>
          <p:nvPr/>
        </p:nvSpPr>
        <p:spPr>
          <a:xfrm>
            <a:off x="9200921" y="5715000"/>
            <a:ext cx="2213534" cy="256032"/>
          </a:xfrm>
          <a:prstGeom prst="rect">
            <a:avLst/>
          </a:prstGeom>
          <a:noFill/>
        </p:spPr>
        <p:txBody>
          <a:bodyPr wrap="square" lIns="0" rIns="0" tIns="0" bIns="0" anchor="t">
            <a:noAutofit/>
          </a:bodyPr>
          <a:lstStyle/>
          <a:p>
            <a:pPr algn="ctr">
              <a:lnSpc>
                <a:spcPct val="120000"/>
              </a:lnSpc>
              <a:spcBef>
                <a:spcPts val="0"/>
              </a:spcBef>
              <a:spcAft>
                <a:spcPts val="0"/>
              </a:spcAft>
            </a:pPr>
            <a:r>
              <a:rPr sz="1100" b="0" i="0" lang="en-US" spc="120">
                <a:solidFill>
                  <a:srgbClr val="FFFFFF"/>
                </a:solidFill>
                <a:latin typeface="JetBrains Mono" pitchFamily="49" charset="0"/>
              </a:rPr>
              <a:t>SLOT</a:t>
            </a:r>
          </a:p>
        </p:txBody>
      </p:sp>
      <p:sp>
        <p:nvSpPr>
          <p:cNvPr id="115" name="Stage sub 4"/>
          <p:cNvSpPr txBox="1"/>
          <p:nvPr/>
        </p:nvSpPr>
        <p:spPr>
          <a:xfrm>
            <a:off x="9200921" y="5952744"/>
            <a:ext cx="2213534" cy="219456"/>
          </a:xfrm>
          <a:prstGeom prst="rect">
            <a:avLst/>
          </a:prstGeom>
          <a:noFill/>
        </p:spPr>
        <p:txBody>
          <a:bodyPr wrap="square" lIns="0" rIns="0" tIns="0" bIns="0" anchor="t">
            <a:noAutofit/>
          </a:bodyPr>
          <a:lstStyle/>
          <a:p>
            <a:pPr algn="ctr">
              <a:lnSpc>
                <a:spcPct val="125000"/>
              </a:lnSpc>
              <a:spcBef>
                <a:spcPts val="0"/>
              </a:spcBef>
              <a:spcAft>
                <a:spcPts val="0"/>
              </a:spcAft>
            </a:pPr>
            <a:r>
              <a:rPr sz="1050" b="0" i="0" lang="en-US">
                <a:solidFill>
                  <a:srgbClr val="8B86A6"/>
                </a:solidFill>
                <a:latin typeface="JetBrains Mono" pitchFamily="49" charset="0"/>
              </a:rPr>
              <a:t>1 of 10 in the book</a:t>
            </a:r>
          </a:p>
        </p:txBody>
      </p:sp>
      <p:sp>
        <p:nvSpPr>
          <p:cNvPr id="116"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117"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5120640" cy="1737360"/>
          </a:xfrm>
        </p:spPr>
        <p:txBody>
          <a:bodyPr wrap="square" lIns="0" rIns="0" tIns="0" bIns="0" anchor="t">
            <a:noAutofit/>
          </a:bodyPr>
          <a:lstStyle/>
          <a:p>
            <a:pPr algn="l">
              <a:lnSpc>
                <a:spcPct val="102000"/>
              </a:lnSpc>
              <a:spcBef>
                <a:spcPts val="0"/>
              </a:spcBef>
              <a:spcAft>
                <a:spcPts val="0"/>
              </a:spcAft>
            </a:pPr>
            <a:r>
              <a:rPr sz="3800" b="0" i="0" lang="en-US">
                <a:solidFill>
                  <a:srgbClr val="ECE8FA"/>
                </a:solidFill>
                <a:latin typeface="Archivo" pitchFamily="34" charset="0"/>
              </a:rPr>
              <a:t>A desk of agents.</a:t>
            </a:r>
            <a:br>
              <a:rPr sz="3800"/>
            </a:br>
            <a:r>
              <a:rPr sz="3800" b="1" i="1" lang="en-US">
                <a:solidFill>
                  <a:srgbClr val="9D86FF"/>
                </a:solidFill>
                <a:latin typeface="Archivo" pitchFamily="34" charset="0"/>
              </a:rPr>
              <a:t>Sealed on the clock.</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06 — THE AI DESK</a:t>
            </a:r>
          </a:p>
        </p:txBody>
      </p:sp>
      <p:sp>
        <p:nvSpPr>
          <p:cNvPr id="7" name="Step 1 n"/>
          <p:cNvSpPr txBox="1"/>
          <p:nvPr/>
        </p:nvSpPr>
        <p:spPr>
          <a:xfrm>
            <a:off x="594360" y="2834640"/>
            <a:ext cx="457200" cy="365760"/>
          </a:xfrm>
          <a:prstGeom prst="rect">
            <a:avLst/>
          </a:prstGeom>
          <a:noFill/>
        </p:spPr>
        <p:txBody>
          <a:bodyPr wrap="square" lIns="0" rIns="0" tIns="0" bIns="0" anchor="t">
            <a:noAutofit/>
          </a:bodyPr>
          <a:lstStyle/>
          <a:p>
            <a:pPr algn="l">
              <a:lnSpc>
                <a:spcPct val="120000"/>
              </a:lnSpc>
              <a:spcBef>
                <a:spcPts val="0"/>
              </a:spcBef>
              <a:spcAft>
                <a:spcPts val="0"/>
              </a:spcAft>
            </a:pPr>
            <a:r>
              <a:rPr sz="1300" b="0" i="0" lang="en-US" spc="120">
                <a:solidFill>
                  <a:srgbClr val="9D86FF"/>
                </a:solidFill>
                <a:latin typeface="JetBrains Mono" pitchFamily="49" charset="0"/>
              </a:rPr>
              <a:t>01</a:t>
            </a:r>
          </a:p>
        </p:txBody>
      </p:sp>
      <p:sp>
        <p:nvSpPr>
          <p:cNvPr id="8" name="Step 1 title"/>
          <p:cNvSpPr txBox="1"/>
          <p:nvPr/>
        </p:nvSpPr>
        <p:spPr>
          <a:xfrm>
            <a:off x="1097280" y="2816352"/>
            <a:ext cx="4160520" cy="274320"/>
          </a:xfrm>
          <a:prstGeom prst="rect">
            <a:avLst/>
          </a:prstGeom>
          <a:noFill/>
        </p:spPr>
        <p:txBody>
          <a:bodyPr wrap="square" lIns="0" rIns="0" tIns="0" bIns="0" anchor="t">
            <a:noAutofit/>
          </a:bodyPr>
          <a:lstStyle/>
          <a:p>
            <a:pPr algn="l">
              <a:lnSpc>
                <a:spcPct val="105000"/>
              </a:lnSpc>
              <a:spcBef>
                <a:spcPts val="0"/>
              </a:spcBef>
              <a:spcAft>
                <a:spcPts val="0"/>
              </a:spcAft>
            </a:pPr>
            <a:r>
              <a:rPr sz="1700" b="1" i="0" lang="en-US">
                <a:solidFill>
                  <a:srgbClr val="FFFFFF"/>
                </a:solidFill>
                <a:latin typeface="Archivo" pitchFamily="34" charset="0"/>
              </a:rPr>
              <a:t>Analysts score</a:t>
            </a:r>
          </a:p>
        </p:txBody>
      </p:sp>
      <p:sp>
        <p:nvSpPr>
          <p:cNvPr id="9" name="Step 1 text"/>
          <p:cNvSpPr txBox="1"/>
          <p:nvPr/>
        </p:nvSpPr>
        <p:spPr>
          <a:xfrm>
            <a:off x="1097280" y="3108960"/>
            <a:ext cx="4160520" cy="566928"/>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Each AI analyst reads the same data and scores the six locked bots. Direction is not its call.</a:t>
            </a:r>
          </a:p>
        </p:txBody>
      </p:sp>
      <p:sp>
        <p:nvSpPr>
          <p:cNvPr id="10" name="Step 2 n"/>
          <p:cNvSpPr txBox="1"/>
          <p:nvPr/>
        </p:nvSpPr>
        <p:spPr>
          <a:xfrm>
            <a:off x="594360" y="3822192"/>
            <a:ext cx="457200" cy="365760"/>
          </a:xfrm>
          <a:prstGeom prst="rect">
            <a:avLst/>
          </a:prstGeom>
          <a:noFill/>
        </p:spPr>
        <p:txBody>
          <a:bodyPr wrap="square" lIns="0" rIns="0" tIns="0" bIns="0" anchor="t">
            <a:noAutofit/>
          </a:bodyPr>
          <a:lstStyle/>
          <a:p>
            <a:pPr algn="l">
              <a:lnSpc>
                <a:spcPct val="120000"/>
              </a:lnSpc>
              <a:spcBef>
                <a:spcPts val="0"/>
              </a:spcBef>
              <a:spcAft>
                <a:spcPts val="0"/>
              </a:spcAft>
            </a:pPr>
            <a:r>
              <a:rPr sz="1300" b="0" i="0" lang="en-US" spc="120">
                <a:solidFill>
                  <a:srgbClr val="9D86FF"/>
                </a:solidFill>
                <a:latin typeface="JetBrains Mono" pitchFamily="49" charset="0"/>
              </a:rPr>
              <a:t>02</a:t>
            </a:r>
          </a:p>
        </p:txBody>
      </p:sp>
      <p:sp>
        <p:nvSpPr>
          <p:cNvPr id="11" name="Step 2 title"/>
          <p:cNvSpPr txBox="1"/>
          <p:nvPr/>
        </p:nvSpPr>
        <p:spPr>
          <a:xfrm>
            <a:off x="1097280" y="3803904"/>
            <a:ext cx="4160520" cy="274320"/>
          </a:xfrm>
          <a:prstGeom prst="rect">
            <a:avLst/>
          </a:prstGeom>
          <a:noFill/>
        </p:spPr>
        <p:txBody>
          <a:bodyPr wrap="square" lIns="0" rIns="0" tIns="0" bIns="0" anchor="t">
            <a:noAutofit/>
          </a:bodyPr>
          <a:lstStyle/>
          <a:p>
            <a:pPr algn="l">
              <a:lnSpc>
                <a:spcPct val="105000"/>
              </a:lnSpc>
              <a:spcBef>
                <a:spcPts val="0"/>
              </a:spcBef>
              <a:spcAft>
                <a:spcPts val="0"/>
              </a:spcAft>
            </a:pPr>
            <a:r>
              <a:rPr sz="1700" b="1" i="0" lang="en-US">
                <a:solidFill>
                  <a:srgbClr val="FFFFFF"/>
                </a:solidFill>
                <a:latin typeface="Archivo" pitchFamily="34" charset="0"/>
              </a:rPr>
              <a:t>A fixed formula picks</a:t>
            </a:r>
          </a:p>
        </p:txBody>
      </p:sp>
      <p:sp>
        <p:nvSpPr>
          <p:cNvPr id="12" name="Step 2 text"/>
          <p:cNvSpPr txBox="1"/>
          <p:nvPr/>
        </p:nvSpPr>
        <p:spPr>
          <a:xfrm>
            <a:off x="1097280" y="4096512"/>
            <a:ext cx="4160520" cy="566928"/>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A published formula (r4) picks one bot. Plain code applies its rule to one paper book.</a:t>
            </a:r>
          </a:p>
        </p:txBody>
      </p:sp>
      <p:sp>
        <p:nvSpPr>
          <p:cNvPr id="13" name="Step 3 n"/>
          <p:cNvSpPr txBox="1"/>
          <p:nvPr/>
        </p:nvSpPr>
        <p:spPr>
          <a:xfrm>
            <a:off x="594360" y="4809744"/>
            <a:ext cx="457200" cy="365760"/>
          </a:xfrm>
          <a:prstGeom prst="rect">
            <a:avLst/>
          </a:prstGeom>
          <a:noFill/>
        </p:spPr>
        <p:txBody>
          <a:bodyPr wrap="square" lIns="0" rIns="0" tIns="0" bIns="0" anchor="t">
            <a:noAutofit/>
          </a:bodyPr>
          <a:lstStyle/>
          <a:p>
            <a:pPr algn="l">
              <a:lnSpc>
                <a:spcPct val="120000"/>
              </a:lnSpc>
              <a:spcBef>
                <a:spcPts val="0"/>
              </a:spcBef>
              <a:spcAft>
                <a:spcPts val="0"/>
              </a:spcAft>
            </a:pPr>
            <a:r>
              <a:rPr sz="1300" b="0" i="0" lang="en-US" spc="120">
                <a:solidFill>
                  <a:srgbClr val="9D86FF"/>
                </a:solidFill>
                <a:latin typeface="JetBrains Mono" pitchFamily="49" charset="0"/>
              </a:rPr>
              <a:t>03</a:t>
            </a:r>
          </a:p>
        </p:txBody>
      </p:sp>
      <p:sp>
        <p:nvSpPr>
          <p:cNvPr id="14" name="Step 3 title"/>
          <p:cNvSpPr txBox="1"/>
          <p:nvPr/>
        </p:nvSpPr>
        <p:spPr>
          <a:xfrm>
            <a:off x="1097280" y="4791456"/>
            <a:ext cx="4160520" cy="274320"/>
          </a:xfrm>
          <a:prstGeom prst="rect">
            <a:avLst/>
          </a:prstGeom>
          <a:noFill/>
        </p:spPr>
        <p:txBody>
          <a:bodyPr wrap="square" lIns="0" rIns="0" tIns="0" bIns="0" anchor="t">
            <a:noAutofit/>
          </a:bodyPr>
          <a:lstStyle/>
          <a:p>
            <a:pPr algn="l">
              <a:lnSpc>
                <a:spcPct val="105000"/>
              </a:lnSpc>
              <a:spcBef>
                <a:spcPts val="0"/>
              </a:spcBef>
              <a:spcAft>
                <a:spcPts val="0"/>
              </a:spcAft>
            </a:pPr>
            <a:r>
              <a:rPr sz="1700" b="1" i="0" lang="en-US">
                <a:solidFill>
                  <a:srgbClr val="FFFFFF"/>
                </a:solidFill>
                <a:latin typeface="Archivo" pitchFamily="34" charset="0"/>
              </a:rPr>
              <a:t>The cycle is sealed</a:t>
            </a:r>
          </a:p>
        </p:txBody>
      </p:sp>
      <p:sp>
        <p:nvSpPr>
          <p:cNvPr id="15" name="Step 3 text"/>
          <p:cNvSpPr txBox="1"/>
          <p:nvPr/>
        </p:nvSpPr>
        <p:spPr>
          <a:xfrm>
            <a:off x="1097280" y="5084064"/>
            <a:ext cx="4160520" cy="566928"/>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One Merkle root per 5-minute cycle goes to DeskAnchor, which refuses it once the cycle is over.</a:t>
            </a:r>
          </a:p>
        </p:txBody>
      </p:sp>
      <p:grpSp>
        <p:nvGrpSpPr>
          <p:cNvPr id="16" name="Halo"/>
          <p:cNvGrpSpPr/>
          <p:nvPr/>
        </p:nvGrpSpPr>
        <p:grpSpPr>
          <a:xfrm>
            <a:off x="5029200" y="1188720"/>
            <a:ext cx="7315200" cy="4937760"/>
            <a:chOff x="5029200" y="1188720"/>
            <a:chExt cx="7315200" cy="4937760"/>
          </a:xfrm>
        </p:grpSpPr>
        <p:sp>
          <p:nvSpPr>
            <p:cNvPr id="17" name="Halo 1"/>
            <p:cNvSpPr/>
            <p:nvPr/>
          </p:nvSpPr>
          <p:spPr>
            <a:xfrm>
              <a:off x="5029200" y="1188720"/>
              <a:ext cx="7315200" cy="4937760"/>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lo 2"/>
            <p:cNvSpPr/>
            <p:nvPr/>
          </p:nvSpPr>
          <p:spPr>
            <a:xfrm>
              <a:off x="5175504" y="1287475"/>
              <a:ext cx="7022592" cy="4740250"/>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alo 3"/>
            <p:cNvSpPr/>
            <p:nvPr/>
          </p:nvSpPr>
          <p:spPr>
            <a:xfrm>
              <a:off x="5321808" y="1386230"/>
              <a:ext cx="6729984" cy="4542739"/>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alo 4"/>
            <p:cNvSpPr/>
            <p:nvPr/>
          </p:nvSpPr>
          <p:spPr>
            <a:xfrm>
              <a:off x="5468112" y="1484986"/>
              <a:ext cx="6437376" cy="4345229"/>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alo 5"/>
            <p:cNvSpPr/>
            <p:nvPr/>
          </p:nvSpPr>
          <p:spPr>
            <a:xfrm>
              <a:off x="5614416" y="1583741"/>
              <a:ext cx="6144768" cy="4147718"/>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alo 6"/>
            <p:cNvSpPr/>
            <p:nvPr/>
          </p:nvSpPr>
          <p:spPr>
            <a:xfrm>
              <a:off x="5760720" y="1682496"/>
              <a:ext cx="5852160" cy="3950208"/>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alo 7"/>
            <p:cNvSpPr/>
            <p:nvPr/>
          </p:nvSpPr>
          <p:spPr>
            <a:xfrm>
              <a:off x="5907024" y="1781251"/>
              <a:ext cx="5559552" cy="3752698"/>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alo 8"/>
            <p:cNvSpPr/>
            <p:nvPr/>
          </p:nvSpPr>
          <p:spPr>
            <a:xfrm>
              <a:off x="6053328" y="1880006"/>
              <a:ext cx="5266944" cy="3555187"/>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alo 9"/>
            <p:cNvSpPr/>
            <p:nvPr/>
          </p:nvSpPr>
          <p:spPr>
            <a:xfrm>
              <a:off x="6199632" y="1978762"/>
              <a:ext cx="4974336" cy="3357677"/>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lo 10"/>
            <p:cNvSpPr/>
            <p:nvPr/>
          </p:nvSpPr>
          <p:spPr>
            <a:xfrm>
              <a:off x="6345936" y="2077517"/>
              <a:ext cx="4681728" cy="3160166"/>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lo 11"/>
            <p:cNvSpPr/>
            <p:nvPr/>
          </p:nvSpPr>
          <p:spPr>
            <a:xfrm>
              <a:off x="6492240" y="2176272"/>
              <a:ext cx="4389120" cy="2962656"/>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lo 12"/>
            <p:cNvSpPr/>
            <p:nvPr/>
          </p:nvSpPr>
          <p:spPr>
            <a:xfrm>
              <a:off x="6638544" y="2275027"/>
              <a:ext cx="4096512" cy="2765146"/>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lo 13"/>
            <p:cNvSpPr/>
            <p:nvPr/>
          </p:nvSpPr>
          <p:spPr>
            <a:xfrm>
              <a:off x="6784848" y="2373782"/>
              <a:ext cx="3803904" cy="2567635"/>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alo 14"/>
            <p:cNvSpPr/>
            <p:nvPr/>
          </p:nvSpPr>
          <p:spPr>
            <a:xfrm>
              <a:off x="6931152" y="2472538"/>
              <a:ext cx="3511296" cy="2370125"/>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Halo 15"/>
            <p:cNvSpPr/>
            <p:nvPr/>
          </p:nvSpPr>
          <p:spPr>
            <a:xfrm>
              <a:off x="7077456" y="2571293"/>
              <a:ext cx="3218688" cy="2172614"/>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Halo 16"/>
            <p:cNvSpPr/>
            <p:nvPr/>
          </p:nvSpPr>
          <p:spPr>
            <a:xfrm>
              <a:off x="7223760" y="2670048"/>
              <a:ext cx="2926080" cy="1975104"/>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alo 17"/>
            <p:cNvSpPr/>
            <p:nvPr/>
          </p:nvSpPr>
          <p:spPr>
            <a:xfrm>
              <a:off x="7370064" y="2768803"/>
              <a:ext cx="2633472" cy="1777594"/>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Halo 18"/>
            <p:cNvSpPr/>
            <p:nvPr/>
          </p:nvSpPr>
          <p:spPr>
            <a:xfrm>
              <a:off x="7516368" y="2867558"/>
              <a:ext cx="2340864" cy="1580083"/>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alo 19"/>
            <p:cNvSpPr/>
            <p:nvPr/>
          </p:nvSpPr>
          <p:spPr>
            <a:xfrm>
              <a:off x="7662672" y="2966314"/>
              <a:ext cx="2048256" cy="1382573"/>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alo 20"/>
            <p:cNvSpPr/>
            <p:nvPr/>
          </p:nvSpPr>
          <p:spPr>
            <a:xfrm>
              <a:off x="7808976" y="3065069"/>
              <a:ext cx="1755648" cy="1185062"/>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Halo 21"/>
            <p:cNvSpPr/>
            <p:nvPr/>
          </p:nvSpPr>
          <p:spPr>
            <a:xfrm>
              <a:off x="7955280" y="3163824"/>
              <a:ext cx="1463040" cy="987552"/>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Halo 22"/>
            <p:cNvSpPr/>
            <p:nvPr/>
          </p:nvSpPr>
          <p:spPr>
            <a:xfrm>
              <a:off x="8101584" y="3262579"/>
              <a:ext cx="1170432" cy="790042"/>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Halo 23"/>
            <p:cNvSpPr/>
            <p:nvPr/>
          </p:nvSpPr>
          <p:spPr>
            <a:xfrm>
              <a:off x="8247888" y="3361334"/>
              <a:ext cx="877824" cy="592531"/>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Halo 24"/>
            <p:cNvSpPr/>
            <p:nvPr/>
          </p:nvSpPr>
          <p:spPr>
            <a:xfrm>
              <a:off x="8394192" y="3460090"/>
              <a:ext cx="585216" cy="395021"/>
            </a:xfrm>
            <a:prstGeom prst="ellipse">
              <a:avLst/>
            </a:prstGeom>
            <a:solidFill>
              <a:srgbClr val="6E4BFF">
                <a:alpha val="103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41" name="Scene · AI desk"/>
          <p:cNvGrpSpPr/>
          <p:nvPr/>
        </p:nvGrpSpPr>
        <p:grpSpPr>
          <a:xfrm>
            <a:off x="0" y="0"/>
            <a:ext cx="0" cy="0"/>
            <a:chOff x="0" y="0"/>
            <a:chExt cx="0" cy="0"/>
          </a:xfrm>
        </p:grpSpPr>
        <p:sp>
          <p:nvSpPr>
            <p:cNvPr id="45" name="Desk 1 · kiri"/>
            <p:cNvSpPr/>
            <p:nvPr/>
          </p:nvSpPr>
          <p:spPr>
            <a:xfrm>
              <a:off x="5792091" y="2351837"/>
              <a:ext cx="475136" cy="398678"/>
            </a:xfrm>
            <a:custGeom>
              <a:avLst/>
              <a:gdLst/>
              <a:ahLst/>
              <a:cxnLst/>
              <a:rect l="l" t="t" r="r" b="b"/>
              <a:pathLst>
                <a:path w="475136" h="398678">
                  <a:moveTo>
                    <a:pt x="0" y="124358"/>
                  </a:moveTo>
                  <a:lnTo>
                    <a:pt x="475136" y="398678"/>
                  </a:lnTo>
                  <a:lnTo>
                    <a:pt x="475136" y="274320"/>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esk 1 · kanan"/>
            <p:cNvSpPr/>
            <p:nvPr/>
          </p:nvSpPr>
          <p:spPr>
            <a:xfrm>
              <a:off x="6267227" y="2461565"/>
              <a:ext cx="285082" cy="288950"/>
            </a:xfrm>
            <a:custGeom>
              <a:avLst/>
              <a:gdLst/>
              <a:ahLst/>
              <a:cxnLst/>
              <a:rect l="l" t="t" r="r" b="b"/>
              <a:pathLst>
                <a:path w="285082" h="288950">
                  <a:moveTo>
                    <a:pt x="285082" y="124358"/>
                  </a:moveTo>
                  <a:lnTo>
                    <a:pt x="0" y="288950"/>
                  </a:lnTo>
                  <a:lnTo>
                    <a:pt x="0" y="164592"/>
                  </a:lnTo>
                  <a:lnTo>
                    <a:pt x="285082"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esk 1 · atas"/>
            <p:cNvSpPr/>
            <p:nvPr/>
          </p:nvSpPr>
          <p:spPr>
            <a:xfrm>
              <a:off x="5792091" y="2187245"/>
              <a:ext cx="760218" cy="438912"/>
            </a:xfrm>
            <a:custGeom>
              <a:avLst/>
              <a:gdLst/>
              <a:ahLst/>
              <a:cxnLst/>
              <a:rect l="l" t="t" r="r" b="b"/>
              <a:pathLst>
                <a:path w="760218" h="438912">
                  <a:moveTo>
                    <a:pt x="285082" y="0"/>
                  </a:moveTo>
                  <a:lnTo>
                    <a:pt x="760218" y="274320"/>
                  </a:lnTo>
                  <a:lnTo>
                    <a:pt x="475136" y="438912"/>
                  </a:lnTo>
                  <a:lnTo>
                    <a:pt x="0" y="16459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Monitor 1 · kiri"/>
            <p:cNvSpPr/>
            <p:nvPr/>
          </p:nvSpPr>
          <p:spPr>
            <a:xfrm>
              <a:off x="6075887" y="2111350"/>
              <a:ext cx="38011" cy="248716"/>
            </a:xfrm>
            <a:custGeom>
              <a:avLst/>
              <a:gdLst/>
              <a:ahLst/>
              <a:cxnLst/>
              <a:rect l="l" t="t" r="r" b="b"/>
              <a:pathLst>
                <a:path w="38011" h="248716">
                  <a:moveTo>
                    <a:pt x="0" y="226771"/>
                  </a:moveTo>
                  <a:lnTo>
                    <a:pt x="38011" y="248716"/>
                  </a:lnTo>
                  <a:lnTo>
                    <a:pt x="38011" y="21945"/>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Monitor 1 · kanan"/>
            <p:cNvSpPr/>
            <p:nvPr/>
          </p:nvSpPr>
          <p:spPr>
            <a:xfrm>
              <a:off x="6113898" y="1959559"/>
              <a:ext cx="300919" cy="400507"/>
            </a:xfrm>
            <a:custGeom>
              <a:avLst/>
              <a:gdLst/>
              <a:ahLst/>
              <a:cxnLst/>
              <a:rect l="l" t="t" r="r" b="b"/>
              <a:pathLst>
                <a:path w="300919" h="400507">
                  <a:moveTo>
                    <a:pt x="300919" y="226771"/>
                  </a:moveTo>
                  <a:lnTo>
                    <a:pt x="0" y="400507"/>
                  </a:lnTo>
                  <a:lnTo>
                    <a:pt x="0" y="173736"/>
                  </a:lnTo>
                  <a:lnTo>
                    <a:pt x="30091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Monitor 1 · atas"/>
            <p:cNvSpPr/>
            <p:nvPr/>
          </p:nvSpPr>
          <p:spPr>
            <a:xfrm>
              <a:off x="6075887" y="1937614"/>
              <a:ext cx="338930" cy="195681"/>
            </a:xfrm>
            <a:custGeom>
              <a:avLst/>
              <a:gdLst/>
              <a:ahLst/>
              <a:cxnLst/>
              <a:rect l="l" t="t" r="r" b="b"/>
              <a:pathLst>
                <a:path w="338930" h="195681">
                  <a:moveTo>
                    <a:pt x="300919" y="0"/>
                  </a:moveTo>
                  <a:lnTo>
                    <a:pt x="338930" y="21945"/>
                  </a:lnTo>
                  <a:lnTo>
                    <a:pt x="38011" y="195681"/>
                  </a:lnTo>
                  <a:lnTo>
                    <a:pt x="0" y="173736"/>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Analyst 1 · kiri"/>
            <p:cNvSpPr/>
            <p:nvPr/>
          </p:nvSpPr>
          <p:spPr>
            <a:xfrm>
              <a:off x="5598098" y="2066544"/>
              <a:ext cx="190054" cy="329184"/>
            </a:xfrm>
            <a:custGeom>
              <a:avLst/>
              <a:gdLst/>
              <a:ahLst/>
              <a:cxnLst/>
              <a:rect l="l" t="t" r="r" b="b"/>
              <a:pathLst>
                <a:path w="190054" h="329184">
                  <a:moveTo>
                    <a:pt x="0" y="219456"/>
                  </a:moveTo>
                  <a:lnTo>
                    <a:pt x="190054" y="329184"/>
                  </a:lnTo>
                  <a:lnTo>
                    <a:pt x="190054" y="109728"/>
                  </a:lnTo>
                  <a:lnTo>
                    <a:pt x="0" y="0"/>
                  </a:lnTo>
                  <a:close/>
                </a:path>
              </a:pathLst>
            </a:custGeom>
            <a:solidFill>
              <a:srgbClr val="4B2FD6">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nalyst 1 · kanan"/>
            <p:cNvSpPr/>
            <p:nvPr/>
          </p:nvSpPr>
          <p:spPr>
            <a:xfrm>
              <a:off x="5788152" y="2066544"/>
              <a:ext cx="190054" cy="329184"/>
            </a:xfrm>
            <a:custGeom>
              <a:avLst/>
              <a:gdLst/>
              <a:ahLst/>
              <a:cxnLst/>
              <a:rect l="l" t="t" r="r" b="b"/>
              <a:pathLst>
                <a:path w="190054" h="329184">
                  <a:moveTo>
                    <a:pt x="190054" y="219456"/>
                  </a:moveTo>
                  <a:lnTo>
                    <a:pt x="0" y="329184"/>
                  </a:lnTo>
                  <a:lnTo>
                    <a:pt x="0" y="109728"/>
                  </a:lnTo>
                  <a:lnTo>
                    <a:pt x="190054" y="0"/>
                  </a:lnTo>
                  <a:close/>
                </a:path>
              </a:pathLst>
            </a:custGeom>
            <a:solidFill>
              <a:srgbClr val="6E4B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Analyst 1 · atas"/>
            <p:cNvSpPr/>
            <p:nvPr/>
          </p:nvSpPr>
          <p:spPr>
            <a:xfrm>
              <a:off x="5598098" y="1956816"/>
              <a:ext cx="380108" cy="219456"/>
            </a:xfrm>
            <a:custGeom>
              <a:avLst/>
              <a:gdLst/>
              <a:ahLst/>
              <a:cxnLst/>
              <a:rect l="l" t="t" r="r" b="b"/>
              <a:pathLst>
                <a:path w="380108" h="219456">
                  <a:moveTo>
                    <a:pt x="190054" y="0"/>
                  </a:moveTo>
                  <a:lnTo>
                    <a:pt x="380108" y="109728"/>
                  </a:lnTo>
                  <a:lnTo>
                    <a:pt x="190054" y="219456"/>
                  </a:lnTo>
                  <a:lnTo>
                    <a:pt x="0" y="109728"/>
                  </a:lnTo>
                  <a:close/>
                </a:path>
              </a:pathLst>
            </a:custGeom>
            <a:solidFill>
              <a:srgbClr val="8E75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Desk 2 · kiri"/>
            <p:cNvSpPr/>
            <p:nvPr/>
          </p:nvSpPr>
          <p:spPr>
            <a:xfrm>
              <a:off x="5792091" y="3631997"/>
              <a:ext cx="475136" cy="398678"/>
            </a:xfrm>
            <a:custGeom>
              <a:avLst/>
              <a:gdLst/>
              <a:ahLst/>
              <a:cxnLst/>
              <a:rect l="l" t="t" r="r" b="b"/>
              <a:pathLst>
                <a:path w="475136" h="398678">
                  <a:moveTo>
                    <a:pt x="0" y="124358"/>
                  </a:moveTo>
                  <a:lnTo>
                    <a:pt x="475136" y="398678"/>
                  </a:lnTo>
                  <a:lnTo>
                    <a:pt x="475136" y="274320"/>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Desk 2 · kanan"/>
            <p:cNvSpPr/>
            <p:nvPr/>
          </p:nvSpPr>
          <p:spPr>
            <a:xfrm>
              <a:off x="6267227" y="3741725"/>
              <a:ext cx="285082" cy="288950"/>
            </a:xfrm>
            <a:custGeom>
              <a:avLst/>
              <a:gdLst/>
              <a:ahLst/>
              <a:cxnLst/>
              <a:rect l="l" t="t" r="r" b="b"/>
              <a:pathLst>
                <a:path w="285082" h="288950">
                  <a:moveTo>
                    <a:pt x="285082" y="124358"/>
                  </a:moveTo>
                  <a:lnTo>
                    <a:pt x="0" y="288950"/>
                  </a:lnTo>
                  <a:lnTo>
                    <a:pt x="0" y="164592"/>
                  </a:lnTo>
                  <a:lnTo>
                    <a:pt x="285082"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Desk 2 · atas"/>
            <p:cNvSpPr/>
            <p:nvPr/>
          </p:nvSpPr>
          <p:spPr>
            <a:xfrm>
              <a:off x="5792091" y="3467405"/>
              <a:ext cx="760218" cy="438912"/>
            </a:xfrm>
            <a:custGeom>
              <a:avLst/>
              <a:gdLst/>
              <a:ahLst/>
              <a:cxnLst/>
              <a:rect l="l" t="t" r="r" b="b"/>
              <a:pathLst>
                <a:path w="760218" h="438912">
                  <a:moveTo>
                    <a:pt x="285082" y="0"/>
                  </a:moveTo>
                  <a:lnTo>
                    <a:pt x="760218" y="274320"/>
                  </a:lnTo>
                  <a:lnTo>
                    <a:pt x="475136" y="438912"/>
                  </a:lnTo>
                  <a:lnTo>
                    <a:pt x="0" y="16459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Monitor 2 · kiri"/>
            <p:cNvSpPr/>
            <p:nvPr/>
          </p:nvSpPr>
          <p:spPr>
            <a:xfrm>
              <a:off x="6075887" y="3391510"/>
              <a:ext cx="38011" cy="248716"/>
            </a:xfrm>
            <a:custGeom>
              <a:avLst/>
              <a:gdLst/>
              <a:ahLst/>
              <a:cxnLst/>
              <a:rect l="l" t="t" r="r" b="b"/>
              <a:pathLst>
                <a:path w="38011" h="248716">
                  <a:moveTo>
                    <a:pt x="0" y="226771"/>
                  </a:moveTo>
                  <a:lnTo>
                    <a:pt x="38011" y="248716"/>
                  </a:lnTo>
                  <a:lnTo>
                    <a:pt x="38011" y="21945"/>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Monitor 2 · kanan"/>
            <p:cNvSpPr/>
            <p:nvPr/>
          </p:nvSpPr>
          <p:spPr>
            <a:xfrm>
              <a:off x="6113898" y="3239719"/>
              <a:ext cx="300919" cy="400507"/>
            </a:xfrm>
            <a:custGeom>
              <a:avLst/>
              <a:gdLst/>
              <a:ahLst/>
              <a:cxnLst/>
              <a:rect l="l" t="t" r="r" b="b"/>
              <a:pathLst>
                <a:path w="300919" h="400507">
                  <a:moveTo>
                    <a:pt x="300919" y="226771"/>
                  </a:moveTo>
                  <a:lnTo>
                    <a:pt x="0" y="400507"/>
                  </a:lnTo>
                  <a:lnTo>
                    <a:pt x="0" y="173736"/>
                  </a:lnTo>
                  <a:lnTo>
                    <a:pt x="30091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Monitor 2 · atas"/>
            <p:cNvSpPr/>
            <p:nvPr/>
          </p:nvSpPr>
          <p:spPr>
            <a:xfrm>
              <a:off x="6075887" y="3217774"/>
              <a:ext cx="338930" cy="195681"/>
            </a:xfrm>
            <a:custGeom>
              <a:avLst/>
              <a:gdLst/>
              <a:ahLst/>
              <a:cxnLst/>
              <a:rect l="l" t="t" r="r" b="b"/>
              <a:pathLst>
                <a:path w="338930" h="195681">
                  <a:moveTo>
                    <a:pt x="300919" y="0"/>
                  </a:moveTo>
                  <a:lnTo>
                    <a:pt x="338930" y="21945"/>
                  </a:lnTo>
                  <a:lnTo>
                    <a:pt x="38011" y="195681"/>
                  </a:lnTo>
                  <a:lnTo>
                    <a:pt x="0" y="173736"/>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nalyst 2 · kiri"/>
            <p:cNvSpPr/>
            <p:nvPr/>
          </p:nvSpPr>
          <p:spPr>
            <a:xfrm>
              <a:off x="5598098" y="3346704"/>
              <a:ext cx="190054" cy="329184"/>
            </a:xfrm>
            <a:custGeom>
              <a:avLst/>
              <a:gdLst/>
              <a:ahLst/>
              <a:cxnLst/>
              <a:rect l="l" t="t" r="r" b="b"/>
              <a:pathLst>
                <a:path w="190054" h="329184">
                  <a:moveTo>
                    <a:pt x="0" y="219456"/>
                  </a:moveTo>
                  <a:lnTo>
                    <a:pt x="190054" y="329184"/>
                  </a:lnTo>
                  <a:lnTo>
                    <a:pt x="190054" y="109728"/>
                  </a:lnTo>
                  <a:lnTo>
                    <a:pt x="0" y="0"/>
                  </a:lnTo>
                  <a:close/>
                </a:path>
              </a:pathLst>
            </a:custGeom>
            <a:solidFill>
              <a:srgbClr val="4B2FD6">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nalyst 2 · kanan"/>
            <p:cNvSpPr/>
            <p:nvPr/>
          </p:nvSpPr>
          <p:spPr>
            <a:xfrm>
              <a:off x="5788152" y="3346704"/>
              <a:ext cx="190054" cy="329184"/>
            </a:xfrm>
            <a:custGeom>
              <a:avLst/>
              <a:gdLst/>
              <a:ahLst/>
              <a:cxnLst/>
              <a:rect l="l" t="t" r="r" b="b"/>
              <a:pathLst>
                <a:path w="190054" h="329184">
                  <a:moveTo>
                    <a:pt x="190054" y="219456"/>
                  </a:moveTo>
                  <a:lnTo>
                    <a:pt x="0" y="329184"/>
                  </a:lnTo>
                  <a:lnTo>
                    <a:pt x="0" y="109728"/>
                  </a:lnTo>
                  <a:lnTo>
                    <a:pt x="190054" y="0"/>
                  </a:lnTo>
                  <a:close/>
                </a:path>
              </a:pathLst>
            </a:custGeom>
            <a:solidFill>
              <a:srgbClr val="6E4B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nalyst 2 · atas"/>
            <p:cNvSpPr/>
            <p:nvPr/>
          </p:nvSpPr>
          <p:spPr>
            <a:xfrm>
              <a:off x="5598098" y="3236976"/>
              <a:ext cx="380108" cy="219456"/>
            </a:xfrm>
            <a:custGeom>
              <a:avLst/>
              <a:gdLst/>
              <a:ahLst/>
              <a:cxnLst/>
              <a:rect l="l" t="t" r="r" b="b"/>
              <a:pathLst>
                <a:path w="380108" h="219456">
                  <a:moveTo>
                    <a:pt x="190054" y="0"/>
                  </a:moveTo>
                  <a:lnTo>
                    <a:pt x="380108" y="109728"/>
                  </a:lnTo>
                  <a:lnTo>
                    <a:pt x="190054" y="219456"/>
                  </a:lnTo>
                  <a:lnTo>
                    <a:pt x="0" y="109728"/>
                  </a:lnTo>
                  <a:close/>
                </a:path>
              </a:pathLst>
            </a:custGeom>
            <a:solidFill>
              <a:srgbClr val="8E75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Desk 3 · kiri"/>
            <p:cNvSpPr/>
            <p:nvPr/>
          </p:nvSpPr>
          <p:spPr>
            <a:xfrm>
              <a:off x="5792091" y="4912157"/>
              <a:ext cx="475136" cy="398678"/>
            </a:xfrm>
            <a:custGeom>
              <a:avLst/>
              <a:gdLst/>
              <a:ahLst/>
              <a:cxnLst/>
              <a:rect l="l" t="t" r="r" b="b"/>
              <a:pathLst>
                <a:path w="475136" h="398678">
                  <a:moveTo>
                    <a:pt x="0" y="124358"/>
                  </a:moveTo>
                  <a:lnTo>
                    <a:pt x="475136" y="398678"/>
                  </a:lnTo>
                  <a:lnTo>
                    <a:pt x="475136" y="274320"/>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Desk 3 · kanan"/>
            <p:cNvSpPr/>
            <p:nvPr/>
          </p:nvSpPr>
          <p:spPr>
            <a:xfrm>
              <a:off x="6267227" y="5021885"/>
              <a:ext cx="285082" cy="288950"/>
            </a:xfrm>
            <a:custGeom>
              <a:avLst/>
              <a:gdLst/>
              <a:ahLst/>
              <a:cxnLst/>
              <a:rect l="l" t="t" r="r" b="b"/>
              <a:pathLst>
                <a:path w="285082" h="288950">
                  <a:moveTo>
                    <a:pt x="285082" y="124358"/>
                  </a:moveTo>
                  <a:lnTo>
                    <a:pt x="0" y="288950"/>
                  </a:lnTo>
                  <a:lnTo>
                    <a:pt x="0" y="164592"/>
                  </a:lnTo>
                  <a:lnTo>
                    <a:pt x="285082"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Desk 3 · atas"/>
            <p:cNvSpPr/>
            <p:nvPr/>
          </p:nvSpPr>
          <p:spPr>
            <a:xfrm>
              <a:off x="5792091" y="4747565"/>
              <a:ext cx="760218" cy="438912"/>
            </a:xfrm>
            <a:custGeom>
              <a:avLst/>
              <a:gdLst/>
              <a:ahLst/>
              <a:cxnLst/>
              <a:rect l="l" t="t" r="r" b="b"/>
              <a:pathLst>
                <a:path w="760218" h="438912">
                  <a:moveTo>
                    <a:pt x="285082" y="0"/>
                  </a:moveTo>
                  <a:lnTo>
                    <a:pt x="760218" y="274320"/>
                  </a:lnTo>
                  <a:lnTo>
                    <a:pt x="475136" y="438912"/>
                  </a:lnTo>
                  <a:lnTo>
                    <a:pt x="0" y="16459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Monitor 3 · kiri"/>
            <p:cNvSpPr/>
            <p:nvPr/>
          </p:nvSpPr>
          <p:spPr>
            <a:xfrm>
              <a:off x="6075887" y="4671670"/>
              <a:ext cx="38011" cy="248716"/>
            </a:xfrm>
            <a:custGeom>
              <a:avLst/>
              <a:gdLst/>
              <a:ahLst/>
              <a:cxnLst/>
              <a:rect l="l" t="t" r="r" b="b"/>
              <a:pathLst>
                <a:path w="38011" h="248716">
                  <a:moveTo>
                    <a:pt x="0" y="226771"/>
                  </a:moveTo>
                  <a:lnTo>
                    <a:pt x="38011" y="248716"/>
                  </a:lnTo>
                  <a:lnTo>
                    <a:pt x="38011" y="21945"/>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Monitor 3 · kanan"/>
            <p:cNvSpPr/>
            <p:nvPr/>
          </p:nvSpPr>
          <p:spPr>
            <a:xfrm>
              <a:off x="6113898" y="4519879"/>
              <a:ext cx="300919" cy="400507"/>
            </a:xfrm>
            <a:custGeom>
              <a:avLst/>
              <a:gdLst/>
              <a:ahLst/>
              <a:cxnLst/>
              <a:rect l="l" t="t" r="r" b="b"/>
              <a:pathLst>
                <a:path w="300919" h="400507">
                  <a:moveTo>
                    <a:pt x="300919" y="226771"/>
                  </a:moveTo>
                  <a:lnTo>
                    <a:pt x="0" y="400507"/>
                  </a:lnTo>
                  <a:lnTo>
                    <a:pt x="0" y="173736"/>
                  </a:lnTo>
                  <a:lnTo>
                    <a:pt x="30091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Monitor 3 · atas"/>
            <p:cNvSpPr/>
            <p:nvPr/>
          </p:nvSpPr>
          <p:spPr>
            <a:xfrm>
              <a:off x="6075887" y="4497934"/>
              <a:ext cx="338930" cy="195681"/>
            </a:xfrm>
            <a:custGeom>
              <a:avLst/>
              <a:gdLst/>
              <a:ahLst/>
              <a:cxnLst/>
              <a:rect l="l" t="t" r="r" b="b"/>
              <a:pathLst>
                <a:path w="338930" h="195681">
                  <a:moveTo>
                    <a:pt x="300919" y="0"/>
                  </a:moveTo>
                  <a:lnTo>
                    <a:pt x="338930" y="21945"/>
                  </a:lnTo>
                  <a:lnTo>
                    <a:pt x="38011" y="195681"/>
                  </a:lnTo>
                  <a:lnTo>
                    <a:pt x="0" y="173736"/>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nalyst 3 · kiri"/>
            <p:cNvSpPr/>
            <p:nvPr/>
          </p:nvSpPr>
          <p:spPr>
            <a:xfrm>
              <a:off x="5598098" y="4626864"/>
              <a:ext cx="190054" cy="329184"/>
            </a:xfrm>
            <a:custGeom>
              <a:avLst/>
              <a:gdLst/>
              <a:ahLst/>
              <a:cxnLst/>
              <a:rect l="l" t="t" r="r" b="b"/>
              <a:pathLst>
                <a:path w="190054" h="329184">
                  <a:moveTo>
                    <a:pt x="0" y="219456"/>
                  </a:moveTo>
                  <a:lnTo>
                    <a:pt x="190054" y="329184"/>
                  </a:lnTo>
                  <a:lnTo>
                    <a:pt x="190054" y="109728"/>
                  </a:lnTo>
                  <a:lnTo>
                    <a:pt x="0" y="0"/>
                  </a:lnTo>
                  <a:close/>
                </a:path>
              </a:pathLst>
            </a:custGeom>
            <a:solidFill>
              <a:srgbClr val="4B2FD6">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nalyst 3 · kanan"/>
            <p:cNvSpPr/>
            <p:nvPr/>
          </p:nvSpPr>
          <p:spPr>
            <a:xfrm>
              <a:off x="5788152" y="4626864"/>
              <a:ext cx="190054" cy="329184"/>
            </a:xfrm>
            <a:custGeom>
              <a:avLst/>
              <a:gdLst/>
              <a:ahLst/>
              <a:cxnLst/>
              <a:rect l="l" t="t" r="r" b="b"/>
              <a:pathLst>
                <a:path w="190054" h="329184">
                  <a:moveTo>
                    <a:pt x="190054" y="219456"/>
                  </a:moveTo>
                  <a:lnTo>
                    <a:pt x="0" y="329184"/>
                  </a:lnTo>
                  <a:lnTo>
                    <a:pt x="0" y="109728"/>
                  </a:lnTo>
                  <a:lnTo>
                    <a:pt x="190054" y="0"/>
                  </a:lnTo>
                  <a:close/>
                </a:path>
              </a:pathLst>
            </a:custGeom>
            <a:solidFill>
              <a:srgbClr val="6E4B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nalyst 3 · atas"/>
            <p:cNvSpPr/>
            <p:nvPr/>
          </p:nvSpPr>
          <p:spPr>
            <a:xfrm>
              <a:off x="5598098" y="4517136"/>
              <a:ext cx="380108" cy="219456"/>
            </a:xfrm>
            <a:custGeom>
              <a:avLst/>
              <a:gdLst/>
              <a:ahLst/>
              <a:cxnLst/>
              <a:rect l="l" t="t" r="r" b="b"/>
              <a:pathLst>
                <a:path w="380108" h="219456">
                  <a:moveTo>
                    <a:pt x="190054" y="0"/>
                  </a:moveTo>
                  <a:lnTo>
                    <a:pt x="380108" y="109728"/>
                  </a:lnTo>
                  <a:lnTo>
                    <a:pt x="190054" y="219456"/>
                  </a:lnTo>
                  <a:lnTo>
                    <a:pt x="0" y="109728"/>
                  </a:lnTo>
                  <a:close/>
                </a:path>
              </a:pathLst>
            </a:custGeom>
            <a:solidFill>
              <a:srgbClr val="8E75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Hub ring"/>
            <p:cNvSpPr/>
            <p:nvPr/>
          </p:nvSpPr>
          <p:spPr>
            <a:xfrm>
              <a:off x="7209308" y="3550235"/>
              <a:ext cx="2589224" cy="1494890"/>
            </a:xfrm>
            <a:custGeom>
              <a:avLst/>
              <a:gdLst/>
              <a:ahLst/>
              <a:cxnLst/>
              <a:rect l="l" t="t" r="r" b="b"/>
              <a:pathLst>
                <a:path w="2589224" h="1494890">
                  <a:moveTo>
                    <a:pt x="2210041" y="1275968"/>
                  </a:moveTo>
                  <a:lnTo>
                    <a:pt x="2126773" y="1320021"/>
                  </a:lnTo>
                  <a:lnTo>
                    <a:pt x="2037171" y="1359716"/>
                  </a:lnTo>
                  <a:lnTo>
                    <a:pt x="1941918" y="1394751"/>
                  </a:lnTo>
                  <a:lnTo>
                    <a:pt x="1841739" y="1424860"/>
                  </a:lnTo>
                  <a:lnTo>
                    <a:pt x="1737395" y="1449813"/>
                  </a:lnTo>
                  <a:lnTo>
                    <a:pt x="1629682" y="1469421"/>
                  </a:lnTo>
                  <a:lnTo>
                    <a:pt x="1519419" y="1483534"/>
                  </a:lnTo>
                  <a:lnTo>
                    <a:pt x="1407445" y="1492045"/>
                  </a:lnTo>
                  <a:lnTo>
                    <a:pt x="1294612" y="1494890"/>
                  </a:lnTo>
                  <a:lnTo>
                    <a:pt x="1181779" y="1492045"/>
                  </a:lnTo>
                  <a:lnTo>
                    <a:pt x="1069805" y="1483534"/>
                  </a:lnTo>
                  <a:lnTo>
                    <a:pt x="959542" y="1469421"/>
                  </a:lnTo>
                  <a:lnTo>
                    <a:pt x="851829" y="1449813"/>
                  </a:lnTo>
                  <a:lnTo>
                    <a:pt x="747485" y="1424860"/>
                  </a:lnTo>
                  <a:lnTo>
                    <a:pt x="647306" y="1394751"/>
                  </a:lnTo>
                  <a:lnTo>
                    <a:pt x="552053" y="1359716"/>
                  </a:lnTo>
                  <a:lnTo>
                    <a:pt x="462451" y="1320021"/>
                  </a:lnTo>
                  <a:lnTo>
                    <a:pt x="379183" y="1275968"/>
                  </a:lnTo>
                  <a:lnTo>
                    <a:pt x="302882" y="1227893"/>
                  </a:lnTo>
                  <a:lnTo>
                    <a:pt x="234128" y="1176162"/>
                  </a:lnTo>
                  <a:lnTo>
                    <a:pt x="173445" y="1121167"/>
                  </a:lnTo>
                  <a:lnTo>
                    <a:pt x="121295" y="1063329"/>
                  </a:lnTo>
                  <a:lnTo>
                    <a:pt x="78075" y="1003086"/>
                  </a:lnTo>
                  <a:lnTo>
                    <a:pt x="44113" y="940898"/>
                  </a:lnTo>
                  <a:lnTo>
                    <a:pt x="19668" y="877237"/>
                  </a:lnTo>
                  <a:lnTo>
                    <a:pt x="4926" y="812589"/>
                  </a:lnTo>
                  <a:lnTo>
                    <a:pt x="0" y="747445"/>
                  </a:lnTo>
                  <a:lnTo>
                    <a:pt x="4926" y="682301"/>
                  </a:lnTo>
                  <a:lnTo>
                    <a:pt x="19668" y="617653"/>
                  </a:lnTo>
                  <a:lnTo>
                    <a:pt x="44113" y="553992"/>
                  </a:lnTo>
                  <a:lnTo>
                    <a:pt x="78075" y="491804"/>
                  </a:lnTo>
                  <a:lnTo>
                    <a:pt x="121295" y="431561"/>
                  </a:lnTo>
                  <a:lnTo>
                    <a:pt x="173445" y="373723"/>
                  </a:lnTo>
                  <a:lnTo>
                    <a:pt x="234128" y="318728"/>
                  </a:lnTo>
                  <a:lnTo>
                    <a:pt x="302882" y="266997"/>
                  </a:lnTo>
                  <a:lnTo>
                    <a:pt x="379183" y="218922"/>
                  </a:lnTo>
                  <a:lnTo>
                    <a:pt x="462451" y="174869"/>
                  </a:lnTo>
                  <a:lnTo>
                    <a:pt x="552053" y="135174"/>
                  </a:lnTo>
                  <a:lnTo>
                    <a:pt x="647306" y="100139"/>
                  </a:lnTo>
                  <a:lnTo>
                    <a:pt x="747485" y="70030"/>
                  </a:lnTo>
                  <a:lnTo>
                    <a:pt x="851829" y="45077"/>
                  </a:lnTo>
                  <a:lnTo>
                    <a:pt x="959542" y="25469"/>
                  </a:lnTo>
                  <a:lnTo>
                    <a:pt x="1069805" y="11356"/>
                  </a:lnTo>
                  <a:lnTo>
                    <a:pt x="1181779" y="2845"/>
                  </a:lnTo>
                  <a:lnTo>
                    <a:pt x="1294612" y="0"/>
                  </a:lnTo>
                  <a:lnTo>
                    <a:pt x="1407445" y="2845"/>
                  </a:lnTo>
                  <a:lnTo>
                    <a:pt x="1519419" y="11356"/>
                  </a:lnTo>
                  <a:lnTo>
                    <a:pt x="1629682" y="25469"/>
                  </a:lnTo>
                  <a:lnTo>
                    <a:pt x="1737395" y="45077"/>
                  </a:lnTo>
                  <a:lnTo>
                    <a:pt x="1841739" y="70030"/>
                  </a:lnTo>
                  <a:lnTo>
                    <a:pt x="1941918" y="100139"/>
                  </a:lnTo>
                  <a:lnTo>
                    <a:pt x="2037171" y="135174"/>
                  </a:lnTo>
                  <a:lnTo>
                    <a:pt x="2126773" y="174869"/>
                  </a:lnTo>
                  <a:lnTo>
                    <a:pt x="2210041" y="218922"/>
                  </a:lnTo>
                  <a:lnTo>
                    <a:pt x="2286342" y="266997"/>
                  </a:lnTo>
                  <a:lnTo>
                    <a:pt x="2355096" y="318728"/>
                  </a:lnTo>
                  <a:lnTo>
                    <a:pt x="2415779" y="373723"/>
                  </a:lnTo>
                  <a:lnTo>
                    <a:pt x="2467929" y="431561"/>
                  </a:lnTo>
                  <a:lnTo>
                    <a:pt x="2511149" y="491804"/>
                  </a:lnTo>
                  <a:lnTo>
                    <a:pt x="2545111" y="553992"/>
                  </a:lnTo>
                  <a:lnTo>
                    <a:pt x="2569556" y="617653"/>
                  </a:lnTo>
                  <a:lnTo>
                    <a:pt x="2584298" y="682301"/>
                  </a:lnTo>
                  <a:lnTo>
                    <a:pt x="2589224" y="747445"/>
                  </a:lnTo>
                  <a:lnTo>
                    <a:pt x="2584298" y="812589"/>
                  </a:lnTo>
                  <a:lnTo>
                    <a:pt x="2569556" y="877237"/>
                  </a:lnTo>
                  <a:lnTo>
                    <a:pt x="2545111" y="940898"/>
                  </a:lnTo>
                  <a:lnTo>
                    <a:pt x="2511149" y="1003086"/>
                  </a:lnTo>
                  <a:lnTo>
                    <a:pt x="2467929" y="1063329"/>
                  </a:lnTo>
                  <a:lnTo>
                    <a:pt x="2415779" y="1121167"/>
                  </a:lnTo>
                  <a:lnTo>
                    <a:pt x="2355096" y="1176162"/>
                  </a:lnTo>
                  <a:lnTo>
                    <a:pt x="2286342" y="1227893"/>
                  </a:lnTo>
                  <a:close/>
                </a:path>
              </a:pathLst>
            </a:custGeom>
            <a:noFill/>
            <a:ln w="15240" cap="rnd">
              <a:solidFill>
                <a:srgbClr val="9D86FF">
                  <a:alpha val="2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Hub ring"/>
            <p:cNvSpPr/>
            <p:nvPr/>
          </p:nvSpPr>
          <p:spPr>
            <a:xfrm>
              <a:off x="7551999" y="3748088"/>
              <a:ext cx="1903842" cy="1099184"/>
            </a:xfrm>
            <a:custGeom>
              <a:avLst/>
              <a:gdLst/>
              <a:ahLst/>
              <a:cxnLst/>
              <a:rect l="l" t="t" r="r" b="b"/>
              <a:pathLst>
                <a:path w="1903842" h="1099184">
                  <a:moveTo>
                    <a:pt x="1625031" y="938212"/>
                  </a:moveTo>
                  <a:lnTo>
                    <a:pt x="1563804" y="970604"/>
                  </a:lnTo>
                  <a:lnTo>
                    <a:pt x="1497920" y="999791"/>
                  </a:lnTo>
                  <a:lnTo>
                    <a:pt x="1427881" y="1025552"/>
                  </a:lnTo>
                  <a:lnTo>
                    <a:pt x="1354220" y="1047691"/>
                  </a:lnTo>
                  <a:lnTo>
                    <a:pt x="1277497" y="1066039"/>
                  </a:lnTo>
                  <a:lnTo>
                    <a:pt x="1198296" y="1080457"/>
                  </a:lnTo>
                  <a:lnTo>
                    <a:pt x="1117220" y="1090834"/>
                  </a:lnTo>
                  <a:lnTo>
                    <a:pt x="1034886" y="1097092"/>
                  </a:lnTo>
                  <a:lnTo>
                    <a:pt x="951921" y="1099184"/>
                  </a:lnTo>
                  <a:lnTo>
                    <a:pt x="868956" y="1097092"/>
                  </a:lnTo>
                  <a:lnTo>
                    <a:pt x="786622" y="1090834"/>
                  </a:lnTo>
                  <a:lnTo>
                    <a:pt x="705546" y="1080457"/>
                  </a:lnTo>
                  <a:lnTo>
                    <a:pt x="626345" y="1066039"/>
                  </a:lnTo>
                  <a:lnTo>
                    <a:pt x="549622" y="1047691"/>
                  </a:lnTo>
                  <a:lnTo>
                    <a:pt x="475961" y="1025552"/>
                  </a:lnTo>
                  <a:lnTo>
                    <a:pt x="405922" y="999791"/>
                  </a:lnTo>
                  <a:lnTo>
                    <a:pt x="340038" y="970604"/>
                  </a:lnTo>
                  <a:lnTo>
                    <a:pt x="278811" y="938212"/>
                  </a:lnTo>
                  <a:lnTo>
                    <a:pt x="222707" y="902863"/>
                  </a:lnTo>
                  <a:lnTo>
                    <a:pt x="172153" y="864825"/>
                  </a:lnTo>
                  <a:lnTo>
                    <a:pt x="127533" y="824388"/>
                  </a:lnTo>
                  <a:lnTo>
                    <a:pt x="89188" y="781859"/>
                  </a:lnTo>
                  <a:lnTo>
                    <a:pt x="57408" y="737563"/>
                  </a:lnTo>
                  <a:lnTo>
                    <a:pt x="32436" y="691837"/>
                  </a:lnTo>
                  <a:lnTo>
                    <a:pt x="14462" y="645028"/>
                  </a:lnTo>
                  <a:lnTo>
                    <a:pt x="3623" y="597492"/>
                  </a:lnTo>
                  <a:lnTo>
                    <a:pt x="0" y="549592"/>
                  </a:lnTo>
                  <a:lnTo>
                    <a:pt x="3623" y="501692"/>
                  </a:lnTo>
                  <a:lnTo>
                    <a:pt x="14462" y="454156"/>
                  </a:lnTo>
                  <a:lnTo>
                    <a:pt x="32436" y="407347"/>
                  </a:lnTo>
                  <a:lnTo>
                    <a:pt x="57408" y="361621"/>
                  </a:lnTo>
                  <a:lnTo>
                    <a:pt x="89188" y="317325"/>
                  </a:lnTo>
                  <a:lnTo>
                    <a:pt x="127533" y="274796"/>
                  </a:lnTo>
                  <a:lnTo>
                    <a:pt x="172153" y="234359"/>
                  </a:lnTo>
                  <a:lnTo>
                    <a:pt x="222707" y="196321"/>
                  </a:lnTo>
                  <a:lnTo>
                    <a:pt x="278811" y="160972"/>
                  </a:lnTo>
                  <a:lnTo>
                    <a:pt x="340038" y="128580"/>
                  </a:lnTo>
                  <a:lnTo>
                    <a:pt x="405922" y="99393"/>
                  </a:lnTo>
                  <a:lnTo>
                    <a:pt x="475961" y="73632"/>
                  </a:lnTo>
                  <a:lnTo>
                    <a:pt x="549622" y="51493"/>
                  </a:lnTo>
                  <a:lnTo>
                    <a:pt x="626345" y="33145"/>
                  </a:lnTo>
                  <a:lnTo>
                    <a:pt x="705546" y="18727"/>
                  </a:lnTo>
                  <a:lnTo>
                    <a:pt x="786622" y="8350"/>
                  </a:lnTo>
                  <a:lnTo>
                    <a:pt x="868956" y="2092"/>
                  </a:lnTo>
                  <a:lnTo>
                    <a:pt x="951921" y="0"/>
                  </a:lnTo>
                  <a:lnTo>
                    <a:pt x="1034886" y="2092"/>
                  </a:lnTo>
                  <a:lnTo>
                    <a:pt x="1117220" y="8350"/>
                  </a:lnTo>
                  <a:lnTo>
                    <a:pt x="1198296" y="18727"/>
                  </a:lnTo>
                  <a:lnTo>
                    <a:pt x="1277497" y="33145"/>
                  </a:lnTo>
                  <a:lnTo>
                    <a:pt x="1354220" y="51493"/>
                  </a:lnTo>
                  <a:lnTo>
                    <a:pt x="1427881" y="73632"/>
                  </a:lnTo>
                  <a:lnTo>
                    <a:pt x="1497920" y="99393"/>
                  </a:lnTo>
                  <a:lnTo>
                    <a:pt x="1563804" y="128580"/>
                  </a:lnTo>
                  <a:lnTo>
                    <a:pt x="1625031" y="160972"/>
                  </a:lnTo>
                  <a:lnTo>
                    <a:pt x="1681135" y="196321"/>
                  </a:lnTo>
                  <a:lnTo>
                    <a:pt x="1731689" y="234359"/>
                  </a:lnTo>
                  <a:lnTo>
                    <a:pt x="1776309" y="274796"/>
                  </a:lnTo>
                  <a:lnTo>
                    <a:pt x="1814654" y="317325"/>
                  </a:lnTo>
                  <a:lnTo>
                    <a:pt x="1846434" y="361621"/>
                  </a:lnTo>
                  <a:lnTo>
                    <a:pt x="1871406" y="407347"/>
                  </a:lnTo>
                  <a:lnTo>
                    <a:pt x="1889380" y="454156"/>
                  </a:lnTo>
                  <a:lnTo>
                    <a:pt x="1900219" y="501692"/>
                  </a:lnTo>
                  <a:lnTo>
                    <a:pt x="1903842" y="549592"/>
                  </a:lnTo>
                  <a:lnTo>
                    <a:pt x="1900219" y="597492"/>
                  </a:lnTo>
                  <a:lnTo>
                    <a:pt x="1889380" y="645028"/>
                  </a:lnTo>
                  <a:lnTo>
                    <a:pt x="1871406" y="691837"/>
                  </a:lnTo>
                  <a:lnTo>
                    <a:pt x="1846434" y="737563"/>
                  </a:lnTo>
                  <a:lnTo>
                    <a:pt x="1814654" y="781859"/>
                  </a:lnTo>
                  <a:lnTo>
                    <a:pt x="1776309" y="824388"/>
                  </a:lnTo>
                  <a:lnTo>
                    <a:pt x="1731689" y="864825"/>
                  </a:lnTo>
                  <a:lnTo>
                    <a:pt x="1681135" y="902863"/>
                  </a:lnTo>
                  <a:close/>
                </a:path>
              </a:pathLst>
            </a:custGeom>
            <a:noFill/>
            <a:ln w="15240" cap="rnd">
              <a:solidFill>
                <a:srgbClr val="9D86FF">
                  <a:alpha val="3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Hub ring"/>
            <p:cNvSpPr/>
            <p:nvPr/>
          </p:nvSpPr>
          <p:spPr>
            <a:xfrm>
              <a:off x="7894691" y="3945941"/>
              <a:ext cx="1218458" cy="703478"/>
            </a:xfrm>
            <a:custGeom>
              <a:avLst/>
              <a:gdLst/>
              <a:ahLst/>
              <a:cxnLst/>
              <a:rect l="l" t="t" r="r" b="b"/>
              <a:pathLst>
                <a:path w="1218458" h="703478">
                  <a:moveTo>
                    <a:pt x="1040019" y="600456"/>
                  </a:moveTo>
                  <a:lnTo>
                    <a:pt x="1000834" y="621186"/>
                  </a:lnTo>
                  <a:lnTo>
                    <a:pt x="958669" y="639866"/>
                  </a:lnTo>
                  <a:lnTo>
                    <a:pt x="913844" y="656354"/>
                  </a:lnTo>
                  <a:lnTo>
                    <a:pt x="866700" y="670522"/>
                  </a:lnTo>
                  <a:lnTo>
                    <a:pt x="817598" y="682265"/>
                  </a:lnTo>
                  <a:lnTo>
                    <a:pt x="766909" y="691492"/>
                  </a:lnTo>
                  <a:lnTo>
                    <a:pt x="715021" y="698134"/>
                  </a:lnTo>
                  <a:lnTo>
                    <a:pt x="662327" y="702139"/>
                  </a:lnTo>
                  <a:lnTo>
                    <a:pt x="609229" y="703478"/>
                  </a:lnTo>
                  <a:lnTo>
                    <a:pt x="556131" y="702139"/>
                  </a:lnTo>
                  <a:lnTo>
                    <a:pt x="503437" y="698134"/>
                  </a:lnTo>
                  <a:lnTo>
                    <a:pt x="451549" y="691492"/>
                  </a:lnTo>
                  <a:lnTo>
                    <a:pt x="400860" y="682265"/>
                  </a:lnTo>
                  <a:lnTo>
                    <a:pt x="351758" y="670522"/>
                  </a:lnTo>
                  <a:lnTo>
                    <a:pt x="304614" y="656354"/>
                  </a:lnTo>
                  <a:lnTo>
                    <a:pt x="259789" y="639866"/>
                  </a:lnTo>
                  <a:lnTo>
                    <a:pt x="217624" y="621186"/>
                  </a:lnTo>
                  <a:lnTo>
                    <a:pt x="178439" y="600456"/>
                  </a:lnTo>
                  <a:lnTo>
                    <a:pt x="142532" y="577832"/>
                  </a:lnTo>
                  <a:lnTo>
                    <a:pt x="110178" y="553488"/>
                  </a:lnTo>
                  <a:lnTo>
                    <a:pt x="81621" y="527608"/>
                  </a:lnTo>
                  <a:lnTo>
                    <a:pt x="57080" y="500390"/>
                  </a:lnTo>
                  <a:lnTo>
                    <a:pt x="36741" y="472041"/>
                  </a:lnTo>
                  <a:lnTo>
                    <a:pt x="20759" y="442776"/>
                  </a:lnTo>
                  <a:lnTo>
                    <a:pt x="9255" y="412818"/>
                  </a:lnTo>
                  <a:lnTo>
                    <a:pt x="2318" y="382395"/>
                  </a:lnTo>
                  <a:lnTo>
                    <a:pt x="0" y="351739"/>
                  </a:lnTo>
                  <a:lnTo>
                    <a:pt x="2318" y="321083"/>
                  </a:lnTo>
                  <a:lnTo>
                    <a:pt x="9255" y="290660"/>
                  </a:lnTo>
                  <a:lnTo>
                    <a:pt x="20759" y="260702"/>
                  </a:lnTo>
                  <a:lnTo>
                    <a:pt x="36741" y="231437"/>
                  </a:lnTo>
                  <a:lnTo>
                    <a:pt x="57080" y="203088"/>
                  </a:lnTo>
                  <a:lnTo>
                    <a:pt x="81621" y="175870"/>
                  </a:lnTo>
                  <a:lnTo>
                    <a:pt x="110178" y="149990"/>
                  </a:lnTo>
                  <a:lnTo>
                    <a:pt x="142532" y="125646"/>
                  </a:lnTo>
                  <a:lnTo>
                    <a:pt x="178439" y="103022"/>
                  </a:lnTo>
                  <a:lnTo>
                    <a:pt x="217624" y="82292"/>
                  </a:lnTo>
                  <a:lnTo>
                    <a:pt x="259789" y="63612"/>
                  </a:lnTo>
                  <a:lnTo>
                    <a:pt x="304614" y="47124"/>
                  </a:lnTo>
                  <a:lnTo>
                    <a:pt x="351758" y="32956"/>
                  </a:lnTo>
                  <a:lnTo>
                    <a:pt x="400860" y="21213"/>
                  </a:lnTo>
                  <a:lnTo>
                    <a:pt x="451549" y="11986"/>
                  </a:lnTo>
                  <a:lnTo>
                    <a:pt x="503437" y="5344"/>
                  </a:lnTo>
                  <a:lnTo>
                    <a:pt x="556131" y="1339"/>
                  </a:lnTo>
                  <a:lnTo>
                    <a:pt x="609229" y="0"/>
                  </a:lnTo>
                  <a:lnTo>
                    <a:pt x="662327" y="1339"/>
                  </a:lnTo>
                  <a:lnTo>
                    <a:pt x="715021" y="5344"/>
                  </a:lnTo>
                  <a:lnTo>
                    <a:pt x="766909" y="11986"/>
                  </a:lnTo>
                  <a:lnTo>
                    <a:pt x="817598" y="21213"/>
                  </a:lnTo>
                  <a:lnTo>
                    <a:pt x="866700" y="32956"/>
                  </a:lnTo>
                  <a:lnTo>
                    <a:pt x="913844" y="47124"/>
                  </a:lnTo>
                  <a:lnTo>
                    <a:pt x="958669" y="63612"/>
                  </a:lnTo>
                  <a:lnTo>
                    <a:pt x="1000834" y="82292"/>
                  </a:lnTo>
                  <a:lnTo>
                    <a:pt x="1040019" y="103022"/>
                  </a:lnTo>
                  <a:lnTo>
                    <a:pt x="1075926" y="125646"/>
                  </a:lnTo>
                  <a:lnTo>
                    <a:pt x="1108280" y="149990"/>
                  </a:lnTo>
                  <a:lnTo>
                    <a:pt x="1136837" y="175870"/>
                  </a:lnTo>
                  <a:lnTo>
                    <a:pt x="1161378" y="203088"/>
                  </a:lnTo>
                  <a:lnTo>
                    <a:pt x="1181717" y="231437"/>
                  </a:lnTo>
                  <a:lnTo>
                    <a:pt x="1197699" y="260702"/>
                  </a:lnTo>
                  <a:lnTo>
                    <a:pt x="1209203" y="290660"/>
                  </a:lnTo>
                  <a:lnTo>
                    <a:pt x="1216140" y="321083"/>
                  </a:lnTo>
                  <a:lnTo>
                    <a:pt x="1218458" y="351739"/>
                  </a:lnTo>
                  <a:lnTo>
                    <a:pt x="1216140" y="382395"/>
                  </a:lnTo>
                  <a:lnTo>
                    <a:pt x="1209203" y="412818"/>
                  </a:lnTo>
                  <a:lnTo>
                    <a:pt x="1197699" y="442776"/>
                  </a:lnTo>
                  <a:lnTo>
                    <a:pt x="1181717" y="472041"/>
                  </a:lnTo>
                  <a:lnTo>
                    <a:pt x="1161378" y="500390"/>
                  </a:lnTo>
                  <a:lnTo>
                    <a:pt x="1136837" y="527608"/>
                  </a:lnTo>
                  <a:lnTo>
                    <a:pt x="1108280" y="553488"/>
                  </a:lnTo>
                  <a:lnTo>
                    <a:pt x="1075926" y="577832"/>
                  </a:lnTo>
                  <a:close/>
                </a:path>
              </a:pathLst>
            </a:custGeom>
            <a:noFill/>
            <a:ln w="15240" cap="rnd">
              <a:solidFill>
                <a:srgbClr val="9D86FF">
                  <a:alpha val="6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ormula core · kiri"/>
            <p:cNvSpPr/>
            <p:nvPr/>
          </p:nvSpPr>
          <p:spPr>
            <a:xfrm>
              <a:off x="8126979" y="3577133"/>
              <a:ext cx="376941" cy="652881"/>
            </a:xfrm>
            <a:custGeom>
              <a:avLst/>
              <a:gdLst/>
              <a:ahLst/>
              <a:cxnLst/>
              <a:rect l="l" t="t" r="r" b="b"/>
              <a:pathLst>
                <a:path w="376941" h="652881">
                  <a:moveTo>
                    <a:pt x="0" y="435254"/>
                  </a:moveTo>
                  <a:lnTo>
                    <a:pt x="376941" y="652881"/>
                  </a:lnTo>
                  <a:lnTo>
                    <a:pt x="376941" y="217627"/>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ormula core · kanan"/>
            <p:cNvSpPr/>
            <p:nvPr/>
          </p:nvSpPr>
          <p:spPr>
            <a:xfrm>
              <a:off x="8503920" y="3577133"/>
              <a:ext cx="376941" cy="652881"/>
            </a:xfrm>
            <a:custGeom>
              <a:avLst/>
              <a:gdLst/>
              <a:ahLst/>
              <a:cxnLst/>
              <a:rect l="l" t="t" r="r" b="b"/>
              <a:pathLst>
                <a:path w="376941" h="652881">
                  <a:moveTo>
                    <a:pt x="376941" y="435254"/>
                  </a:moveTo>
                  <a:lnTo>
                    <a:pt x="0" y="652881"/>
                  </a:lnTo>
                  <a:lnTo>
                    <a:pt x="0" y="217627"/>
                  </a:lnTo>
                  <a:lnTo>
                    <a:pt x="376941"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ormula core · atas"/>
            <p:cNvSpPr/>
            <p:nvPr/>
          </p:nvSpPr>
          <p:spPr>
            <a:xfrm>
              <a:off x="8126979" y="3359506"/>
              <a:ext cx="753882" cy="435254"/>
            </a:xfrm>
            <a:custGeom>
              <a:avLst/>
              <a:gdLst/>
              <a:ahLst/>
              <a:cxnLst/>
              <a:rect l="l" t="t" r="r" b="b"/>
              <a:pathLst>
                <a:path w="753882" h="435254">
                  <a:moveTo>
                    <a:pt x="376941" y="0"/>
                  </a:moveTo>
                  <a:lnTo>
                    <a:pt x="753882" y="217627"/>
                  </a:lnTo>
                  <a:lnTo>
                    <a:pt x="376941" y="435254"/>
                  </a:lnTo>
                  <a:lnTo>
                    <a:pt x="0" y="217627"/>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ower block 1 · kiri"/>
            <p:cNvSpPr/>
            <p:nvPr/>
          </p:nvSpPr>
          <p:spPr>
            <a:xfrm>
              <a:off x="9875005" y="5028286"/>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ower block 1 · kanan"/>
            <p:cNvSpPr/>
            <p:nvPr/>
          </p:nvSpPr>
          <p:spPr>
            <a:xfrm>
              <a:off x="10332720" y="5028286"/>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ower block 1 · atas"/>
            <p:cNvSpPr/>
            <p:nvPr/>
          </p:nvSpPr>
          <p:spPr>
            <a:xfrm>
              <a:off x="9875005" y="4764024"/>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ower block 2 · kiri"/>
            <p:cNvSpPr/>
            <p:nvPr/>
          </p:nvSpPr>
          <p:spPr>
            <a:xfrm>
              <a:off x="9875005" y="4795114"/>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ower block 2 · kanan"/>
            <p:cNvSpPr/>
            <p:nvPr/>
          </p:nvSpPr>
          <p:spPr>
            <a:xfrm>
              <a:off x="10332720" y="4795114"/>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ower block 2 · atas"/>
            <p:cNvSpPr/>
            <p:nvPr/>
          </p:nvSpPr>
          <p:spPr>
            <a:xfrm>
              <a:off x="9875005" y="4530852"/>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ower block 3 · kiri"/>
            <p:cNvSpPr/>
            <p:nvPr/>
          </p:nvSpPr>
          <p:spPr>
            <a:xfrm>
              <a:off x="9875005" y="4561942"/>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ower block 3 · kanan"/>
            <p:cNvSpPr/>
            <p:nvPr/>
          </p:nvSpPr>
          <p:spPr>
            <a:xfrm>
              <a:off x="10332720" y="4561942"/>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ower block 3 · atas"/>
            <p:cNvSpPr/>
            <p:nvPr/>
          </p:nvSpPr>
          <p:spPr>
            <a:xfrm>
              <a:off x="9875005" y="4297680"/>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ower block 4 · kiri"/>
            <p:cNvSpPr/>
            <p:nvPr/>
          </p:nvSpPr>
          <p:spPr>
            <a:xfrm>
              <a:off x="9875005" y="4328770"/>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ower block 4 · kanan"/>
            <p:cNvSpPr/>
            <p:nvPr/>
          </p:nvSpPr>
          <p:spPr>
            <a:xfrm>
              <a:off x="10332720" y="4328770"/>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ower block 4 · atas"/>
            <p:cNvSpPr/>
            <p:nvPr/>
          </p:nvSpPr>
          <p:spPr>
            <a:xfrm>
              <a:off x="9875005" y="4064508"/>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ower block 5 · kiri"/>
            <p:cNvSpPr/>
            <p:nvPr/>
          </p:nvSpPr>
          <p:spPr>
            <a:xfrm>
              <a:off x="9875005" y="4095598"/>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ower block 5 · kanan"/>
            <p:cNvSpPr/>
            <p:nvPr/>
          </p:nvSpPr>
          <p:spPr>
            <a:xfrm>
              <a:off x="10332720" y="4095598"/>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ower block 5 · atas"/>
            <p:cNvSpPr/>
            <p:nvPr/>
          </p:nvSpPr>
          <p:spPr>
            <a:xfrm>
              <a:off x="9875005" y="3831336"/>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ower block 6 · kiri"/>
            <p:cNvSpPr/>
            <p:nvPr/>
          </p:nvSpPr>
          <p:spPr>
            <a:xfrm>
              <a:off x="9875005" y="3862426"/>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ower block 6 · kanan"/>
            <p:cNvSpPr/>
            <p:nvPr/>
          </p:nvSpPr>
          <p:spPr>
            <a:xfrm>
              <a:off x="10332720" y="3862426"/>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ower block 6 · atas"/>
            <p:cNvSpPr/>
            <p:nvPr/>
          </p:nvSpPr>
          <p:spPr>
            <a:xfrm>
              <a:off x="9875005" y="3598164"/>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ower block 7 · kiri"/>
            <p:cNvSpPr/>
            <p:nvPr/>
          </p:nvSpPr>
          <p:spPr>
            <a:xfrm>
              <a:off x="9875005" y="3629254"/>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ower block 7 · kanan"/>
            <p:cNvSpPr/>
            <p:nvPr/>
          </p:nvSpPr>
          <p:spPr>
            <a:xfrm>
              <a:off x="10332720" y="3629254"/>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ower block 7 · atas"/>
            <p:cNvSpPr/>
            <p:nvPr/>
          </p:nvSpPr>
          <p:spPr>
            <a:xfrm>
              <a:off x="9875005" y="3364992"/>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ower block 8 · kiri"/>
            <p:cNvSpPr/>
            <p:nvPr/>
          </p:nvSpPr>
          <p:spPr>
            <a:xfrm>
              <a:off x="9875005" y="3396082"/>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ower block 8 · kanan"/>
            <p:cNvSpPr/>
            <p:nvPr/>
          </p:nvSpPr>
          <p:spPr>
            <a:xfrm>
              <a:off x="10332720" y="3396082"/>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ower block 8 · atas"/>
            <p:cNvSpPr/>
            <p:nvPr/>
          </p:nvSpPr>
          <p:spPr>
            <a:xfrm>
              <a:off x="9875005" y="3131820"/>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ower block 9 · kiri"/>
            <p:cNvSpPr/>
            <p:nvPr/>
          </p:nvSpPr>
          <p:spPr>
            <a:xfrm>
              <a:off x="9875005" y="3162910"/>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ower block 9 · kanan"/>
            <p:cNvSpPr/>
            <p:nvPr/>
          </p:nvSpPr>
          <p:spPr>
            <a:xfrm>
              <a:off x="10332720" y="3162910"/>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ower block 9 · atas"/>
            <p:cNvSpPr/>
            <p:nvPr/>
          </p:nvSpPr>
          <p:spPr>
            <a:xfrm>
              <a:off x="9875005" y="2898648"/>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ower block 10 · kiri"/>
            <p:cNvSpPr/>
            <p:nvPr/>
          </p:nvSpPr>
          <p:spPr>
            <a:xfrm>
              <a:off x="9875005" y="2929738"/>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ower block 10 · kanan"/>
            <p:cNvSpPr/>
            <p:nvPr/>
          </p:nvSpPr>
          <p:spPr>
            <a:xfrm>
              <a:off x="10332720" y="2929738"/>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ower block 10 · atas"/>
            <p:cNvSpPr/>
            <p:nvPr/>
          </p:nvSpPr>
          <p:spPr>
            <a:xfrm>
              <a:off x="9875005" y="2665476"/>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ower block 11 · kiri"/>
            <p:cNvSpPr/>
            <p:nvPr/>
          </p:nvSpPr>
          <p:spPr>
            <a:xfrm>
              <a:off x="9875005" y="2696566"/>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ower block 11 · kanan"/>
            <p:cNvSpPr/>
            <p:nvPr/>
          </p:nvSpPr>
          <p:spPr>
            <a:xfrm>
              <a:off x="10332720" y="2696566"/>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ower block 11 · atas"/>
            <p:cNvSpPr/>
            <p:nvPr/>
          </p:nvSpPr>
          <p:spPr>
            <a:xfrm>
              <a:off x="9875005" y="2432304"/>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ower block 12 · kiri"/>
            <p:cNvSpPr/>
            <p:nvPr/>
          </p:nvSpPr>
          <p:spPr>
            <a:xfrm>
              <a:off x="9875005" y="2463394"/>
              <a:ext cx="457715" cy="357530"/>
            </a:xfrm>
            <a:custGeom>
              <a:avLst/>
              <a:gdLst/>
              <a:ahLst/>
              <a:cxnLst/>
              <a:rect l="l" t="t" r="r" b="b"/>
              <a:pathLst>
                <a:path w="457715" h="357530">
                  <a:moveTo>
                    <a:pt x="0" y="93268"/>
                  </a:moveTo>
                  <a:lnTo>
                    <a:pt x="457715" y="357530"/>
                  </a:lnTo>
                  <a:lnTo>
                    <a:pt x="457715" y="264261"/>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ower block 12 · kanan"/>
            <p:cNvSpPr/>
            <p:nvPr/>
          </p:nvSpPr>
          <p:spPr>
            <a:xfrm>
              <a:off x="10332720" y="2463394"/>
              <a:ext cx="457715" cy="357530"/>
            </a:xfrm>
            <a:custGeom>
              <a:avLst/>
              <a:gdLst/>
              <a:ahLst/>
              <a:cxnLst/>
              <a:rect l="l" t="t" r="r" b="b"/>
              <a:pathLst>
                <a:path w="457715" h="357530">
                  <a:moveTo>
                    <a:pt x="457715" y="93268"/>
                  </a:moveTo>
                  <a:lnTo>
                    <a:pt x="0" y="357530"/>
                  </a:lnTo>
                  <a:lnTo>
                    <a:pt x="0" y="264261"/>
                  </a:lnTo>
                  <a:lnTo>
                    <a:pt x="457715"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ower block 12 · atas"/>
            <p:cNvSpPr/>
            <p:nvPr/>
          </p:nvSpPr>
          <p:spPr>
            <a:xfrm>
              <a:off x="9875005" y="2199132"/>
              <a:ext cx="915430" cy="528523"/>
            </a:xfrm>
            <a:custGeom>
              <a:avLst/>
              <a:gdLst/>
              <a:ahLst/>
              <a:cxnLst/>
              <a:rect l="l" t="t" r="r" b="b"/>
              <a:pathLst>
                <a:path w="915430" h="528523">
                  <a:moveTo>
                    <a:pt x="457715" y="0"/>
                  </a:moveTo>
                  <a:lnTo>
                    <a:pt x="915430" y="264262"/>
                  </a:lnTo>
                  <a:lnTo>
                    <a:pt x="457715" y="528523"/>
                  </a:lnTo>
                  <a:lnTo>
                    <a:pt x="0" y="264262"/>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2" name="Flow bus"/>
          <p:cNvSpPr/>
          <p:nvPr/>
        </p:nvSpPr>
        <p:spPr>
          <a:xfrm>
            <a:off x="7498080" y="2359152"/>
            <a:ext cx="0" cy="2560320"/>
          </a:xfrm>
          <a:custGeom>
            <a:avLst/>
            <a:gdLst/>
            <a:ahLst/>
            <a:cxnLst/>
            <a:rect l="l" t="t" r="r" b="b"/>
            <a:pathLst>
              <a:path w="0" h="2560320">
                <a:moveTo>
                  <a:pt x="0" y="0"/>
                </a:moveTo>
                <a:lnTo>
                  <a:pt x="0" y="2560320"/>
                </a:lnTo>
              </a:path>
            </a:pathLst>
          </a:custGeom>
          <a:noFill/>
          <a:ln w="15240" cap="rnd">
            <a:solidFill>
              <a:srgbClr val="9D86FF">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low to formula"/>
          <p:cNvSpPr/>
          <p:nvPr/>
        </p:nvSpPr>
        <p:spPr>
          <a:xfrm>
            <a:off x="7498080" y="3977640"/>
            <a:ext cx="137160" cy="0"/>
          </a:xfrm>
          <a:custGeom>
            <a:avLst/>
            <a:gdLst/>
            <a:ahLst/>
            <a:cxnLst/>
            <a:rect l="l" t="t" r="r" b="b"/>
            <a:pathLst>
              <a:path w="137160" h="0">
                <a:moveTo>
                  <a:pt x="0" y="0"/>
                </a:moveTo>
                <a:lnTo>
                  <a:pt x="137160" y="0"/>
                </a:lnTo>
              </a:path>
            </a:pathLst>
          </a:custGeom>
          <a:noFill/>
          <a:ln w="17780" cap="rnd">
            <a:solidFill>
              <a:srgbClr val="9D86FF">
                <a:alpha val="7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low line 1"/>
          <p:cNvSpPr/>
          <p:nvPr/>
        </p:nvSpPr>
        <p:spPr>
          <a:xfrm>
            <a:off x="7132320" y="2359152"/>
            <a:ext cx="365760" cy="0"/>
          </a:xfrm>
          <a:custGeom>
            <a:avLst/>
            <a:gdLst/>
            <a:ahLst/>
            <a:cxnLst/>
            <a:rect l="l" t="t" r="r" b="b"/>
            <a:pathLst>
              <a:path w="365760" h="0">
                <a:moveTo>
                  <a:pt x="0" y="0"/>
                </a:moveTo>
                <a:lnTo>
                  <a:pt x="365760" y="0"/>
                </a:lnTo>
              </a:path>
            </a:pathLst>
          </a:custGeom>
          <a:noFill/>
          <a:ln w="15240" cap="rnd">
            <a:solidFill>
              <a:srgbClr val="9D86FF">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nalyst name 1"/>
          <p:cNvSpPr txBox="1"/>
          <p:nvPr/>
        </p:nvSpPr>
        <p:spPr>
          <a:xfrm>
            <a:off x="5303520" y="2788920"/>
            <a:ext cx="2103120" cy="219456"/>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FFFFFF"/>
                </a:solidFill>
                <a:latin typeface="JetBrains Mono" pitchFamily="49" charset="0"/>
              </a:rPr>
              <a:t>ANALYST</a:t>
            </a:r>
          </a:p>
        </p:txBody>
      </p:sp>
      <p:sp>
        <p:nvSpPr>
          <p:cNvPr id="55" name="Analyst role 1"/>
          <p:cNvSpPr txBox="1"/>
          <p:nvPr/>
        </p:nvSpPr>
        <p:spPr>
          <a:xfrm>
            <a:off x="5303520" y="2999232"/>
            <a:ext cx="2103120" cy="219456"/>
          </a:xfrm>
          <a:prstGeom prst="rect">
            <a:avLst/>
          </a:prstGeom>
          <a:noFill/>
        </p:spPr>
        <p:txBody>
          <a:bodyPr wrap="square" lIns="0" rIns="0" tIns="0" bIns="0" anchor="t">
            <a:noAutofit/>
          </a:bodyPr>
          <a:lstStyle/>
          <a:p>
            <a:pPr algn="l">
              <a:lnSpc>
                <a:spcPct val="125000"/>
              </a:lnSpc>
              <a:spcBef>
                <a:spcPts val="0"/>
              </a:spcBef>
              <a:spcAft>
                <a:spcPts val="0"/>
              </a:spcAft>
            </a:pPr>
            <a:r>
              <a:rPr sz="1000" b="0" i="0" lang="en-US">
                <a:solidFill>
                  <a:srgbClr val="8B86A6"/>
                </a:solidFill>
                <a:latin typeface="JetBrains Mono" pitchFamily="49" charset="0"/>
              </a:rPr>
              <a:t>ERC-8004 identity</a:t>
            </a:r>
          </a:p>
        </p:txBody>
      </p:sp>
      <p:sp>
        <p:nvSpPr>
          <p:cNvPr id="56" name="Flow line 2"/>
          <p:cNvSpPr/>
          <p:nvPr/>
        </p:nvSpPr>
        <p:spPr>
          <a:xfrm>
            <a:off x="7132320" y="3639312"/>
            <a:ext cx="365760" cy="0"/>
          </a:xfrm>
          <a:custGeom>
            <a:avLst/>
            <a:gdLst/>
            <a:ahLst/>
            <a:cxnLst/>
            <a:rect l="l" t="t" r="r" b="b"/>
            <a:pathLst>
              <a:path w="365760" h="0">
                <a:moveTo>
                  <a:pt x="0" y="0"/>
                </a:moveTo>
                <a:lnTo>
                  <a:pt x="365760" y="0"/>
                </a:lnTo>
              </a:path>
            </a:pathLst>
          </a:custGeom>
          <a:noFill/>
          <a:ln w="15240" cap="rnd">
            <a:solidFill>
              <a:srgbClr val="9D86FF">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nalyst name 2"/>
          <p:cNvSpPr txBox="1"/>
          <p:nvPr/>
        </p:nvSpPr>
        <p:spPr>
          <a:xfrm>
            <a:off x="5303520" y="4069080"/>
            <a:ext cx="2103120" cy="219456"/>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FFFFFF"/>
                </a:solidFill>
                <a:latin typeface="JetBrains Mono" pitchFamily="49" charset="0"/>
              </a:rPr>
              <a:t>ANALYST</a:t>
            </a:r>
          </a:p>
        </p:txBody>
      </p:sp>
      <p:sp>
        <p:nvSpPr>
          <p:cNvPr id="67" name="Analyst role 2"/>
          <p:cNvSpPr txBox="1"/>
          <p:nvPr/>
        </p:nvSpPr>
        <p:spPr>
          <a:xfrm>
            <a:off x="5303520" y="4279392"/>
            <a:ext cx="2103120" cy="219456"/>
          </a:xfrm>
          <a:prstGeom prst="rect">
            <a:avLst/>
          </a:prstGeom>
          <a:noFill/>
        </p:spPr>
        <p:txBody>
          <a:bodyPr wrap="square" lIns="0" rIns="0" tIns="0" bIns="0" anchor="t">
            <a:noAutofit/>
          </a:bodyPr>
          <a:lstStyle/>
          <a:p>
            <a:pPr algn="l">
              <a:lnSpc>
                <a:spcPct val="125000"/>
              </a:lnSpc>
              <a:spcBef>
                <a:spcPts val="0"/>
              </a:spcBef>
              <a:spcAft>
                <a:spcPts val="0"/>
              </a:spcAft>
            </a:pPr>
            <a:r>
              <a:rPr sz="1000" b="0" i="0" lang="en-US">
                <a:solidFill>
                  <a:srgbClr val="8B86A6"/>
                </a:solidFill>
                <a:latin typeface="JetBrains Mono" pitchFamily="49" charset="0"/>
              </a:rPr>
              <a:t>ERC-8004 identity</a:t>
            </a:r>
          </a:p>
        </p:txBody>
      </p:sp>
      <p:sp>
        <p:nvSpPr>
          <p:cNvPr id="68" name="Flow line 3"/>
          <p:cNvSpPr/>
          <p:nvPr/>
        </p:nvSpPr>
        <p:spPr>
          <a:xfrm>
            <a:off x="7132320" y="4919472"/>
            <a:ext cx="365760" cy="0"/>
          </a:xfrm>
          <a:custGeom>
            <a:avLst/>
            <a:gdLst/>
            <a:ahLst/>
            <a:cxnLst/>
            <a:rect l="l" t="t" r="r" b="b"/>
            <a:pathLst>
              <a:path w="365760" h="0">
                <a:moveTo>
                  <a:pt x="0" y="0"/>
                </a:moveTo>
                <a:lnTo>
                  <a:pt x="365760" y="0"/>
                </a:lnTo>
              </a:path>
            </a:pathLst>
          </a:custGeom>
          <a:noFill/>
          <a:ln w="15240" cap="rnd">
            <a:solidFill>
              <a:srgbClr val="9D86FF">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nalyst name 3"/>
          <p:cNvSpPr txBox="1"/>
          <p:nvPr/>
        </p:nvSpPr>
        <p:spPr>
          <a:xfrm>
            <a:off x="5303520" y="5349240"/>
            <a:ext cx="2103120" cy="219456"/>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FFFFFF"/>
                </a:solidFill>
                <a:latin typeface="JetBrains Mono" pitchFamily="49" charset="0"/>
              </a:rPr>
              <a:t>ANALYST</a:t>
            </a:r>
          </a:p>
        </p:txBody>
      </p:sp>
      <p:sp>
        <p:nvSpPr>
          <p:cNvPr id="79" name="Analyst role 3"/>
          <p:cNvSpPr txBox="1"/>
          <p:nvPr/>
        </p:nvSpPr>
        <p:spPr>
          <a:xfrm>
            <a:off x="5303520" y="5559552"/>
            <a:ext cx="2103120" cy="219456"/>
          </a:xfrm>
          <a:prstGeom prst="rect">
            <a:avLst/>
          </a:prstGeom>
          <a:noFill/>
        </p:spPr>
        <p:txBody>
          <a:bodyPr wrap="square" lIns="0" rIns="0" tIns="0" bIns="0" anchor="t">
            <a:noAutofit/>
          </a:bodyPr>
          <a:lstStyle/>
          <a:p>
            <a:pPr algn="l">
              <a:lnSpc>
                <a:spcPct val="125000"/>
              </a:lnSpc>
              <a:spcBef>
                <a:spcPts val="0"/>
              </a:spcBef>
              <a:spcAft>
                <a:spcPts val="0"/>
              </a:spcAft>
            </a:pPr>
            <a:r>
              <a:rPr sz="1000" b="0" i="0" lang="en-US">
                <a:solidFill>
                  <a:srgbClr val="8B86A6"/>
                </a:solidFill>
                <a:latin typeface="JetBrains Mono" pitchFamily="49" charset="0"/>
              </a:rPr>
              <a:t>ERC-8004 identity</a:t>
            </a:r>
          </a:p>
        </p:txBody>
      </p:sp>
      <p:sp>
        <p:nvSpPr>
          <p:cNvPr id="86" name="Hub label"/>
          <p:cNvSpPr txBox="1"/>
          <p:nvPr/>
        </p:nvSpPr>
        <p:spPr>
          <a:xfrm>
            <a:off x="7315200" y="5029200"/>
            <a:ext cx="2377440" cy="219456"/>
          </a:xfrm>
          <a:prstGeom prst="rect">
            <a:avLst/>
          </a:prstGeom>
          <a:noFill/>
        </p:spPr>
        <p:txBody>
          <a:bodyPr wrap="square" lIns="0" rIns="0" tIns="0" bIns="0" anchor="t">
            <a:noAutofit/>
          </a:bodyPr>
          <a:lstStyle/>
          <a:p>
            <a:pPr algn="ctr">
              <a:lnSpc>
                <a:spcPct val="120000"/>
              </a:lnSpc>
              <a:spcBef>
                <a:spcPts val="0"/>
              </a:spcBef>
              <a:spcAft>
                <a:spcPts val="0"/>
              </a:spcAft>
            </a:pPr>
            <a:r>
              <a:rPr sz="1050" b="0" i="0" lang="en-US" spc="120">
                <a:solidFill>
                  <a:srgbClr val="FFFFFF"/>
                </a:solidFill>
                <a:latin typeface="JetBrains Mono" pitchFamily="49" charset="0"/>
              </a:rPr>
              <a:t>FIXED FORMULA R4</a:t>
            </a:r>
          </a:p>
        </p:txBody>
      </p:sp>
      <p:sp>
        <p:nvSpPr>
          <p:cNvPr id="87" name="Commit line"/>
          <p:cNvSpPr/>
          <p:nvPr/>
        </p:nvSpPr>
        <p:spPr>
          <a:xfrm>
            <a:off x="9144000" y="3977640"/>
            <a:ext cx="365760" cy="594360"/>
          </a:xfrm>
          <a:custGeom>
            <a:avLst/>
            <a:gdLst/>
            <a:ahLst/>
            <a:cxnLst/>
            <a:rect l="l" t="t" r="r" b="b"/>
            <a:pathLst>
              <a:path w="365760" h="594360">
                <a:moveTo>
                  <a:pt x="0" y="0"/>
                </a:moveTo>
                <a:lnTo>
                  <a:pt x="365760" y="594360"/>
                </a:lnTo>
              </a:path>
            </a:pathLst>
          </a:custGeom>
          <a:noFill/>
          <a:ln w="16510" cap="rnd">
            <a:solidFill>
              <a:srgbClr val="9D86FF">
                <a:alpha val="6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ower label"/>
          <p:cNvSpPr txBox="1"/>
          <p:nvPr/>
        </p:nvSpPr>
        <p:spPr>
          <a:xfrm>
            <a:off x="8778240" y="5458968"/>
            <a:ext cx="3108960" cy="219456"/>
          </a:xfrm>
          <a:prstGeom prst="rect">
            <a:avLst/>
          </a:prstGeom>
          <a:noFill/>
        </p:spPr>
        <p:txBody>
          <a:bodyPr wrap="square" lIns="0" rIns="0" tIns="0" bIns="0" anchor="t">
            <a:noAutofit/>
          </a:bodyPr>
          <a:lstStyle/>
          <a:p>
            <a:pPr algn="ctr">
              <a:lnSpc>
                <a:spcPct val="120000"/>
              </a:lnSpc>
              <a:spcBef>
                <a:spcPts val="0"/>
              </a:spcBef>
              <a:spcAft>
                <a:spcPts val="0"/>
              </a:spcAft>
            </a:pPr>
            <a:r>
              <a:rPr sz="1050" b="0" i="0" lang="en-US" spc="120">
                <a:solidFill>
                  <a:srgbClr val="FFFFFF"/>
                </a:solidFill>
                <a:latin typeface="JetBrains Mono" pitchFamily="49" charset="0"/>
              </a:rPr>
              <a:t>DESKANCHOR · LAST 12 CYCLES</a:t>
            </a:r>
          </a:p>
        </p:txBody>
      </p:sp>
      <p:sp>
        <p:nvSpPr>
          <p:cNvPr id="125" name="Chip · EVERY 5 MIN"/>
          <p:cNvSpPr/>
          <p:nvPr/>
        </p:nvSpPr>
        <p:spPr>
          <a:xfrm>
            <a:off x="594360" y="5961888"/>
            <a:ext cx="1323467"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Chip text"/>
          <p:cNvSpPr txBox="1"/>
          <p:nvPr/>
        </p:nvSpPr>
        <p:spPr>
          <a:xfrm>
            <a:off x="731520" y="5961888"/>
            <a:ext cx="1049147"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ECE8FA"/>
                </a:solidFill>
                <a:latin typeface="JetBrains Mono" pitchFamily="49" charset="0"/>
              </a:rPr>
              <a:t>EVERY 5 MIN</a:t>
            </a:r>
          </a:p>
        </p:txBody>
      </p:sp>
      <p:sp>
        <p:nvSpPr>
          <p:cNvPr id="127" name="Chip · ERC-8004 ANALYSTS"/>
          <p:cNvSpPr/>
          <p:nvPr/>
        </p:nvSpPr>
        <p:spPr>
          <a:xfrm>
            <a:off x="2027555" y="5961888"/>
            <a:ext cx="1895729"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Chip text"/>
          <p:cNvSpPr txBox="1"/>
          <p:nvPr/>
        </p:nvSpPr>
        <p:spPr>
          <a:xfrm>
            <a:off x="2164715" y="5961888"/>
            <a:ext cx="1621409"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ECE8FA"/>
                </a:solidFill>
                <a:latin typeface="JetBrains Mono" pitchFamily="49" charset="0"/>
              </a:rPr>
              <a:t>ERC-8004 ANALYSTS</a:t>
            </a:r>
          </a:p>
        </p:txBody>
      </p:sp>
      <p:sp>
        <p:nvSpPr>
          <p:cNvPr id="129" name="Chip · ONE PAPER BOOK · MAX 5 POSITIONS"/>
          <p:cNvSpPr/>
          <p:nvPr/>
        </p:nvSpPr>
        <p:spPr>
          <a:xfrm>
            <a:off x="4033012" y="5961888"/>
            <a:ext cx="3326384"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Chip text"/>
          <p:cNvSpPr txBox="1"/>
          <p:nvPr/>
        </p:nvSpPr>
        <p:spPr>
          <a:xfrm>
            <a:off x="4170172" y="5961888"/>
            <a:ext cx="3052064"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ECE8FA"/>
                </a:solidFill>
                <a:latin typeface="JetBrains Mono" pitchFamily="49" charset="0"/>
              </a:rPr>
              <a:t>ONE PAPER BOOK · MAX 5 POSITIONS</a:t>
            </a:r>
          </a:p>
        </p:txBody>
      </p:sp>
      <p:sp>
        <p:nvSpPr>
          <p:cNvPr id="131" name="Note"/>
          <p:cNvSpPr txBox="1"/>
          <p:nvPr/>
        </p:nvSpPr>
        <p:spPr>
          <a:xfrm>
            <a:off x="6400800" y="5961888"/>
            <a:ext cx="5212080" cy="274320"/>
          </a:xfrm>
          <a:prstGeom prst="rect">
            <a:avLst/>
          </a:prstGeom>
          <a:noFill/>
        </p:spPr>
        <p:txBody>
          <a:bodyPr wrap="square" lIns="0" rIns="0" tIns="0" bIns="0" anchor="ctr">
            <a:noAutofit/>
          </a:bodyPr>
          <a:lstStyle/>
          <a:p>
            <a:pPr algn="r">
              <a:lnSpc>
                <a:spcPct val="125000"/>
              </a:lnSpc>
              <a:spcBef>
                <a:spcPts val="0"/>
              </a:spcBef>
              <a:spcAft>
                <a:spcPts val="0"/>
              </a:spcAft>
            </a:pPr>
            <a:r>
              <a:rPr sz="1050" b="0" i="0" lang="en-US">
                <a:solidFill>
                  <a:srgbClr val="8B86A6"/>
                </a:solidFill>
                <a:latin typeface="JetBrains Mono" pitchFamily="49" charset="0"/>
              </a:rPr>
              <a:t>REAL DECISIONS · PAPER MONEY</a:t>
            </a:r>
          </a:p>
        </p:txBody>
      </p:sp>
      <p:sp>
        <p:nvSpPr>
          <p:cNvPr id="132"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133"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7498080" cy="1097280"/>
          </a:xfrm>
        </p:spPr>
        <p:txBody>
          <a:bodyPr wrap="square" lIns="0" rIns="0" tIns="0" bIns="0" anchor="t">
            <a:noAutofit/>
          </a:bodyPr>
          <a:lstStyle/>
          <a:p>
            <a:pPr algn="l">
              <a:lnSpc>
                <a:spcPct val="102000"/>
              </a:lnSpc>
              <a:spcBef>
                <a:spcPts val="0"/>
              </a:spcBef>
              <a:spcAft>
                <a:spcPts val="0"/>
              </a:spcAft>
            </a:pPr>
            <a:r>
              <a:rPr sz="3800" b="0" i="0" lang="en-US">
                <a:solidFill>
                  <a:srgbClr val="ECE8FA"/>
                </a:solidFill>
                <a:latin typeface="Archivo" pitchFamily="34" charset="0"/>
              </a:rPr>
              <a:t>Pay per call.</a:t>
            </a:r>
            <a:br>
              <a:rPr sz="3800"/>
            </a:br>
            <a:r>
              <a:rPr sz="3800" b="1" i="1" lang="en-US">
                <a:solidFill>
                  <a:srgbClr val="9D86FF"/>
                </a:solidFill>
                <a:latin typeface="Archivo" pitchFamily="34" charset="0"/>
              </a:rPr>
              <a:t>No subscription. No custody.</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07 — THE MARKET</a:t>
            </a:r>
          </a:p>
        </p:txBody>
      </p:sp>
      <p:sp>
        <p:nvSpPr>
          <p:cNvPr id="7" name="Chip · AGENT · MCP + x402"/>
          <p:cNvSpPr/>
          <p:nvPr/>
        </p:nvSpPr>
        <p:spPr>
          <a:xfrm>
            <a:off x="9423349" y="987552"/>
            <a:ext cx="1991106"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hip text"/>
          <p:cNvSpPr txBox="1"/>
          <p:nvPr/>
        </p:nvSpPr>
        <p:spPr>
          <a:xfrm>
            <a:off x="9560509" y="987552"/>
            <a:ext cx="1716786"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ECE8FA"/>
                </a:solidFill>
                <a:latin typeface="JetBrains Mono" pitchFamily="49" charset="0"/>
              </a:rPr>
              <a:t>AGENT · MCP + X402</a:t>
            </a:r>
          </a:p>
        </p:txBody>
      </p:sp>
      <p:sp>
        <p:nvSpPr>
          <p:cNvPr id="9" name="Chip · HUMAN · web + Telegram"/>
          <p:cNvSpPr/>
          <p:nvPr/>
        </p:nvSpPr>
        <p:spPr>
          <a:xfrm>
            <a:off x="6758127" y="987552"/>
            <a:ext cx="2372614" cy="274320"/>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ip text"/>
          <p:cNvSpPr txBox="1"/>
          <p:nvPr/>
        </p:nvSpPr>
        <p:spPr>
          <a:xfrm>
            <a:off x="6895287" y="987552"/>
            <a:ext cx="2098294"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ECE8FA"/>
                </a:solidFill>
                <a:latin typeface="JetBrains Mono" pitchFamily="49" charset="0"/>
              </a:rPr>
              <a:t>HUMAN · WEB + TELEGRAM</a:t>
            </a:r>
          </a:p>
        </p:txBody>
      </p:sp>
      <p:sp>
        <p:nvSpPr>
          <p:cNvPr id="11" name="Flow 1"/>
          <p:cNvSpPr/>
          <p:nvPr/>
        </p:nvSpPr>
        <p:spPr>
          <a:xfrm>
            <a:off x="594360" y="2286000"/>
            <a:ext cx="1951878" cy="1874520"/>
          </a:xfrm>
          <a:prstGeom prst="roundRect">
            <a:avLst>
              <a:gd name="adj" fmla="val 1073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low tag 1"/>
          <p:cNvSpPr txBox="1"/>
          <p:nvPr/>
        </p:nvSpPr>
        <p:spPr>
          <a:xfrm>
            <a:off x="777240" y="2450592"/>
            <a:ext cx="1586118" cy="201168"/>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9D86FF"/>
                </a:solidFill>
                <a:latin typeface="JetBrains Mono" pitchFamily="49" charset="0"/>
              </a:rPr>
              <a:t>01 · BUYER</a:t>
            </a:r>
          </a:p>
        </p:txBody>
      </p:sp>
      <p:sp>
        <p:nvSpPr>
          <p:cNvPr id="13" name="Flow title 1"/>
          <p:cNvSpPr txBox="1"/>
          <p:nvPr/>
        </p:nvSpPr>
        <p:spPr>
          <a:xfrm>
            <a:off x="777240" y="2743200"/>
            <a:ext cx="1586118" cy="512064"/>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Ask for a signal</a:t>
            </a:r>
          </a:p>
        </p:txBody>
      </p:sp>
      <p:sp>
        <p:nvSpPr>
          <p:cNvPr id="14" name="Flow text 1"/>
          <p:cNvSpPr txBox="1"/>
          <p:nvPr/>
        </p:nvSpPr>
        <p:spPr>
          <a:xfrm>
            <a:off x="777240" y="3273552"/>
            <a:ext cx="1586118" cy="868680"/>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C9BDF2"/>
                </a:solidFill>
                <a:latin typeface="Inter" pitchFamily="34" charset="0"/>
              </a:rPr>
              <a:t>A person on web or Telegram, or an agent via MCP, asks for today's signal.</a:t>
            </a:r>
          </a:p>
        </p:txBody>
      </p:sp>
      <p:sp>
        <p:nvSpPr>
          <p:cNvPr id="15" name="Flow arrow"/>
          <p:cNvSpPr/>
          <p:nvPr/>
        </p:nvSpPr>
        <p:spPr>
          <a:xfrm>
            <a:off x="2582814" y="3223260"/>
            <a:ext cx="237744" cy="0"/>
          </a:xfrm>
          <a:custGeom>
            <a:avLst/>
            <a:gdLst/>
            <a:ahLst/>
            <a:cxnLst/>
            <a:rect l="l" t="t" r="r" b="b"/>
            <a:pathLst>
              <a:path w="237744" h="0">
                <a:moveTo>
                  <a:pt x="0" y="0"/>
                </a:moveTo>
                <a:lnTo>
                  <a:pt x="237744" y="0"/>
                </a:lnTo>
              </a:path>
            </a:pathLst>
          </a:custGeom>
          <a:noFill/>
          <a:ln w="22860" cap="rnd">
            <a:solidFill>
              <a:srgbClr val="9D86FF">
                <a:alpha val="95000"/>
              </a:srgbClr>
            </a:solidFill>
            <a:round/>
            <a:tailEnd type="triangle" w="med" len="med"/>
          </a:ln>
          <a:effectLst>
            <a:glow rad="50800">
              <a:srgbClr val="9D86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low 2"/>
          <p:cNvSpPr/>
          <p:nvPr/>
        </p:nvSpPr>
        <p:spPr>
          <a:xfrm>
            <a:off x="2857134" y="2286000"/>
            <a:ext cx="1951878" cy="1874520"/>
          </a:xfrm>
          <a:prstGeom prst="roundRect">
            <a:avLst>
              <a:gd name="adj" fmla="val 1073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low tag 2"/>
          <p:cNvSpPr txBox="1"/>
          <p:nvPr/>
        </p:nvSpPr>
        <p:spPr>
          <a:xfrm>
            <a:off x="3040014" y="2450592"/>
            <a:ext cx="1586118" cy="201168"/>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9D86FF"/>
                </a:solidFill>
                <a:latin typeface="JetBrains Mono" pitchFamily="49" charset="0"/>
              </a:rPr>
              <a:t>02 · HTTP 402</a:t>
            </a:r>
          </a:p>
        </p:txBody>
      </p:sp>
      <p:sp>
        <p:nvSpPr>
          <p:cNvPr id="18" name="Flow title 2"/>
          <p:cNvSpPr txBox="1"/>
          <p:nvPr/>
        </p:nvSpPr>
        <p:spPr>
          <a:xfrm>
            <a:off x="3040014" y="2743200"/>
            <a:ext cx="1586118" cy="512064"/>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Price first</a:t>
            </a:r>
          </a:p>
        </p:txBody>
      </p:sp>
      <p:sp>
        <p:nvSpPr>
          <p:cNvPr id="19" name="Flow text 2"/>
          <p:cNvSpPr txBox="1"/>
          <p:nvPr/>
        </p:nvSpPr>
        <p:spPr>
          <a:xfrm>
            <a:off x="3040014" y="3273552"/>
            <a:ext cx="1586118" cy="868680"/>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C9BDF2"/>
                </a:solidFill>
                <a:latin typeface="Inter" pitchFamily="34" charset="0"/>
              </a:rPr>
              <a:t>The gate answers 402 Payment Required, with the price: 0.01 FAB today.</a:t>
            </a:r>
          </a:p>
        </p:txBody>
      </p:sp>
      <p:sp>
        <p:nvSpPr>
          <p:cNvPr id="20" name="Flow arrow"/>
          <p:cNvSpPr/>
          <p:nvPr/>
        </p:nvSpPr>
        <p:spPr>
          <a:xfrm>
            <a:off x="4845588" y="3223260"/>
            <a:ext cx="237744" cy="0"/>
          </a:xfrm>
          <a:custGeom>
            <a:avLst/>
            <a:gdLst/>
            <a:ahLst/>
            <a:cxnLst/>
            <a:rect l="l" t="t" r="r" b="b"/>
            <a:pathLst>
              <a:path w="237744" h="0">
                <a:moveTo>
                  <a:pt x="0" y="0"/>
                </a:moveTo>
                <a:lnTo>
                  <a:pt x="237744" y="0"/>
                </a:lnTo>
              </a:path>
            </a:pathLst>
          </a:custGeom>
          <a:noFill/>
          <a:ln w="22860" cap="rnd">
            <a:solidFill>
              <a:srgbClr val="9D86FF">
                <a:alpha val="95000"/>
              </a:srgbClr>
            </a:solidFill>
            <a:round/>
            <a:tailEnd type="triangle" w="med" len="med"/>
          </a:ln>
          <a:effectLst>
            <a:glow rad="50800">
              <a:srgbClr val="9D86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low 3"/>
          <p:cNvSpPr/>
          <p:nvPr/>
        </p:nvSpPr>
        <p:spPr>
          <a:xfrm>
            <a:off x="5119908" y="2286000"/>
            <a:ext cx="1951878" cy="1874520"/>
          </a:xfrm>
          <a:prstGeom prst="roundRect">
            <a:avLst>
              <a:gd name="adj" fmla="val 1073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low tag 3"/>
          <p:cNvSpPr txBox="1"/>
          <p:nvPr/>
        </p:nvSpPr>
        <p:spPr>
          <a:xfrm>
            <a:off x="5302788" y="2450592"/>
            <a:ext cx="1586118" cy="201168"/>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9D86FF"/>
                </a:solidFill>
                <a:latin typeface="JetBrains Mono" pitchFamily="49" charset="0"/>
              </a:rPr>
              <a:t>03 · SIGN</a:t>
            </a:r>
          </a:p>
        </p:txBody>
      </p:sp>
      <p:sp>
        <p:nvSpPr>
          <p:cNvPr id="23" name="Flow title 3"/>
          <p:cNvSpPr txBox="1"/>
          <p:nvPr/>
        </p:nvSpPr>
        <p:spPr>
          <a:xfrm>
            <a:off x="5302788" y="2743200"/>
            <a:ext cx="1586118" cy="512064"/>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Sign, don't send</a:t>
            </a:r>
          </a:p>
        </p:txBody>
      </p:sp>
      <p:sp>
        <p:nvSpPr>
          <p:cNvPr id="24" name="Flow text 3"/>
          <p:cNvSpPr txBox="1"/>
          <p:nvPr/>
        </p:nvSpPr>
        <p:spPr>
          <a:xfrm>
            <a:off x="5302788" y="3273552"/>
            <a:ext cx="1586118" cy="868680"/>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C9BDF2"/>
                </a:solidFill>
                <a:latin typeface="Inter" pitchFamily="34" charset="0"/>
              </a:rPr>
              <a:t>The buyer signs a permit. No gas to hold, no deposit, no balance.</a:t>
            </a:r>
          </a:p>
        </p:txBody>
      </p:sp>
      <p:sp>
        <p:nvSpPr>
          <p:cNvPr id="25" name="Flow arrow"/>
          <p:cNvSpPr/>
          <p:nvPr/>
        </p:nvSpPr>
        <p:spPr>
          <a:xfrm>
            <a:off x="7108363" y="3223260"/>
            <a:ext cx="237744" cy="0"/>
          </a:xfrm>
          <a:custGeom>
            <a:avLst/>
            <a:gdLst/>
            <a:ahLst/>
            <a:cxnLst/>
            <a:rect l="l" t="t" r="r" b="b"/>
            <a:pathLst>
              <a:path w="237744" h="0">
                <a:moveTo>
                  <a:pt x="0" y="0"/>
                </a:moveTo>
                <a:lnTo>
                  <a:pt x="237744" y="0"/>
                </a:lnTo>
              </a:path>
            </a:pathLst>
          </a:custGeom>
          <a:noFill/>
          <a:ln w="22860" cap="rnd">
            <a:solidFill>
              <a:srgbClr val="9D86FF">
                <a:alpha val="95000"/>
              </a:srgbClr>
            </a:solidFill>
            <a:round/>
            <a:tailEnd type="triangle" w="med" len="med"/>
          </a:ln>
          <a:effectLst>
            <a:glow rad="50800">
              <a:srgbClr val="9D86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low 4"/>
          <p:cNvSpPr/>
          <p:nvPr/>
        </p:nvSpPr>
        <p:spPr>
          <a:xfrm>
            <a:off x="7382683" y="2286000"/>
            <a:ext cx="1951878" cy="1874520"/>
          </a:xfrm>
          <a:prstGeom prst="roundRect">
            <a:avLst>
              <a:gd name="adj" fmla="val 1073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low tag 4"/>
          <p:cNvSpPr txBox="1"/>
          <p:nvPr/>
        </p:nvSpPr>
        <p:spPr>
          <a:xfrm>
            <a:off x="7565563" y="2450592"/>
            <a:ext cx="1586118" cy="201168"/>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9D86FF"/>
                </a:solidFill>
                <a:latin typeface="JetBrains Mono" pitchFamily="49" charset="0"/>
              </a:rPr>
              <a:t>04 · SETTLE</a:t>
            </a:r>
          </a:p>
        </p:txBody>
      </p:sp>
      <p:sp>
        <p:nvSpPr>
          <p:cNvPr id="28" name="Flow title 4"/>
          <p:cNvSpPr txBox="1"/>
          <p:nvPr/>
        </p:nvSpPr>
        <p:spPr>
          <a:xfrm>
            <a:off x="7565563" y="2743200"/>
            <a:ext cx="1586118" cy="512064"/>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The gate settles</a:t>
            </a:r>
          </a:p>
        </p:txBody>
      </p:sp>
      <p:sp>
        <p:nvSpPr>
          <p:cNvPr id="29" name="Flow text 4"/>
          <p:cNvSpPr txBox="1"/>
          <p:nvPr/>
        </p:nvSpPr>
        <p:spPr>
          <a:xfrm>
            <a:off x="7565563" y="3273552"/>
            <a:ext cx="1586118" cy="868680"/>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C9BDF2"/>
                </a:solidFill>
                <a:latin typeface="Inter" pitchFamily="34" charset="0"/>
              </a:rPr>
              <a:t>x402 and Permit2 move the token. The gate pays the gas.</a:t>
            </a:r>
          </a:p>
        </p:txBody>
      </p:sp>
      <p:sp>
        <p:nvSpPr>
          <p:cNvPr id="30" name="Flow arrow"/>
          <p:cNvSpPr/>
          <p:nvPr/>
        </p:nvSpPr>
        <p:spPr>
          <a:xfrm>
            <a:off x="9371137" y="3223260"/>
            <a:ext cx="237744" cy="0"/>
          </a:xfrm>
          <a:custGeom>
            <a:avLst/>
            <a:gdLst/>
            <a:ahLst/>
            <a:cxnLst/>
            <a:rect l="l" t="t" r="r" b="b"/>
            <a:pathLst>
              <a:path w="237744" h="0">
                <a:moveTo>
                  <a:pt x="0" y="0"/>
                </a:moveTo>
                <a:lnTo>
                  <a:pt x="237744" y="0"/>
                </a:lnTo>
              </a:path>
            </a:pathLst>
          </a:custGeom>
          <a:noFill/>
          <a:ln w="22860" cap="rnd">
            <a:solidFill>
              <a:srgbClr val="9D86FF">
                <a:alpha val="95000"/>
              </a:srgbClr>
            </a:solidFill>
            <a:round/>
            <a:tailEnd type="triangle" w="med" len="med"/>
          </a:ln>
          <a:effectLst>
            <a:glow rad="50800">
              <a:srgbClr val="9D86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low 5"/>
          <p:cNvSpPr/>
          <p:nvPr/>
        </p:nvSpPr>
        <p:spPr>
          <a:xfrm>
            <a:off x="9645457" y="2286000"/>
            <a:ext cx="1951878" cy="1874520"/>
          </a:xfrm>
          <a:prstGeom prst="roundRect">
            <a:avLst>
              <a:gd name="adj" fmla="val 10731"/>
            </a:avLst>
          </a:prstGeom>
          <a:gradFill rotWithShape="1">
            <a:gsLst>
              <a:gs pos="0">
                <a:srgbClr val="6E4BFF">
                  <a:alpha val="30000"/>
                </a:srgbClr>
              </a:gs>
              <a:gs pos="100000">
                <a:srgbClr val="6E4BFF">
                  <a:alpha val="10000"/>
                </a:srgbClr>
              </a:gs>
            </a:gsLst>
            <a:lin ang="8100000" scaled="0"/>
          </a:gradFill>
          <a:ln w="9525" cap="rnd">
            <a:solidFill>
              <a:srgbClr val="9D86FF">
                <a:alpha val="7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low tag 5"/>
          <p:cNvSpPr txBox="1"/>
          <p:nvPr/>
        </p:nvSpPr>
        <p:spPr>
          <a:xfrm>
            <a:off x="9828337" y="2450592"/>
            <a:ext cx="1586118" cy="201168"/>
          </a:xfrm>
          <a:prstGeom prst="rect">
            <a:avLst/>
          </a:prstGeom>
          <a:noFill/>
        </p:spPr>
        <p:txBody>
          <a:bodyPr wrap="square" lIns="0" rIns="0" tIns="0" bIns="0" anchor="t">
            <a:noAutofit/>
          </a:bodyPr>
          <a:lstStyle/>
          <a:p>
            <a:pPr algn="l">
              <a:lnSpc>
                <a:spcPct val="120000"/>
              </a:lnSpc>
              <a:spcBef>
                <a:spcPts val="0"/>
              </a:spcBef>
              <a:spcAft>
                <a:spcPts val="0"/>
              </a:spcAft>
            </a:pPr>
            <a:r>
              <a:rPr sz="1050" b="0" i="0" lang="en-US" spc="120">
                <a:solidFill>
                  <a:srgbClr val="9D86FF"/>
                </a:solidFill>
                <a:latin typeface="JetBrains Mono" pitchFamily="49" charset="0"/>
              </a:rPr>
              <a:t>05 · DELIVER</a:t>
            </a:r>
          </a:p>
        </p:txBody>
      </p:sp>
      <p:sp>
        <p:nvSpPr>
          <p:cNvPr id="33" name="Flow title 5"/>
          <p:cNvSpPr txBox="1"/>
          <p:nvPr/>
        </p:nvSpPr>
        <p:spPr>
          <a:xfrm>
            <a:off x="9828337" y="2743200"/>
            <a:ext cx="1586118" cy="512064"/>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Signal + proof</a:t>
            </a:r>
          </a:p>
        </p:txBody>
      </p:sp>
      <p:sp>
        <p:nvSpPr>
          <p:cNvPr id="34" name="Flow text 5"/>
          <p:cNvSpPr txBox="1"/>
          <p:nvPr/>
        </p:nvSpPr>
        <p:spPr>
          <a:xfrm>
            <a:off x="9828337" y="3273552"/>
            <a:ext cx="1586118" cy="868680"/>
          </a:xfrm>
          <a:prstGeom prst="rect">
            <a:avLst/>
          </a:prstGeom>
          <a:noFill/>
        </p:spPr>
        <p:txBody>
          <a:bodyPr wrap="square" lIns="0" rIns="0" tIns="0" bIns="0" anchor="t">
            <a:noAutofit/>
          </a:bodyPr>
          <a:lstStyle/>
          <a:p>
            <a:pPr algn="l">
              <a:lnSpc>
                <a:spcPct val="125000"/>
              </a:lnSpc>
              <a:spcBef>
                <a:spcPts val="0"/>
              </a:spcBef>
              <a:spcAft>
                <a:spcPts val="0"/>
              </a:spcAft>
            </a:pPr>
            <a:r>
              <a:rPr sz="1100" b="0" i="0" lang="en-US">
                <a:solidFill>
                  <a:srgbClr val="C9BDF2"/>
                </a:solidFill>
                <a:latin typeface="Inter" pitchFamily="34" charset="0"/>
              </a:rPr>
              <a:t>It arrives with its commit proof, so anyone can check it was sealed first.</a:t>
            </a:r>
          </a:p>
        </p:txBody>
      </p:sp>
      <p:grpSp>
        <p:nvGrpSpPr>
          <p:cNvPr id="35" name="Scene · business flow"/>
          <p:cNvGrpSpPr/>
          <p:nvPr/>
        </p:nvGrpSpPr>
        <p:grpSpPr>
          <a:xfrm>
            <a:off x="0" y="0"/>
            <a:ext cx="0" cy="0"/>
            <a:chOff x="0" y="0"/>
            <a:chExt cx="0" cy="0"/>
          </a:xfrm>
        </p:grpSpPr>
        <p:sp>
          <p:nvSpPr>
            <p:cNvPr id="36" name="Builders · kiri"/>
            <p:cNvSpPr/>
            <p:nvPr/>
          </p:nvSpPr>
          <p:spPr>
            <a:xfrm>
              <a:off x="1052629" y="4857293"/>
              <a:ext cx="456131" cy="790041"/>
            </a:xfrm>
            <a:custGeom>
              <a:avLst/>
              <a:gdLst/>
              <a:ahLst/>
              <a:cxnLst/>
              <a:rect l="l" t="t" r="r" b="b"/>
              <a:pathLst>
                <a:path w="456131" h="790041">
                  <a:moveTo>
                    <a:pt x="0" y="526694"/>
                  </a:moveTo>
                  <a:lnTo>
                    <a:pt x="456131" y="790041"/>
                  </a:lnTo>
                  <a:lnTo>
                    <a:pt x="456131" y="263347"/>
                  </a:lnTo>
                  <a:lnTo>
                    <a:pt x="0" y="0"/>
                  </a:lnTo>
                  <a:close/>
                </a:path>
              </a:pathLst>
            </a:custGeom>
            <a:solidFill>
              <a:srgbClr val="4B2FD6">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uilders · kanan"/>
            <p:cNvSpPr/>
            <p:nvPr/>
          </p:nvSpPr>
          <p:spPr>
            <a:xfrm>
              <a:off x="1508760" y="4857293"/>
              <a:ext cx="456131" cy="790041"/>
            </a:xfrm>
            <a:custGeom>
              <a:avLst/>
              <a:gdLst/>
              <a:ahLst/>
              <a:cxnLst/>
              <a:rect l="l" t="t" r="r" b="b"/>
              <a:pathLst>
                <a:path w="456131" h="790041">
                  <a:moveTo>
                    <a:pt x="456131" y="526694"/>
                  </a:moveTo>
                  <a:lnTo>
                    <a:pt x="0" y="790041"/>
                  </a:lnTo>
                  <a:lnTo>
                    <a:pt x="0" y="263347"/>
                  </a:lnTo>
                  <a:lnTo>
                    <a:pt x="456131" y="0"/>
                  </a:lnTo>
                  <a:close/>
                </a:path>
              </a:pathLst>
            </a:custGeom>
            <a:solidFill>
              <a:srgbClr val="6E4B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uilders · atas"/>
            <p:cNvSpPr/>
            <p:nvPr/>
          </p:nvSpPr>
          <p:spPr>
            <a:xfrm>
              <a:off x="1052629" y="4593946"/>
              <a:ext cx="912262" cy="526694"/>
            </a:xfrm>
            <a:custGeom>
              <a:avLst/>
              <a:gdLst/>
              <a:ahLst/>
              <a:cxnLst/>
              <a:rect l="l" t="t" r="r" b="b"/>
              <a:pathLst>
                <a:path w="912262" h="526694">
                  <a:moveTo>
                    <a:pt x="456131" y="0"/>
                  </a:moveTo>
                  <a:lnTo>
                    <a:pt x="912262" y="263347"/>
                  </a:lnTo>
                  <a:lnTo>
                    <a:pt x="456131" y="526694"/>
                  </a:lnTo>
                  <a:lnTo>
                    <a:pt x="0" y="263347"/>
                  </a:lnTo>
                  <a:close/>
                </a:path>
              </a:pathLst>
            </a:custGeom>
            <a:solidFill>
              <a:srgbClr val="8E75FF">
                <a:alpha val="98000"/>
              </a:srgbClr>
            </a:solidFill>
            <a:ln w="9525" cap="rnd">
              <a:solidFill>
                <a:srgbClr val="FFFFFF">
                  <a:alpha val="50000"/>
                </a:srgbClr>
              </a:solidFill>
              <a:round/>
            </a:ln>
            <a:effectLst>
              <a:glow rad="101600">
                <a:srgbClr val="6E4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abius · kiri"/>
            <p:cNvSpPr/>
            <p:nvPr/>
          </p:nvSpPr>
          <p:spPr>
            <a:xfrm>
              <a:off x="3344545" y="4807915"/>
              <a:ext cx="541655" cy="938175"/>
            </a:xfrm>
            <a:custGeom>
              <a:avLst/>
              <a:gdLst/>
              <a:ahLst/>
              <a:cxnLst/>
              <a:rect l="l" t="t" r="r" b="b"/>
              <a:pathLst>
                <a:path w="541655" h="938175">
                  <a:moveTo>
                    <a:pt x="0" y="625450"/>
                  </a:moveTo>
                  <a:lnTo>
                    <a:pt x="541655" y="938175"/>
                  </a:lnTo>
                  <a:lnTo>
                    <a:pt x="541655" y="312725"/>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abius · kanan"/>
            <p:cNvSpPr/>
            <p:nvPr/>
          </p:nvSpPr>
          <p:spPr>
            <a:xfrm>
              <a:off x="3886200" y="4807915"/>
              <a:ext cx="541655" cy="938175"/>
            </a:xfrm>
            <a:custGeom>
              <a:avLst/>
              <a:gdLst/>
              <a:ahLst/>
              <a:cxnLst/>
              <a:rect l="l" t="t" r="r" b="b"/>
              <a:pathLst>
                <a:path w="541655" h="938175">
                  <a:moveTo>
                    <a:pt x="541655" y="625450"/>
                  </a:moveTo>
                  <a:lnTo>
                    <a:pt x="0" y="938175"/>
                  </a:lnTo>
                  <a:lnTo>
                    <a:pt x="0" y="312725"/>
                  </a:lnTo>
                  <a:lnTo>
                    <a:pt x="541655"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bius · atas"/>
            <p:cNvSpPr/>
            <p:nvPr/>
          </p:nvSpPr>
          <p:spPr>
            <a:xfrm>
              <a:off x="3344545" y="4495190"/>
              <a:ext cx="1083310" cy="625450"/>
            </a:xfrm>
            <a:custGeom>
              <a:avLst/>
              <a:gdLst/>
              <a:ahLst/>
              <a:cxnLst/>
              <a:rect l="l" t="t" r="r" b="b"/>
              <a:pathLst>
                <a:path w="1083310" h="625450">
                  <a:moveTo>
                    <a:pt x="541655" y="0"/>
                  </a:moveTo>
                  <a:lnTo>
                    <a:pt x="1083310" y="312725"/>
                  </a:lnTo>
                  <a:lnTo>
                    <a:pt x="541655" y="625450"/>
                  </a:lnTo>
                  <a:lnTo>
                    <a:pt x="0" y="312725"/>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uyers · kiri"/>
            <p:cNvSpPr/>
            <p:nvPr/>
          </p:nvSpPr>
          <p:spPr>
            <a:xfrm>
              <a:off x="5807509" y="4857293"/>
              <a:ext cx="456131" cy="790041"/>
            </a:xfrm>
            <a:custGeom>
              <a:avLst/>
              <a:gdLst/>
              <a:ahLst/>
              <a:cxnLst/>
              <a:rect l="l" t="t" r="r" b="b"/>
              <a:pathLst>
                <a:path w="456131" h="790041">
                  <a:moveTo>
                    <a:pt x="0" y="526694"/>
                  </a:moveTo>
                  <a:lnTo>
                    <a:pt x="456131" y="790041"/>
                  </a:lnTo>
                  <a:lnTo>
                    <a:pt x="456131" y="263347"/>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uyers · kanan"/>
            <p:cNvSpPr/>
            <p:nvPr/>
          </p:nvSpPr>
          <p:spPr>
            <a:xfrm>
              <a:off x="6263640" y="4857293"/>
              <a:ext cx="456131" cy="790041"/>
            </a:xfrm>
            <a:custGeom>
              <a:avLst/>
              <a:gdLst/>
              <a:ahLst/>
              <a:cxnLst/>
              <a:rect l="l" t="t" r="r" b="b"/>
              <a:pathLst>
                <a:path w="456131" h="790041">
                  <a:moveTo>
                    <a:pt x="456131" y="526694"/>
                  </a:moveTo>
                  <a:lnTo>
                    <a:pt x="0" y="790041"/>
                  </a:lnTo>
                  <a:lnTo>
                    <a:pt x="0" y="263347"/>
                  </a:lnTo>
                  <a:lnTo>
                    <a:pt x="456131"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uyers · atas"/>
            <p:cNvSpPr/>
            <p:nvPr/>
          </p:nvSpPr>
          <p:spPr>
            <a:xfrm>
              <a:off x="5807509" y="4593946"/>
              <a:ext cx="912262" cy="526694"/>
            </a:xfrm>
            <a:custGeom>
              <a:avLst/>
              <a:gdLst/>
              <a:ahLst/>
              <a:cxnLst/>
              <a:rect l="l" t="t" r="r" b="b"/>
              <a:pathLst>
                <a:path w="912262" h="526694">
                  <a:moveTo>
                    <a:pt x="456131" y="0"/>
                  </a:moveTo>
                  <a:lnTo>
                    <a:pt x="912262" y="263347"/>
                  </a:lnTo>
                  <a:lnTo>
                    <a:pt x="456131" y="526694"/>
                  </a:lnTo>
                  <a:lnTo>
                    <a:pt x="0" y="263347"/>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5" name="PUBLISHERS label"/>
          <p:cNvSpPr txBox="1"/>
          <p:nvPr/>
        </p:nvSpPr>
        <p:spPr>
          <a:xfrm>
            <a:off x="457200" y="5779008"/>
            <a:ext cx="2103120" cy="237744"/>
          </a:xfrm>
          <a:prstGeom prst="rect">
            <a:avLst/>
          </a:prstGeom>
          <a:noFill/>
        </p:spPr>
        <p:txBody>
          <a:bodyPr wrap="square" lIns="0" rIns="0" tIns="0" bIns="0" anchor="t">
            <a:noAutofit/>
          </a:bodyPr>
          <a:lstStyle/>
          <a:p>
            <a:pPr algn="ctr">
              <a:lnSpc>
                <a:spcPct val="120000"/>
              </a:lnSpc>
              <a:spcBef>
                <a:spcPts val="0"/>
              </a:spcBef>
              <a:spcAft>
                <a:spcPts val="0"/>
              </a:spcAft>
            </a:pPr>
            <a:r>
              <a:rPr sz="1050" b="0" i="0" lang="en-US" spc="120">
                <a:solidFill>
                  <a:srgbClr val="FFFFFF"/>
                </a:solidFill>
                <a:latin typeface="JetBrains Mono" pitchFamily="49" charset="0"/>
              </a:rPr>
              <a:t>PUBLISHERS</a:t>
            </a:r>
          </a:p>
        </p:txBody>
      </p:sp>
      <p:sp>
        <p:nvSpPr>
          <p:cNvPr id="46" name="PUBLISHERS text"/>
          <p:cNvSpPr txBox="1"/>
          <p:nvPr/>
        </p:nvSpPr>
        <p:spPr>
          <a:xfrm>
            <a:off x="457200" y="6016752"/>
            <a:ext cx="2103120" cy="457200"/>
          </a:xfrm>
          <a:prstGeom prst="rect">
            <a:avLst/>
          </a:prstGeom>
          <a:noFill/>
        </p:spPr>
        <p:txBody>
          <a:bodyPr wrap="square" lIns="0" rIns="0" tIns="0" bIns="0" anchor="t">
            <a:noAutofit/>
          </a:bodyPr>
          <a:lstStyle/>
          <a:p>
            <a:pPr algn="ctr">
              <a:lnSpc>
                <a:spcPct val="120000"/>
              </a:lnSpc>
              <a:spcBef>
                <a:spcPts val="0"/>
              </a:spcBef>
              <a:spcAft>
                <a:spcPts val="0"/>
              </a:spcAft>
            </a:pPr>
            <a:r>
              <a:rPr sz="1000" b="0" i="0" lang="en-US">
                <a:solidFill>
                  <a:srgbClr val="8B86A6"/>
                </a:solidFill>
                <a:latin typeface="JetBrains Mono" pitchFamily="49" charset="0"/>
              </a:rPr>
              <a:t>bring bots and agents</a:t>
            </a:r>
          </a:p>
        </p:txBody>
      </p:sp>
      <p:sp>
        <p:nvSpPr>
          <p:cNvPr id="47" name="FABIUS label"/>
          <p:cNvSpPr txBox="1"/>
          <p:nvPr/>
        </p:nvSpPr>
        <p:spPr>
          <a:xfrm>
            <a:off x="2834640" y="5779008"/>
            <a:ext cx="2103120" cy="237744"/>
          </a:xfrm>
          <a:prstGeom prst="rect">
            <a:avLst/>
          </a:prstGeom>
          <a:noFill/>
        </p:spPr>
        <p:txBody>
          <a:bodyPr wrap="square" lIns="0" rIns="0" tIns="0" bIns="0" anchor="t">
            <a:noAutofit/>
          </a:bodyPr>
          <a:lstStyle/>
          <a:p>
            <a:pPr algn="ctr">
              <a:lnSpc>
                <a:spcPct val="120000"/>
              </a:lnSpc>
              <a:spcBef>
                <a:spcPts val="0"/>
              </a:spcBef>
              <a:spcAft>
                <a:spcPts val="0"/>
              </a:spcAft>
            </a:pPr>
            <a:r>
              <a:rPr sz="1050" b="0" i="0" lang="en-US" spc="120">
                <a:solidFill>
                  <a:srgbClr val="FFFFFF"/>
                </a:solidFill>
                <a:latin typeface="JetBrains Mono" pitchFamily="49" charset="0"/>
              </a:rPr>
              <a:t>FABIUS</a:t>
            </a:r>
          </a:p>
        </p:txBody>
      </p:sp>
      <p:sp>
        <p:nvSpPr>
          <p:cNvPr id="48" name="FABIUS text"/>
          <p:cNvSpPr txBox="1"/>
          <p:nvPr/>
        </p:nvSpPr>
        <p:spPr>
          <a:xfrm>
            <a:off x="2834640" y="6016752"/>
            <a:ext cx="2103120" cy="457200"/>
          </a:xfrm>
          <a:prstGeom prst="rect">
            <a:avLst/>
          </a:prstGeom>
          <a:noFill/>
        </p:spPr>
        <p:txBody>
          <a:bodyPr wrap="square" lIns="0" rIns="0" tIns="0" bIns="0" anchor="t">
            <a:noAutofit/>
          </a:bodyPr>
          <a:lstStyle/>
          <a:p>
            <a:pPr algn="ctr">
              <a:lnSpc>
                <a:spcPct val="120000"/>
              </a:lnSpc>
              <a:spcBef>
                <a:spcPts val="0"/>
              </a:spcBef>
              <a:spcAft>
                <a:spcPts val="0"/>
              </a:spcAft>
            </a:pPr>
            <a:r>
              <a:rPr sz="1000" b="0" i="0" lang="en-US">
                <a:solidFill>
                  <a:srgbClr val="8B86A6"/>
                </a:solidFill>
                <a:latin typeface="JetBrains Mono" pitchFamily="49" charset="0"/>
              </a:rPr>
              <a:t>gates · proof · checkout</a:t>
            </a:r>
          </a:p>
        </p:txBody>
      </p:sp>
      <p:sp>
        <p:nvSpPr>
          <p:cNvPr id="49" name="BUYERS label"/>
          <p:cNvSpPr txBox="1"/>
          <p:nvPr/>
        </p:nvSpPr>
        <p:spPr>
          <a:xfrm>
            <a:off x="5212080" y="5779008"/>
            <a:ext cx="2103120" cy="237744"/>
          </a:xfrm>
          <a:prstGeom prst="rect">
            <a:avLst/>
          </a:prstGeom>
          <a:noFill/>
        </p:spPr>
        <p:txBody>
          <a:bodyPr wrap="square" lIns="0" rIns="0" tIns="0" bIns="0" anchor="t">
            <a:noAutofit/>
          </a:bodyPr>
          <a:lstStyle/>
          <a:p>
            <a:pPr algn="ctr">
              <a:lnSpc>
                <a:spcPct val="120000"/>
              </a:lnSpc>
              <a:spcBef>
                <a:spcPts val="0"/>
              </a:spcBef>
              <a:spcAft>
                <a:spcPts val="0"/>
              </a:spcAft>
            </a:pPr>
            <a:r>
              <a:rPr sz="1050" b="0" i="0" lang="en-US" spc="120">
                <a:solidFill>
                  <a:srgbClr val="FFFFFF"/>
                </a:solidFill>
                <a:latin typeface="JetBrains Mono" pitchFamily="49" charset="0"/>
              </a:rPr>
              <a:t>BUYERS</a:t>
            </a:r>
          </a:p>
        </p:txBody>
      </p:sp>
      <p:sp>
        <p:nvSpPr>
          <p:cNvPr id="50" name="BUYERS text"/>
          <p:cNvSpPr txBox="1"/>
          <p:nvPr/>
        </p:nvSpPr>
        <p:spPr>
          <a:xfrm>
            <a:off x="5212080" y="6016752"/>
            <a:ext cx="2103120" cy="457200"/>
          </a:xfrm>
          <a:prstGeom prst="rect">
            <a:avLst/>
          </a:prstGeom>
          <a:noFill/>
        </p:spPr>
        <p:txBody>
          <a:bodyPr wrap="square" lIns="0" rIns="0" tIns="0" bIns="0" anchor="t">
            <a:noAutofit/>
          </a:bodyPr>
          <a:lstStyle/>
          <a:p>
            <a:pPr algn="ctr">
              <a:lnSpc>
                <a:spcPct val="120000"/>
              </a:lnSpc>
              <a:spcBef>
                <a:spcPts val="0"/>
              </a:spcBef>
              <a:spcAft>
                <a:spcPts val="0"/>
              </a:spcAft>
            </a:pPr>
            <a:r>
              <a:rPr sz="1000" b="0" i="0" lang="en-US">
                <a:solidFill>
                  <a:srgbClr val="8B86A6"/>
                </a:solidFill>
                <a:latin typeface="JetBrains Mono" pitchFamily="49" charset="0"/>
              </a:rPr>
              <a:t>humans and agents</a:t>
            </a:r>
          </a:p>
        </p:txBody>
      </p:sp>
      <p:sp>
        <p:nvSpPr>
          <p:cNvPr id="51" name="Business arrow"/>
          <p:cNvSpPr/>
          <p:nvPr/>
        </p:nvSpPr>
        <p:spPr>
          <a:xfrm>
            <a:off x="2221992" y="4956048"/>
            <a:ext cx="914400" cy="0"/>
          </a:xfrm>
          <a:custGeom>
            <a:avLst/>
            <a:gdLst/>
            <a:ahLst/>
            <a:cxnLst/>
            <a:rect l="l" t="t" r="r" b="b"/>
            <a:pathLst>
              <a:path w="914400" h="0">
                <a:moveTo>
                  <a:pt x="0" y="0"/>
                </a:moveTo>
                <a:lnTo>
                  <a:pt x="914400" y="0"/>
                </a:lnTo>
              </a:path>
            </a:pathLst>
          </a:custGeom>
          <a:noFill/>
          <a:ln w="22860" cap="rnd">
            <a:solidFill>
              <a:srgbClr val="9D86FF">
                <a:alpha val="9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Arrow label"/>
          <p:cNvSpPr txBox="1"/>
          <p:nvPr/>
        </p:nvSpPr>
        <p:spPr>
          <a:xfrm>
            <a:off x="1965960" y="4663440"/>
            <a:ext cx="1737360" cy="219456"/>
          </a:xfrm>
          <a:prstGeom prst="rect">
            <a:avLst/>
          </a:prstGeom>
          <a:noFill/>
        </p:spPr>
        <p:txBody>
          <a:bodyPr wrap="square" lIns="0" rIns="0" tIns="0" bIns="0" anchor="t">
            <a:noAutofit/>
          </a:bodyPr>
          <a:lstStyle/>
          <a:p>
            <a:pPr algn="ctr">
              <a:lnSpc>
                <a:spcPct val="125000"/>
              </a:lnSpc>
              <a:spcBef>
                <a:spcPts val="0"/>
              </a:spcBef>
              <a:spcAft>
                <a:spcPts val="0"/>
              </a:spcAft>
            </a:pPr>
            <a:r>
              <a:rPr sz="1000" b="0" i="0" lang="en-US">
                <a:solidFill>
                  <a:srgbClr val="C9BDF2"/>
                </a:solidFill>
                <a:latin typeface="JetBrains Mono" pitchFamily="49" charset="0"/>
              </a:rPr>
              <a:t>bots + signals</a:t>
            </a:r>
          </a:p>
        </p:txBody>
      </p:sp>
      <p:sp>
        <p:nvSpPr>
          <p:cNvPr id="53" name="Business arrow"/>
          <p:cNvSpPr/>
          <p:nvPr/>
        </p:nvSpPr>
        <p:spPr>
          <a:xfrm>
            <a:off x="4599432" y="4956048"/>
            <a:ext cx="914400" cy="0"/>
          </a:xfrm>
          <a:custGeom>
            <a:avLst/>
            <a:gdLst/>
            <a:ahLst/>
            <a:cxnLst/>
            <a:rect l="l" t="t" r="r" b="b"/>
            <a:pathLst>
              <a:path w="914400" h="0">
                <a:moveTo>
                  <a:pt x="0" y="0"/>
                </a:moveTo>
                <a:lnTo>
                  <a:pt x="914400" y="0"/>
                </a:lnTo>
              </a:path>
            </a:pathLst>
          </a:custGeom>
          <a:noFill/>
          <a:ln w="22860" cap="rnd">
            <a:solidFill>
              <a:srgbClr val="9D86FF">
                <a:alpha val="9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rrow label"/>
          <p:cNvSpPr txBox="1"/>
          <p:nvPr/>
        </p:nvSpPr>
        <p:spPr>
          <a:xfrm>
            <a:off x="4343400" y="4663440"/>
            <a:ext cx="1737360" cy="219456"/>
          </a:xfrm>
          <a:prstGeom prst="rect">
            <a:avLst/>
          </a:prstGeom>
          <a:noFill/>
        </p:spPr>
        <p:txBody>
          <a:bodyPr wrap="square" lIns="0" rIns="0" tIns="0" bIns="0" anchor="t">
            <a:noAutofit/>
          </a:bodyPr>
          <a:lstStyle/>
          <a:p>
            <a:pPr algn="ctr">
              <a:lnSpc>
                <a:spcPct val="125000"/>
              </a:lnSpc>
              <a:spcBef>
                <a:spcPts val="0"/>
              </a:spcBef>
              <a:spcAft>
                <a:spcPts val="0"/>
              </a:spcAft>
            </a:pPr>
            <a:r>
              <a:rPr sz="1000" b="0" i="0" lang="en-US">
                <a:solidFill>
                  <a:srgbClr val="C9BDF2"/>
                </a:solidFill>
                <a:latin typeface="JetBrains Mono" pitchFamily="49" charset="0"/>
              </a:rPr>
              <a:t>signals + proof</a:t>
            </a:r>
          </a:p>
        </p:txBody>
      </p:sp>
      <p:sp>
        <p:nvSpPr>
          <p:cNvPr id="55" name="Payment arrow"/>
          <p:cNvSpPr/>
          <p:nvPr/>
        </p:nvSpPr>
        <p:spPr>
          <a:xfrm>
            <a:off x="4636008" y="5230368"/>
            <a:ext cx="914400" cy="0"/>
          </a:xfrm>
          <a:custGeom>
            <a:avLst/>
            <a:gdLst/>
            <a:ahLst/>
            <a:cxnLst/>
            <a:rect l="l" t="t" r="r" b="b"/>
            <a:pathLst>
              <a:path w="914400" h="0">
                <a:moveTo>
                  <a:pt x="914400" y="0"/>
                </a:moveTo>
                <a:lnTo>
                  <a:pt x="0" y="0"/>
                </a:lnTo>
              </a:path>
            </a:pathLst>
          </a:custGeom>
          <a:noFill/>
          <a:ln w="17780" cap="rnd">
            <a:solidFill>
              <a:srgbClr val="C9BDF2">
                <a:alpha val="70000"/>
              </a:srgbClr>
            </a:solidFill>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hare arrow (built)"/>
          <p:cNvSpPr/>
          <p:nvPr/>
        </p:nvSpPr>
        <p:spPr>
          <a:xfrm>
            <a:off x="2221992" y="5230368"/>
            <a:ext cx="914400" cy="0"/>
          </a:xfrm>
          <a:custGeom>
            <a:avLst/>
            <a:gdLst/>
            <a:ahLst/>
            <a:cxnLst/>
            <a:rect l="l" t="t" r="r" b="b"/>
            <a:pathLst>
              <a:path w="914400" h="0">
                <a:moveTo>
                  <a:pt x="914400" y="0"/>
                </a:moveTo>
                <a:lnTo>
                  <a:pt x="0" y="0"/>
                </a:lnTo>
              </a:path>
            </a:pathLst>
          </a:custGeom>
          <a:noFill/>
          <a:ln w="17780" cap="rnd">
            <a:solidFill>
              <a:srgbClr val="C9BDF2">
                <a:alpha val="55000"/>
              </a:srgbClr>
            </a:solidFill>
            <a:prstDash val="dash"/>
            <a:round/>
            <a:tailEnd type="triangle" w="med" len="me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atus 1"/>
          <p:cNvSpPr/>
          <p:nvPr/>
        </p:nvSpPr>
        <p:spPr>
          <a:xfrm>
            <a:off x="7269480" y="4389120"/>
            <a:ext cx="4327855" cy="585216"/>
          </a:xfrm>
          <a:prstGeom prst="roundRect">
            <a:avLst>
              <a:gd name="adj" fmla="val 28125"/>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hip · LIVE"/>
          <p:cNvSpPr/>
          <p:nvPr/>
        </p:nvSpPr>
        <p:spPr>
          <a:xfrm>
            <a:off x="7397496" y="4544568"/>
            <a:ext cx="822960" cy="274320"/>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hip dot"/>
          <p:cNvSpPr/>
          <p:nvPr/>
        </p:nvSpPr>
        <p:spPr>
          <a:xfrm>
            <a:off x="7534656" y="4638294"/>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hip text"/>
          <p:cNvSpPr txBox="1"/>
          <p:nvPr/>
        </p:nvSpPr>
        <p:spPr>
          <a:xfrm>
            <a:off x="7717536" y="4544568"/>
            <a:ext cx="365760" cy="274320"/>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FFFFFF"/>
                </a:solidFill>
                <a:latin typeface="JetBrains Mono" pitchFamily="49" charset="0"/>
              </a:rPr>
              <a:t>LIVE</a:t>
            </a:r>
          </a:p>
        </p:txBody>
      </p:sp>
      <p:sp>
        <p:nvSpPr>
          <p:cNvPr id="61" name="Status text 1"/>
          <p:cNvSpPr txBox="1"/>
          <p:nvPr/>
        </p:nvSpPr>
        <p:spPr>
          <a:xfrm>
            <a:off x="8348472" y="4425696"/>
            <a:ext cx="3139135" cy="512064"/>
          </a:xfrm>
          <a:prstGeom prst="rect">
            <a:avLst/>
          </a:prstGeom>
          <a:noFill/>
        </p:spPr>
        <p:txBody>
          <a:bodyPr wrap="square" lIns="0" rIns="0" tIns="0" bIns="0" anchor="ctr">
            <a:noAutofit/>
          </a:bodyPr>
          <a:lstStyle/>
          <a:p>
            <a:pPr algn="l">
              <a:lnSpc>
                <a:spcPct val="120000"/>
              </a:lnSpc>
              <a:spcBef>
                <a:spcPts val="0"/>
              </a:spcBef>
              <a:spcAft>
                <a:spcPts val="0"/>
              </a:spcAft>
            </a:pPr>
            <a:r>
              <a:rPr sz="1200" b="0" i="0" lang="en-US">
                <a:solidFill>
                  <a:srgbClr val="C9BDF2"/>
                </a:solidFill>
                <a:latin typeface="Inter" pitchFamily="34" charset="0"/>
              </a:rPr>
              <a:t>x402 checkout on testnet, paid in a no-value token. No outside buyers yet.</a:t>
            </a:r>
          </a:p>
        </p:txBody>
      </p:sp>
      <p:sp>
        <p:nvSpPr>
          <p:cNvPr id="62" name="Status 2"/>
          <p:cNvSpPr/>
          <p:nvPr/>
        </p:nvSpPr>
        <p:spPr>
          <a:xfrm>
            <a:off x="7269480" y="5065776"/>
            <a:ext cx="4327855" cy="585216"/>
          </a:xfrm>
          <a:prstGeom prst="roundRect">
            <a:avLst>
              <a:gd name="adj" fmla="val 28125"/>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hip · BUILT"/>
          <p:cNvSpPr/>
          <p:nvPr/>
        </p:nvSpPr>
        <p:spPr>
          <a:xfrm>
            <a:off x="7397496" y="5221224"/>
            <a:ext cx="914400" cy="274320"/>
          </a:xfrm>
          <a:prstGeom prst="roundRect">
            <a:avLst>
              <a:gd name="adj" fmla="val 50000"/>
            </a:avLst>
          </a:prstGeom>
          <a:solidFill>
            <a:srgbClr val="2A1F7A">
              <a:alpha val="55000"/>
            </a:srgbClr>
          </a:solidFill>
          <a:ln w="11430" cap="rnd">
            <a:solidFill>
              <a:srgbClr val="C9BDF2">
                <a:alpha val="5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hip dot"/>
          <p:cNvSpPr/>
          <p:nvPr/>
        </p:nvSpPr>
        <p:spPr>
          <a:xfrm>
            <a:off x="7534656" y="5314950"/>
            <a:ext cx="86868" cy="86868"/>
          </a:xfrm>
          <a:prstGeom prst="ellipse">
            <a:avLst/>
          </a:prstGeom>
          <a:solidFill>
            <a:srgbClr val="4A38C8"/>
          </a:solidFill>
          <a:ln w="7620" cap="rnd">
            <a:solidFill>
              <a:srgbClr val="C9BDF2">
                <a:alpha val="8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hip text"/>
          <p:cNvSpPr txBox="1"/>
          <p:nvPr/>
        </p:nvSpPr>
        <p:spPr>
          <a:xfrm>
            <a:off x="7717536" y="5221224"/>
            <a:ext cx="457200" cy="274320"/>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ECE8FA"/>
                </a:solidFill>
                <a:latin typeface="JetBrains Mono" pitchFamily="49" charset="0"/>
              </a:rPr>
              <a:t>BUILT</a:t>
            </a:r>
          </a:p>
        </p:txBody>
      </p:sp>
      <p:sp>
        <p:nvSpPr>
          <p:cNvPr id="66" name="Status text 2"/>
          <p:cNvSpPr txBox="1"/>
          <p:nvPr/>
        </p:nvSpPr>
        <p:spPr>
          <a:xfrm>
            <a:off x="8439912" y="5102352"/>
            <a:ext cx="3047695" cy="512064"/>
          </a:xfrm>
          <a:prstGeom prst="rect">
            <a:avLst/>
          </a:prstGeom>
          <a:noFill/>
        </p:spPr>
        <p:txBody>
          <a:bodyPr wrap="square" lIns="0" rIns="0" tIns="0" bIns="0" anchor="ctr">
            <a:noAutofit/>
          </a:bodyPr>
          <a:lstStyle/>
          <a:p>
            <a:pPr algn="l">
              <a:lnSpc>
                <a:spcPct val="120000"/>
              </a:lnSpc>
              <a:spcBef>
                <a:spcPts val="0"/>
              </a:spcBef>
              <a:spcAft>
                <a:spcPts val="0"/>
              </a:spcAft>
            </a:pPr>
            <a:r>
              <a:rPr sz="1200" b="0" i="0" lang="en-US">
                <a:solidFill>
                  <a:srgbClr val="C9BDF2"/>
                </a:solidFill>
                <a:latin typeface="Inter" pitchFamily="34" charset="0"/>
              </a:rPr>
              <a:t>Publisher revenue share, 60/40: written and tested, not deployed.</a:t>
            </a:r>
          </a:p>
        </p:txBody>
      </p:sp>
      <p:sp>
        <p:nvSpPr>
          <p:cNvPr id="67" name="Status 3"/>
          <p:cNvSpPr/>
          <p:nvPr/>
        </p:nvSpPr>
        <p:spPr>
          <a:xfrm>
            <a:off x="7269480" y="5742432"/>
            <a:ext cx="4327855" cy="585216"/>
          </a:xfrm>
          <a:prstGeom prst="roundRect">
            <a:avLst>
              <a:gd name="adj" fmla="val 28125"/>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hip · GATED"/>
          <p:cNvSpPr/>
          <p:nvPr/>
        </p:nvSpPr>
        <p:spPr>
          <a:xfrm>
            <a:off x="7397496" y="5897880"/>
            <a:ext cx="914400" cy="274320"/>
          </a:xfrm>
          <a:prstGeom prst="roundRect">
            <a:avLst>
              <a:gd name="adj" fmla="val 50000"/>
            </a:avLst>
          </a:prstGeom>
          <a:noFill/>
          <a:ln w="11430" cap="rnd">
            <a:solidFill>
              <a:srgbClr val="8B86A6">
                <a:alpha val="75000"/>
              </a:srgbClr>
            </a:solidFill>
            <a:prstDash val="dash"/>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hip dot"/>
          <p:cNvSpPr/>
          <p:nvPr/>
        </p:nvSpPr>
        <p:spPr>
          <a:xfrm>
            <a:off x="7534656" y="5991606"/>
            <a:ext cx="86868" cy="86868"/>
          </a:xfrm>
          <a:prstGeom prst="ellipse">
            <a:avLst/>
          </a:prstGeom>
          <a:noFill/>
          <a:ln w="11430" cap="rnd">
            <a:solidFill>
              <a:srgbClr val="8B86A6">
                <a:alpha val="9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hip text"/>
          <p:cNvSpPr txBox="1"/>
          <p:nvPr/>
        </p:nvSpPr>
        <p:spPr>
          <a:xfrm>
            <a:off x="7717536" y="5897880"/>
            <a:ext cx="457200" cy="274320"/>
          </a:xfrm>
          <a:prstGeom prst="rect">
            <a:avLst/>
          </a:prstGeom>
          <a:noFill/>
        </p:spPr>
        <p:txBody>
          <a:bodyPr wrap="square" lIns="0" rIns="0" tIns="0" bIns="0" anchor="ctr">
            <a:noAutofit/>
          </a:bodyPr>
          <a:lstStyle/>
          <a:p>
            <a:pPr algn="l">
              <a:lnSpc>
                <a:spcPct val="100000"/>
              </a:lnSpc>
              <a:spcBef>
                <a:spcPts val="0"/>
              </a:spcBef>
              <a:spcAft>
                <a:spcPts val="0"/>
              </a:spcAft>
            </a:pPr>
            <a:r>
              <a:rPr sz="1000" b="0" i="0" lang="en-US" spc="100">
                <a:solidFill>
                  <a:srgbClr val="C9BDF2"/>
                </a:solidFill>
                <a:latin typeface="JetBrains Mono" pitchFamily="49" charset="0"/>
              </a:rPr>
              <a:t>GATED</a:t>
            </a:r>
          </a:p>
        </p:txBody>
      </p:sp>
      <p:sp>
        <p:nvSpPr>
          <p:cNvPr id="71" name="Status text 3"/>
          <p:cNvSpPr txBox="1"/>
          <p:nvPr/>
        </p:nvSpPr>
        <p:spPr>
          <a:xfrm>
            <a:off x="8439912" y="5779008"/>
            <a:ext cx="3047695" cy="512064"/>
          </a:xfrm>
          <a:prstGeom prst="rect">
            <a:avLst/>
          </a:prstGeom>
          <a:noFill/>
        </p:spPr>
        <p:txBody>
          <a:bodyPr wrap="square" lIns="0" rIns="0" tIns="0" bIns="0" anchor="ctr">
            <a:noAutofit/>
          </a:bodyPr>
          <a:lstStyle/>
          <a:p>
            <a:pPr algn="l">
              <a:lnSpc>
                <a:spcPct val="120000"/>
              </a:lnSpc>
              <a:spcBef>
                <a:spcPts val="0"/>
              </a:spcBef>
              <a:spcAft>
                <a:spcPts val="0"/>
              </a:spcAft>
            </a:pPr>
            <a:r>
              <a:rPr sz="1200" b="0" i="0" lang="en-US">
                <a:solidFill>
                  <a:srgbClr val="C9BDF2"/>
                </a:solidFill>
                <a:latin typeface="Inter" pitchFamily="34" charset="0"/>
              </a:rPr>
              <a:t>Real-time paid signals stay locked until the forward test and a legal review.</a:t>
            </a:r>
          </a:p>
        </p:txBody>
      </p:sp>
      <p:sp>
        <p:nvSpPr>
          <p:cNvPr id="72"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73"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10515600" cy="731520"/>
          </a:xfrm>
        </p:spPr>
        <p:txBody>
          <a:bodyPr wrap="square" lIns="0" rIns="0" tIns="0" bIns="0" anchor="t">
            <a:noAutofit/>
          </a:bodyPr>
          <a:lstStyle/>
          <a:p>
            <a:pPr algn="l">
              <a:lnSpc>
                <a:spcPct val="100000"/>
              </a:lnSpc>
              <a:spcBef>
                <a:spcPts val="0"/>
              </a:spcBef>
              <a:spcAft>
                <a:spcPts val="0"/>
              </a:spcAft>
            </a:pPr>
            <a:r>
              <a:rPr sz="4000" b="0" i="0" lang="en-US">
                <a:solidFill>
                  <a:srgbClr val="ECE8FA"/>
                </a:solidFill>
                <a:latin typeface="Archivo" pitchFamily="34" charset="0"/>
              </a:rPr>
              <a:t>Not a mockup. It is running.</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08 — LIVE PRODUCT</a:t>
            </a:r>
          </a:p>
        </p:txBody>
      </p:sp>
      <p:sp>
        <p:nvSpPr>
          <p:cNvPr id="7" name="Sub"/>
          <p:cNvSpPr txBox="1"/>
          <p:nvPr/>
        </p:nvSpPr>
        <p:spPr>
          <a:xfrm>
            <a:off x="594360" y="1554480"/>
            <a:ext cx="10515600" cy="365760"/>
          </a:xfrm>
          <a:prstGeom prst="rect">
            <a:avLst/>
          </a:prstGeom>
          <a:noFill/>
        </p:spPr>
        <p:txBody>
          <a:bodyPr wrap="square" lIns="0" rIns="0" tIns="0" bIns="0" anchor="t">
            <a:noAutofit/>
          </a:bodyPr>
          <a:lstStyle/>
          <a:p>
            <a:pPr algn="l">
              <a:lnSpc>
                <a:spcPct val="130000"/>
              </a:lnSpc>
              <a:spcBef>
                <a:spcPts val="0"/>
              </a:spcBef>
              <a:spcAft>
                <a:spcPts val="0"/>
              </a:spcAft>
            </a:pPr>
            <a:r>
              <a:rPr sz="1700" b="0" i="0" lang="en-US">
                <a:solidFill>
                  <a:srgbClr val="C9BDF2"/>
                </a:solidFill>
                <a:latin typeface="Inter" pitchFamily="34" charset="0"/>
              </a:rPr>
              <a:t>Open it, sign in with Google, Telegram or email, and check any signal yourself.</a:t>
            </a:r>
          </a:p>
        </p:txBody>
      </p:sp>
      <p:grpSp>
        <p:nvGrpSpPr>
          <p:cNvPr id="8" name="Halo"/>
          <p:cNvGrpSpPr/>
          <p:nvPr/>
        </p:nvGrpSpPr>
        <p:grpSpPr>
          <a:xfrm>
            <a:off x="-274320" y="1645920"/>
            <a:ext cx="8412480" cy="4754880"/>
            <a:chOff x="-274320" y="1645920"/>
            <a:chExt cx="8412480" cy="4754880"/>
          </a:xfrm>
        </p:grpSpPr>
        <p:sp>
          <p:nvSpPr>
            <p:cNvPr id="9" name="Halo 1"/>
            <p:cNvSpPr/>
            <p:nvPr/>
          </p:nvSpPr>
          <p:spPr>
            <a:xfrm>
              <a:off x="-274320" y="1645920"/>
              <a:ext cx="8412480" cy="4754880"/>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alo 2"/>
            <p:cNvSpPr/>
            <p:nvPr/>
          </p:nvSpPr>
          <p:spPr>
            <a:xfrm>
              <a:off x="-90047" y="1750075"/>
              <a:ext cx="8043933" cy="4546571"/>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alo 3"/>
            <p:cNvSpPr/>
            <p:nvPr/>
          </p:nvSpPr>
          <p:spPr>
            <a:xfrm>
              <a:off x="94227" y="1854229"/>
              <a:ext cx="7675387" cy="4338262"/>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alo 4"/>
            <p:cNvSpPr/>
            <p:nvPr/>
          </p:nvSpPr>
          <p:spPr>
            <a:xfrm>
              <a:off x="278500" y="1958384"/>
              <a:ext cx="7306840" cy="4129953"/>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alo 5"/>
            <p:cNvSpPr/>
            <p:nvPr/>
          </p:nvSpPr>
          <p:spPr>
            <a:xfrm>
              <a:off x="462773" y="2062538"/>
              <a:ext cx="6938293" cy="3921644"/>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lo 6"/>
            <p:cNvSpPr/>
            <p:nvPr/>
          </p:nvSpPr>
          <p:spPr>
            <a:xfrm>
              <a:off x="647047" y="2166693"/>
              <a:ext cx="6569746" cy="3713335"/>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alo 7"/>
            <p:cNvSpPr/>
            <p:nvPr/>
          </p:nvSpPr>
          <p:spPr>
            <a:xfrm>
              <a:off x="831320" y="2270847"/>
              <a:ext cx="6201200" cy="3505026"/>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alo 8"/>
            <p:cNvSpPr/>
            <p:nvPr/>
          </p:nvSpPr>
          <p:spPr>
            <a:xfrm>
              <a:off x="1015594" y="2375002"/>
              <a:ext cx="5832653" cy="3296717"/>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alo 9"/>
            <p:cNvSpPr/>
            <p:nvPr/>
          </p:nvSpPr>
          <p:spPr>
            <a:xfrm>
              <a:off x="1199867" y="2479156"/>
              <a:ext cx="5464106" cy="3088408"/>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lo 10"/>
            <p:cNvSpPr/>
            <p:nvPr/>
          </p:nvSpPr>
          <p:spPr>
            <a:xfrm>
              <a:off x="1384140" y="2583311"/>
              <a:ext cx="5095559" cy="2880099"/>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alo 11"/>
            <p:cNvSpPr/>
            <p:nvPr/>
          </p:nvSpPr>
          <p:spPr>
            <a:xfrm>
              <a:off x="1568414" y="2687465"/>
              <a:ext cx="4727013" cy="2671790"/>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alo 12"/>
            <p:cNvSpPr/>
            <p:nvPr/>
          </p:nvSpPr>
          <p:spPr>
            <a:xfrm>
              <a:off x="1752687" y="2791620"/>
              <a:ext cx="4358466" cy="2463481"/>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alo 13"/>
            <p:cNvSpPr/>
            <p:nvPr/>
          </p:nvSpPr>
          <p:spPr>
            <a:xfrm>
              <a:off x="1936960" y="2895774"/>
              <a:ext cx="3989919" cy="2255172"/>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alo 14"/>
            <p:cNvSpPr/>
            <p:nvPr/>
          </p:nvSpPr>
          <p:spPr>
            <a:xfrm>
              <a:off x="2121234" y="2999929"/>
              <a:ext cx="3621372" cy="2046863"/>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alo 15"/>
            <p:cNvSpPr/>
            <p:nvPr/>
          </p:nvSpPr>
          <p:spPr>
            <a:xfrm>
              <a:off x="2305507" y="3104083"/>
              <a:ext cx="3252826" cy="1838554"/>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alo 16"/>
            <p:cNvSpPr/>
            <p:nvPr/>
          </p:nvSpPr>
          <p:spPr>
            <a:xfrm>
              <a:off x="2489781" y="3208238"/>
              <a:ext cx="2884279" cy="1630245"/>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alo 17"/>
            <p:cNvSpPr/>
            <p:nvPr/>
          </p:nvSpPr>
          <p:spPr>
            <a:xfrm>
              <a:off x="2674054" y="3312392"/>
              <a:ext cx="2515732" cy="1421936"/>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lo 18"/>
            <p:cNvSpPr/>
            <p:nvPr/>
          </p:nvSpPr>
          <p:spPr>
            <a:xfrm>
              <a:off x="2858327" y="3416547"/>
              <a:ext cx="2147185" cy="1213627"/>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lo 19"/>
            <p:cNvSpPr/>
            <p:nvPr/>
          </p:nvSpPr>
          <p:spPr>
            <a:xfrm>
              <a:off x="3042601" y="3520701"/>
              <a:ext cx="1778639" cy="1005317"/>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lo 20"/>
            <p:cNvSpPr/>
            <p:nvPr/>
          </p:nvSpPr>
          <p:spPr>
            <a:xfrm>
              <a:off x="3226874" y="3624856"/>
              <a:ext cx="1410092" cy="797008"/>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lo 21"/>
            <p:cNvSpPr/>
            <p:nvPr/>
          </p:nvSpPr>
          <p:spPr>
            <a:xfrm>
              <a:off x="3411147" y="3729010"/>
              <a:ext cx="1041545" cy="588699"/>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Halo 22"/>
            <p:cNvSpPr/>
            <p:nvPr/>
          </p:nvSpPr>
          <p:spPr>
            <a:xfrm>
              <a:off x="3595421" y="3833165"/>
              <a:ext cx="672998" cy="380390"/>
            </a:xfrm>
            <a:prstGeom prst="ellipse">
              <a:avLst/>
            </a:prstGeom>
            <a:solidFill>
              <a:srgbClr val="6E4BFF">
                <a:alpha val="100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1" name="desktop frame"/>
          <p:cNvSpPr/>
          <p:nvPr/>
        </p:nvSpPr>
        <p:spPr>
          <a:xfrm>
            <a:off x="594360" y="2103120"/>
            <a:ext cx="6400800" cy="3474720"/>
          </a:xfrm>
          <a:prstGeom prst="roundRect">
            <a:avLst>
              <a:gd name="adj" fmla="val 5789"/>
            </a:avLst>
          </a:prstGeom>
          <a:gradFill rotWithShape="1">
            <a:gsLst>
              <a:gs pos="0">
                <a:srgbClr val="FFFFFF">
                  <a:alpha val="14000"/>
                </a:srgbClr>
              </a:gs>
              <a:gs pos="100000">
                <a:srgbClr val="FFFFFF">
                  <a:alpha val="4000"/>
                </a:srgbClr>
              </a:gs>
            </a:gsLst>
            <a:lin ang="8100000" scaled="0"/>
          </a:gradFill>
          <a:ln w="9525" cap="rnd">
            <a:solidFill>
              <a:srgbClr val="FFFFFF">
                <a:alpha val="24000"/>
              </a:srgbClr>
            </a:solidFill>
            <a:round/>
          </a:ln>
          <a:effectLst>
            <a:outerShdw blurRad="508000" dist="228600" dir="5400000" algn="t" rotWithShape="0">
              <a:srgbClr val="07051A">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Window dot"/>
          <p:cNvSpPr/>
          <p:nvPr/>
        </p:nvSpPr>
        <p:spPr>
          <a:xfrm>
            <a:off x="770382" y="2233422"/>
            <a:ext cx="86868" cy="86868"/>
          </a:xfrm>
          <a:prstGeom prst="ellipse">
            <a:avLst/>
          </a:prstGeom>
          <a:solidFill>
            <a:srgbClr val="FF5A6E">
              <a:alpha val="9000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Window dot"/>
          <p:cNvSpPr/>
          <p:nvPr/>
        </p:nvSpPr>
        <p:spPr>
          <a:xfrm>
            <a:off x="925830" y="2233422"/>
            <a:ext cx="86868" cy="86868"/>
          </a:xfrm>
          <a:prstGeom prst="ellipse">
            <a:avLst/>
          </a:prstGeom>
          <a:solidFill>
            <a:srgbClr val="C9BDF2">
              <a:alpha val="9000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Window dot"/>
          <p:cNvSpPr/>
          <p:nvPr/>
        </p:nvSpPr>
        <p:spPr>
          <a:xfrm>
            <a:off x="1081278" y="2233422"/>
            <a:ext cx="86868" cy="86868"/>
          </a:xfrm>
          <a:prstGeom prst="ellipse">
            <a:avLst/>
          </a:prstGeom>
          <a:solidFill>
            <a:srgbClr val="9D86FF">
              <a:alpha val="90000"/>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URL bar"/>
          <p:cNvSpPr txBox="1"/>
          <p:nvPr/>
        </p:nvSpPr>
        <p:spPr>
          <a:xfrm>
            <a:off x="1508760" y="2176272"/>
            <a:ext cx="4572000" cy="201168"/>
          </a:xfrm>
          <a:prstGeom prst="rect">
            <a:avLst/>
          </a:prstGeom>
          <a:noFill/>
        </p:spPr>
        <p:txBody>
          <a:bodyPr wrap="square" lIns="0" rIns="0" tIns="0" bIns="0" anchor="ctr">
            <a:noAutofit/>
          </a:bodyPr>
          <a:lstStyle/>
          <a:p>
            <a:pPr algn="ctr">
              <a:lnSpc>
                <a:spcPct val="125000"/>
              </a:lnSpc>
              <a:spcBef>
                <a:spcPts val="0"/>
              </a:spcBef>
              <a:spcAft>
                <a:spcPts val="0"/>
              </a:spcAft>
            </a:pPr>
            <a:r>
              <a:rPr sz="1000" b="0" i="0" lang="en-US">
                <a:solidFill>
                  <a:srgbClr val="8B86A6"/>
                </a:solidFill>
                <a:latin typeface="JetBrains Mono" pitchFamily="49" charset="0"/>
              </a:rPr>
              <a:t>fabius-one.vercel.app</a:t>
            </a:r>
          </a:p>
        </p:txBody>
      </p:sp>
      <p:pic>
        <p:nvPicPr>
          <p:cNvPr id="36" name="Desktop screen" descr="Fabius landing page: a glass cube and the headline Signals sealed before the outcome"/>
          <p:cNvPicPr>
            <a:picLocks noChangeAspect="1"/>
          </p:cNvPicPr>
          <p:nvPr/>
        </p:nvPicPr>
        <p:blipFill>
          <a:blip r:embed="rId2"/>
          <a:srcRect l="2278" t="25000" r="2278"/>
          <a:stretch>
            <a:fillRect/>
          </a:stretch>
        </p:blipFill>
        <p:spPr>
          <a:xfrm>
            <a:off x="704088" y="2432304"/>
            <a:ext cx="6181344" cy="3035808"/>
          </a:xfrm>
          <a:prstGeom prst="roundRect">
            <a:avLst>
              <a:gd name="adj" fmla="val 3012"/>
            </a:avLst>
          </a:prstGeom>
        </p:spPr>
      </p:pic>
      <p:sp>
        <p:nvSpPr>
          <p:cNvPr id="37" name="phone frame"/>
          <p:cNvSpPr/>
          <p:nvPr/>
        </p:nvSpPr>
        <p:spPr>
          <a:xfrm>
            <a:off x="6355080" y="2487168"/>
            <a:ext cx="1755648" cy="3639312"/>
          </a:xfrm>
          <a:prstGeom prst="roundRect">
            <a:avLst>
              <a:gd name="adj" fmla="val 14583"/>
            </a:avLst>
          </a:prstGeom>
          <a:gradFill rotWithShape="1">
            <a:gsLst>
              <a:gs pos="0">
                <a:srgbClr val="FFFFFF">
                  <a:alpha val="14000"/>
                </a:srgbClr>
              </a:gs>
              <a:gs pos="100000">
                <a:srgbClr val="FFFFFF">
                  <a:alpha val="4000"/>
                </a:srgbClr>
              </a:gs>
            </a:gsLst>
            <a:lin ang="8100000" scaled="0"/>
          </a:gradFill>
          <a:ln w="9525" cap="rnd">
            <a:solidFill>
              <a:srgbClr val="FFFFFF">
                <a:alpha val="24000"/>
              </a:srgbClr>
            </a:solidFill>
            <a:round/>
          </a:ln>
          <a:effectLst>
            <a:outerShdw blurRad="508000" dist="228600" dir="5400000" algn="t" rotWithShape="0">
              <a:srgbClr val="07051A">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hone screen" descr="Fabius bot page for B1 TREND on a phone: the rule as locked and the on-chain spec lock"/>
          <p:cNvPicPr>
            <a:picLocks noChangeAspect="1"/>
          </p:cNvPicPr>
          <p:nvPr/>
        </p:nvPicPr>
        <p:blipFill>
          <a:blip r:embed="rId3"/>
          <a:srcRect l="453" r="453"/>
          <a:stretch>
            <a:fillRect/>
          </a:stretch>
        </p:blipFill>
        <p:spPr>
          <a:xfrm>
            <a:off x="6437376" y="2569464"/>
            <a:ext cx="1591056" cy="3474720"/>
          </a:xfrm>
          <a:prstGeom prst="roundRect">
            <a:avLst>
              <a:gd name="adj" fmla="val 12643"/>
            </a:avLst>
          </a:prstGeom>
        </p:spPr>
      </p:pic>
      <p:sp>
        <p:nvSpPr>
          <p:cNvPr id="39" name="Stat 1"/>
          <p:cNvSpPr/>
          <p:nvPr/>
        </p:nvSpPr>
        <p:spPr>
          <a:xfrm>
            <a:off x="8366760" y="2103120"/>
            <a:ext cx="3230575" cy="866394"/>
          </a:xfrm>
          <a:prstGeom prst="roundRect">
            <a:avLst>
              <a:gd name="adj" fmla="val 21108"/>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tat value 1"/>
          <p:cNvSpPr txBox="1"/>
          <p:nvPr/>
        </p:nvSpPr>
        <p:spPr>
          <a:xfrm>
            <a:off x="8567928" y="2103120"/>
            <a:ext cx="914400" cy="866394"/>
          </a:xfrm>
          <a:prstGeom prst="rect">
            <a:avLst/>
          </a:prstGeom>
          <a:noFill/>
        </p:spPr>
        <p:txBody>
          <a:bodyPr wrap="square" lIns="0" rIns="0" tIns="0" bIns="0" anchor="ctr">
            <a:noAutofit/>
          </a:bodyPr>
          <a:lstStyle/>
          <a:p>
            <a:pPr algn="l">
              <a:lnSpc>
                <a:spcPct val="95000"/>
              </a:lnSpc>
              <a:spcBef>
                <a:spcPts val="0"/>
              </a:spcBef>
              <a:spcAft>
                <a:spcPts val="0"/>
              </a:spcAft>
            </a:pPr>
            <a:r>
              <a:rPr sz="3800" b="1" i="0" lang="en-US">
                <a:solidFill>
                  <a:srgbClr val="FFFFFF"/>
                </a:solidFill>
                <a:latin typeface="Archivo" pitchFamily="34" charset="0"/>
              </a:rPr>
              <a:t>22</a:t>
            </a:r>
          </a:p>
        </p:txBody>
      </p:sp>
      <p:sp>
        <p:nvSpPr>
          <p:cNvPr id="41" name="Stat label 1"/>
          <p:cNvSpPr txBox="1"/>
          <p:nvPr/>
        </p:nvSpPr>
        <p:spPr>
          <a:xfrm>
            <a:off x="9509760" y="2157984"/>
            <a:ext cx="1904695" cy="756666"/>
          </a:xfrm>
          <a:prstGeom prst="rect">
            <a:avLst/>
          </a:prstGeom>
          <a:noFill/>
        </p:spPr>
        <p:txBody>
          <a:bodyPr wrap="square" lIns="0" rIns="0" tIns="0" bIns="0" anchor="ctr">
            <a:noAutofit/>
          </a:bodyPr>
          <a:lstStyle/>
          <a:p>
            <a:pPr algn="l">
              <a:lnSpc>
                <a:spcPct val="125000"/>
              </a:lnSpc>
              <a:spcBef>
                <a:spcPts val="0"/>
              </a:spcBef>
              <a:spcAft>
                <a:spcPts val="0"/>
              </a:spcAft>
            </a:pPr>
            <a:r>
              <a:rPr sz="1250" b="0" i="0" lang="en-US">
                <a:solidFill>
                  <a:srgbClr val="C9BDF2"/>
                </a:solidFill>
                <a:latin typeface="Inter" pitchFamily="34" charset="0"/>
              </a:rPr>
              <a:t>daily commits verified on-chain: 0 alarms, 0 missed</a:t>
            </a:r>
          </a:p>
        </p:txBody>
      </p:sp>
      <p:sp>
        <p:nvSpPr>
          <p:cNvPr id="42" name="Stat 2"/>
          <p:cNvSpPr/>
          <p:nvPr/>
        </p:nvSpPr>
        <p:spPr>
          <a:xfrm>
            <a:off x="8366760" y="3079242"/>
            <a:ext cx="3230575" cy="866394"/>
          </a:xfrm>
          <a:prstGeom prst="roundRect">
            <a:avLst>
              <a:gd name="adj" fmla="val 21108"/>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tat value 2"/>
          <p:cNvSpPr txBox="1"/>
          <p:nvPr/>
        </p:nvSpPr>
        <p:spPr>
          <a:xfrm>
            <a:off x="8567928" y="3079242"/>
            <a:ext cx="914400" cy="866394"/>
          </a:xfrm>
          <a:prstGeom prst="rect">
            <a:avLst/>
          </a:prstGeom>
          <a:noFill/>
        </p:spPr>
        <p:txBody>
          <a:bodyPr wrap="square" lIns="0" rIns="0" tIns="0" bIns="0" anchor="ctr">
            <a:noAutofit/>
          </a:bodyPr>
          <a:lstStyle/>
          <a:p>
            <a:pPr algn="l">
              <a:lnSpc>
                <a:spcPct val="95000"/>
              </a:lnSpc>
              <a:spcBef>
                <a:spcPts val="0"/>
              </a:spcBef>
              <a:spcAft>
                <a:spcPts val="0"/>
              </a:spcAft>
            </a:pPr>
            <a:r>
              <a:rPr sz="3800" b="1" i="0" lang="en-US">
                <a:solidFill>
                  <a:srgbClr val="FFFFFF"/>
                </a:solidFill>
                <a:latin typeface="Archivo" pitchFamily="34" charset="0"/>
              </a:rPr>
              <a:t>15</a:t>
            </a:r>
          </a:p>
        </p:txBody>
      </p:sp>
      <p:sp>
        <p:nvSpPr>
          <p:cNvPr id="44" name="Stat label 2"/>
          <p:cNvSpPr txBox="1"/>
          <p:nvPr/>
        </p:nvSpPr>
        <p:spPr>
          <a:xfrm>
            <a:off x="9509760" y="3134106"/>
            <a:ext cx="1904695" cy="756666"/>
          </a:xfrm>
          <a:prstGeom prst="rect">
            <a:avLst/>
          </a:prstGeom>
          <a:noFill/>
        </p:spPr>
        <p:txBody>
          <a:bodyPr wrap="square" lIns="0" rIns="0" tIns="0" bIns="0" anchor="ctr">
            <a:noAutofit/>
          </a:bodyPr>
          <a:lstStyle/>
          <a:p>
            <a:pPr algn="l">
              <a:lnSpc>
                <a:spcPct val="125000"/>
              </a:lnSpc>
              <a:spcBef>
                <a:spcPts val="0"/>
              </a:spcBef>
              <a:spcAft>
                <a:spcPts val="0"/>
              </a:spcAft>
            </a:pPr>
            <a:r>
              <a:rPr sz="1250" b="0" i="0" lang="en-US">
                <a:solidFill>
                  <a:srgbClr val="C9BDF2"/>
                </a:solidFill>
                <a:latin typeface="Inter" pitchFamily="34" charset="0"/>
              </a:rPr>
              <a:t>silent days: the bot stayed put, and that was sealed too</a:t>
            </a:r>
          </a:p>
        </p:txBody>
      </p:sp>
      <p:sp>
        <p:nvSpPr>
          <p:cNvPr id="45" name="Stat 3"/>
          <p:cNvSpPr/>
          <p:nvPr/>
        </p:nvSpPr>
        <p:spPr>
          <a:xfrm>
            <a:off x="8366760" y="4055364"/>
            <a:ext cx="3230575" cy="866394"/>
          </a:xfrm>
          <a:prstGeom prst="roundRect">
            <a:avLst>
              <a:gd name="adj" fmla="val 21108"/>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tat value 3"/>
          <p:cNvSpPr txBox="1"/>
          <p:nvPr/>
        </p:nvSpPr>
        <p:spPr>
          <a:xfrm>
            <a:off x="8567928" y="4055364"/>
            <a:ext cx="914400" cy="866394"/>
          </a:xfrm>
          <a:prstGeom prst="rect">
            <a:avLst/>
          </a:prstGeom>
          <a:noFill/>
        </p:spPr>
        <p:txBody>
          <a:bodyPr wrap="square" lIns="0" rIns="0" tIns="0" bIns="0" anchor="ctr">
            <a:noAutofit/>
          </a:bodyPr>
          <a:lstStyle/>
          <a:p>
            <a:pPr algn="l">
              <a:lnSpc>
                <a:spcPct val="95000"/>
              </a:lnSpc>
              <a:spcBef>
                <a:spcPts val="0"/>
              </a:spcBef>
              <a:spcAft>
                <a:spcPts val="0"/>
              </a:spcAft>
            </a:pPr>
            <a:r>
              <a:rPr sz="3800" b="1" i="0" lang="en-US">
                <a:solidFill>
                  <a:srgbClr val="FFFFFF"/>
                </a:solidFill>
                <a:latin typeface="Archivo" pitchFamily="34" charset="0"/>
              </a:rPr>
              <a:t>6</a:t>
            </a:r>
          </a:p>
        </p:txBody>
      </p:sp>
      <p:sp>
        <p:nvSpPr>
          <p:cNvPr id="47" name="Stat label 3"/>
          <p:cNvSpPr txBox="1"/>
          <p:nvPr/>
        </p:nvSpPr>
        <p:spPr>
          <a:xfrm>
            <a:off x="9509760" y="4110228"/>
            <a:ext cx="1904695" cy="756666"/>
          </a:xfrm>
          <a:prstGeom prst="rect">
            <a:avLst/>
          </a:prstGeom>
          <a:noFill/>
        </p:spPr>
        <p:txBody>
          <a:bodyPr wrap="square" lIns="0" rIns="0" tIns="0" bIns="0" anchor="ctr">
            <a:noAutofit/>
          </a:bodyPr>
          <a:lstStyle/>
          <a:p>
            <a:pPr algn="l">
              <a:lnSpc>
                <a:spcPct val="125000"/>
              </a:lnSpc>
              <a:spcBef>
                <a:spcPts val="0"/>
              </a:spcBef>
              <a:spcAft>
                <a:spcPts val="0"/>
              </a:spcAft>
            </a:pPr>
            <a:r>
              <a:rPr sz="1250" b="0" i="0" lang="en-US">
                <a:solidFill>
                  <a:srgbClr val="C9BDF2"/>
                </a:solidFill>
                <a:latin typeface="Inter" pitchFamily="34" charset="0"/>
              </a:rPr>
              <a:t>bots on public forward ledgers, written by machines</a:t>
            </a:r>
          </a:p>
        </p:txBody>
      </p:sp>
      <p:sp>
        <p:nvSpPr>
          <p:cNvPr id="48" name="Stat 4"/>
          <p:cNvSpPr/>
          <p:nvPr/>
        </p:nvSpPr>
        <p:spPr>
          <a:xfrm>
            <a:off x="8366760" y="5031486"/>
            <a:ext cx="3230575" cy="866394"/>
          </a:xfrm>
          <a:prstGeom prst="roundRect">
            <a:avLst>
              <a:gd name="adj" fmla="val 21108"/>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tat value 4"/>
          <p:cNvSpPr txBox="1"/>
          <p:nvPr/>
        </p:nvSpPr>
        <p:spPr>
          <a:xfrm>
            <a:off x="8567928" y="5031486"/>
            <a:ext cx="914400" cy="866394"/>
          </a:xfrm>
          <a:prstGeom prst="rect">
            <a:avLst/>
          </a:prstGeom>
          <a:noFill/>
        </p:spPr>
        <p:txBody>
          <a:bodyPr wrap="square" lIns="0" rIns="0" tIns="0" bIns="0" anchor="ctr">
            <a:noAutofit/>
          </a:bodyPr>
          <a:lstStyle/>
          <a:p>
            <a:pPr algn="l">
              <a:lnSpc>
                <a:spcPct val="95000"/>
              </a:lnSpc>
              <a:spcBef>
                <a:spcPts val="0"/>
              </a:spcBef>
              <a:spcAft>
                <a:spcPts val="0"/>
              </a:spcAft>
            </a:pPr>
            <a:r>
              <a:rPr sz="3800" b="1" i="0" lang="en-US">
                <a:solidFill>
                  <a:srgbClr val="FFFFFF"/>
                </a:solidFill>
                <a:latin typeface="Archivo" pitchFamily="34" charset="0"/>
              </a:rPr>
              <a:t>11</a:t>
            </a:r>
          </a:p>
        </p:txBody>
      </p:sp>
      <p:sp>
        <p:nvSpPr>
          <p:cNvPr id="50" name="Stat label 4"/>
          <p:cNvSpPr txBox="1"/>
          <p:nvPr/>
        </p:nvSpPr>
        <p:spPr>
          <a:xfrm>
            <a:off x="9509760" y="5086350"/>
            <a:ext cx="1904695" cy="756666"/>
          </a:xfrm>
          <a:prstGeom prst="rect">
            <a:avLst/>
          </a:prstGeom>
          <a:noFill/>
        </p:spPr>
        <p:txBody>
          <a:bodyPr wrap="square" lIns="0" rIns="0" tIns="0" bIns="0" anchor="ctr">
            <a:noAutofit/>
          </a:bodyPr>
          <a:lstStyle/>
          <a:p>
            <a:pPr algn="l">
              <a:lnSpc>
                <a:spcPct val="125000"/>
              </a:lnSpc>
              <a:spcBef>
                <a:spcPts val="0"/>
              </a:spcBef>
              <a:spcAft>
                <a:spcPts val="0"/>
              </a:spcAft>
            </a:pPr>
            <a:r>
              <a:rPr sz="1250" b="0" i="0" lang="en-US">
                <a:solidFill>
                  <a:srgbClr val="C9BDF2"/>
                </a:solidFill>
                <a:latin typeface="Inter" pitchFamily="34" charset="0"/>
              </a:rPr>
              <a:t>on-chain locks: bot rules and policies, stamped by block time</a:t>
            </a:r>
          </a:p>
        </p:txBody>
      </p:sp>
      <p:sp>
        <p:nvSpPr>
          <p:cNvPr id="51" name="As-of line"/>
          <p:cNvSpPr txBox="1"/>
          <p:nvPr/>
        </p:nvSpPr>
        <p:spPr>
          <a:xfrm>
            <a:off x="594360" y="6053328"/>
            <a:ext cx="11002975" cy="237744"/>
          </a:xfrm>
          <a:prstGeom prst="rect">
            <a:avLst/>
          </a:prstGeom>
          <a:noFill/>
        </p:spPr>
        <p:txBody>
          <a:bodyPr wrap="square" lIns="0" rIns="0" tIns="0" bIns="0" anchor="ctr">
            <a:noAutofit/>
          </a:bodyPr>
          <a:lstStyle/>
          <a:p>
            <a:pPr algn="l">
              <a:lnSpc>
                <a:spcPct val="125000"/>
              </a:lnSpc>
              <a:spcBef>
                <a:spcPts val="0"/>
              </a:spcBef>
              <a:spcAft>
                <a:spcPts val="0"/>
              </a:spcAft>
            </a:pPr>
            <a:r>
              <a:rPr sz="1050" b="0" i="0" lang="en-US">
                <a:solidFill>
                  <a:srgbClr val="8B86A6"/>
                </a:solidFill>
                <a:latin typeface="JetBrains Mono" pitchFamily="49" charset="0"/>
              </a:rPr>
              <a:t>SNAPSHOT 7 Oct 2026 · 10:08 UTC · BLOCK 135,379,370 · CHAIN 97 · PRINTED BY tools/web_snapshot.py</a:t>
            </a:r>
          </a:p>
        </p:txBody>
      </p:sp>
      <p:sp>
        <p:nvSpPr>
          <p:cNvPr id="52"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53"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10515600" cy="731520"/>
          </a:xfrm>
        </p:spPr>
        <p:txBody>
          <a:bodyPr wrap="square" lIns="0" rIns="0" tIns="0" bIns="0" anchor="t">
            <a:noAutofit/>
          </a:bodyPr>
          <a:lstStyle/>
          <a:p>
            <a:pPr algn="l">
              <a:lnSpc>
                <a:spcPct val="100000"/>
              </a:lnSpc>
              <a:spcBef>
                <a:spcPts val="0"/>
              </a:spcBef>
              <a:spcAft>
                <a:spcPts val="0"/>
              </a:spcAft>
            </a:pPr>
            <a:r>
              <a:rPr sz="4000" b="0" i="0" lang="en-US">
                <a:solidFill>
                  <a:srgbClr val="ECE8FA"/>
                </a:solidFill>
                <a:latin typeface="Archivo" pitchFamily="34" charset="0"/>
              </a:rPr>
              <a:t>Five contracts. </a:t>
            </a:r>
            <a:r>
              <a:rPr sz="4000" b="1" i="1" lang="en-US">
                <a:solidFill>
                  <a:srgbClr val="9D86FF"/>
                </a:solidFill>
                <a:latin typeface="Archivo" pitchFamily="34" charset="0"/>
              </a:rPr>
              <a:t>All ours.</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09 — ON-CHAIN</a:t>
            </a:r>
          </a:p>
        </p:txBody>
      </p:sp>
      <p:sp>
        <p:nvSpPr>
          <p:cNvPr id="7" name="Sub"/>
          <p:cNvSpPr txBox="1"/>
          <p:nvPr/>
        </p:nvSpPr>
        <p:spPr>
          <a:xfrm>
            <a:off x="594360" y="1554480"/>
            <a:ext cx="10515600" cy="365760"/>
          </a:xfrm>
          <a:prstGeom prst="rect">
            <a:avLst/>
          </a:prstGeom>
          <a:noFill/>
        </p:spPr>
        <p:txBody>
          <a:bodyPr wrap="square" lIns="0" rIns="0" tIns="0" bIns="0" anchor="t">
            <a:noAutofit/>
          </a:bodyPr>
          <a:lstStyle/>
          <a:p>
            <a:pPr algn="l">
              <a:lnSpc>
                <a:spcPct val="130000"/>
              </a:lnSpc>
              <a:spcBef>
                <a:spcPts val="0"/>
              </a:spcBef>
              <a:spcAft>
                <a:spcPts val="0"/>
              </a:spcAft>
            </a:pPr>
            <a:r>
              <a:rPr sz="1700" b="0" i="0" lang="en-US">
                <a:solidFill>
                  <a:srgbClr val="C9BDF2"/>
                </a:solidFill>
                <a:latin typeface="Inter" pitchFamily="34" charset="0"/>
              </a:rPr>
              <a:t>Written and deployed by Fabius on BNB Smart Chain testnet. They carry the whole flow.</a:t>
            </a:r>
          </a:p>
        </p:txBody>
      </p:sp>
      <p:sp>
        <p:nvSpPr>
          <p:cNvPr id="8" name="Contract SignalAnchor"/>
          <p:cNvSpPr/>
          <p:nvPr/>
        </p:nvSpPr>
        <p:spPr>
          <a:xfrm>
            <a:off x="594360" y="2103120"/>
            <a:ext cx="7086600" cy="713232"/>
          </a:xfrm>
          <a:prstGeom prst="roundRect">
            <a:avLst>
              <a:gd name="adj" fmla="val 25641"/>
            </a:avLst>
          </a:prstGeom>
          <a:gradFill rotWithShape="1">
            <a:gsLst>
              <a:gs pos="0">
                <a:srgbClr val="6E4BFF">
                  <a:alpha val="30000"/>
                </a:srgbClr>
              </a:gs>
              <a:gs pos="100000">
                <a:srgbClr val="6E4BFF">
                  <a:alpha val="8000"/>
                </a:srgbClr>
              </a:gs>
            </a:gsLst>
            <a:lin ang="8100000" scaled="0"/>
          </a:gradFill>
          <a:ln w="9525" cap="rnd">
            <a:solidFill>
              <a:srgbClr val="9D86FF">
                <a:alpha val="9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 name="Icon SignalAnchor"/>
          <p:cNvGrpSpPr/>
          <p:nvPr/>
        </p:nvGrpSpPr>
        <p:grpSpPr>
          <a:xfrm>
            <a:off x="0" y="0"/>
            <a:ext cx="0" cy="0"/>
            <a:chOff x="0" y="0"/>
            <a:chExt cx="0" cy="0"/>
          </a:xfrm>
        </p:grpSpPr>
        <p:sp>
          <p:nvSpPr>
            <p:cNvPr id="10" name="SignalAnchor slab · kiri"/>
            <p:cNvSpPr/>
            <p:nvPr/>
          </p:nvSpPr>
          <p:spPr>
            <a:xfrm>
              <a:off x="705293" y="2395042"/>
              <a:ext cx="391987" cy="392278"/>
            </a:xfrm>
            <a:custGeom>
              <a:avLst/>
              <a:gdLst/>
              <a:ahLst/>
              <a:cxnLst/>
              <a:rect l="l" t="t" r="r" b="b"/>
              <a:pathLst>
                <a:path w="391987" h="392278">
                  <a:moveTo>
                    <a:pt x="0" y="165964"/>
                  </a:moveTo>
                  <a:lnTo>
                    <a:pt x="391987" y="392278"/>
                  </a:lnTo>
                  <a:lnTo>
                    <a:pt x="391987" y="226314"/>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ignalAnchor slab · kanan"/>
            <p:cNvSpPr/>
            <p:nvPr/>
          </p:nvSpPr>
          <p:spPr>
            <a:xfrm>
              <a:off x="1097280" y="2395042"/>
              <a:ext cx="391987" cy="392278"/>
            </a:xfrm>
            <a:custGeom>
              <a:avLst/>
              <a:gdLst/>
              <a:ahLst/>
              <a:cxnLst/>
              <a:rect l="l" t="t" r="r" b="b"/>
              <a:pathLst>
                <a:path w="391987" h="392278">
                  <a:moveTo>
                    <a:pt x="391987" y="165964"/>
                  </a:moveTo>
                  <a:lnTo>
                    <a:pt x="0" y="392278"/>
                  </a:lnTo>
                  <a:lnTo>
                    <a:pt x="0" y="226314"/>
                  </a:lnTo>
                  <a:lnTo>
                    <a:pt x="391987"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ignalAnchor slab · atas"/>
            <p:cNvSpPr/>
            <p:nvPr/>
          </p:nvSpPr>
          <p:spPr>
            <a:xfrm>
              <a:off x="705293" y="2168728"/>
              <a:ext cx="783974" cy="452628"/>
            </a:xfrm>
            <a:custGeom>
              <a:avLst/>
              <a:gdLst/>
              <a:ahLst/>
              <a:cxnLst/>
              <a:rect l="l" t="t" r="r" b="b"/>
              <a:pathLst>
                <a:path w="783974" h="452628">
                  <a:moveTo>
                    <a:pt x="391987" y="0"/>
                  </a:moveTo>
                  <a:lnTo>
                    <a:pt x="783974" y="226314"/>
                  </a:lnTo>
                  <a:lnTo>
                    <a:pt x="391987" y="452628"/>
                  </a:lnTo>
                  <a:lnTo>
                    <a:pt x="0" y="226314"/>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3" name="SignalAnchor name"/>
          <p:cNvSpPr txBox="1"/>
          <p:nvPr/>
        </p:nvSpPr>
        <p:spPr>
          <a:xfrm>
            <a:off x="1600200" y="2194560"/>
            <a:ext cx="3291840" cy="274320"/>
          </a:xfrm>
          <a:prstGeom prst="rect">
            <a:avLst/>
          </a:prstGeom>
          <a:noFill/>
        </p:spPr>
        <p:txBody>
          <a:bodyPr wrap="square" lIns="0" rIns="0" tIns="0" bIns="0" anchor="t">
            <a:noAutofit/>
          </a:bodyPr>
          <a:lstStyle/>
          <a:p>
            <a:pPr algn="l">
              <a:lnSpc>
                <a:spcPct val="100000"/>
              </a:lnSpc>
              <a:spcBef>
                <a:spcPts val="0"/>
              </a:spcBef>
              <a:spcAft>
                <a:spcPts val="0"/>
              </a:spcAft>
            </a:pPr>
            <a:r>
              <a:rPr sz="1700" b="1" i="0" lang="en-US">
                <a:solidFill>
                  <a:srgbClr val="FFFFFF"/>
                </a:solidFill>
                <a:latin typeface="Archivo" pitchFamily="34" charset="0"/>
              </a:rPr>
              <a:t>SignalAnchor</a:t>
            </a:r>
          </a:p>
        </p:txBody>
      </p:sp>
      <p:sp>
        <p:nvSpPr>
          <p:cNvPr id="14" name="SignalAnchor role"/>
          <p:cNvSpPr txBox="1"/>
          <p:nvPr/>
        </p:nvSpPr>
        <p:spPr>
          <a:xfrm>
            <a:off x="1600200" y="2487168"/>
            <a:ext cx="4572000" cy="274320"/>
          </a:xfrm>
          <a:prstGeom prst="rect">
            <a:avLst/>
          </a:prstGeom>
          <a:noFill/>
        </p:spPr>
        <p:txBody>
          <a:bodyPr wrap="square" lIns="0" rIns="0" tIns="0" bIns="0" anchor="t">
            <a:noAutofit/>
          </a:bodyPr>
          <a:lstStyle/>
          <a:p>
            <a:pPr algn="l">
              <a:lnSpc>
                <a:spcPct val="110000"/>
              </a:lnSpc>
              <a:spcBef>
                <a:spcPts val="0"/>
              </a:spcBef>
              <a:spcAft>
                <a:spcPts val="0"/>
              </a:spcAft>
            </a:pPr>
            <a:r>
              <a:rPr sz="1200" b="0" i="0" lang="en-US">
                <a:solidFill>
                  <a:srgbClr val="C9BDF2"/>
                </a:solidFill>
                <a:latin typeface="Inter" pitchFamily="34" charset="0"/>
              </a:rPr>
              <a:t>Per-bar Merkle commit of every signal; late ones revert.</a:t>
            </a:r>
          </a:p>
        </p:txBody>
      </p:sp>
      <p:sp>
        <p:nvSpPr>
          <p:cNvPr id="15" name="SignalAnchor address"/>
          <p:cNvSpPr txBox="1"/>
          <p:nvPr/>
        </p:nvSpPr>
        <p:spPr>
          <a:xfrm>
            <a:off x="5532120" y="2194560"/>
            <a:ext cx="1965960" cy="237744"/>
          </a:xfrm>
          <a:prstGeom prst="rect">
            <a:avLst/>
          </a:prstGeom>
          <a:noFill/>
        </p:spPr>
        <p:txBody>
          <a:bodyPr wrap="square" lIns="0" rIns="0" tIns="0" bIns="0" anchor="t">
            <a:noAutofit/>
          </a:bodyPr>
          <a:lstStyle/>
          <a:p>
            <a:pPr algn="r">
              <a:lnSpc>
                <a:spcPct val="125000"/>
              </a:lnSpc>
              <a:spcBef>
                <a:spcPts val="0"/>
              </a:spcBef>
              <a:spcAft>
                <a:spcPts val="0"/>
              </a:spcAft>
            </a:pPr>
            <a:r>
              <a:rPr sz="1100" b="0" i="0" lang="en-US">
                <a:solidFill>
                  <a:srgbClr val="ECE8FA"/>
                </a:solidFill>
                <a:latin typeface="JetBrains Mono" pitchFamily="49" charset="0"/>
              </a:rPr>
              <a:t>0x9B78…64f3</a:t>
            </a:r>
          </a:p>
        </p:txBody>
      </p:sp>
      <p:sp>
        <p:nvSpPr>
          <p:cNvPr id="16" name="Chip · MAIN FLOW"/>
          <p:cNvSpPr/>
          <p:nvPr/>
        </p:nvSpPr>
        <p:spPr>
          <a:xfrm>
            <a:off x="6199632" y="2487168"/>
            <a:ext cx="1061847" cy="237744"/>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ip text"/>
          <p:cNvSpPr txBox="1"/>
          <p:nvPr/>
        </p:nvSpPr>
        <p:spPr>
          <a:xfrm>
            <a:off x="6336792" y="2487168"/>
            <a:ext cx="787527" cy="237744"/>
          </a:xfrm>
          <a:prstGeom prst="rect">
            <a:avLst/>
          </a:prstGeom>
          <a:noFill/>
        </p:spPr>
        <p:txBody>
          <a:bodyPr wrap="square" lIns="0" rIns="0" tIns="0" bIns="0" anchor="ctr">
            <a:noAutofit/>
          </a:bodyPr>
          <a:lstStyle/>
          <a:p>
            <a:pPr algn="l">
              <a:lnSpc>
                <a:spcPct val="100000"/>
              </a:lnSpc>
              <a:spcBef>
                <a:spcPts val="0"/>
              </a:spcBef>
              <a:spcAft>
                <a:spcPts val="0"/>
              </a:spcAft>
            </a:pPr>
            <a:r>
              <a:rPr sz="950" b="0" i="0" lang="en-US" spc="100">
                <a:solidFill>
                  <a:srgbClr val="FFFFFF"/>
                </a:solidFill>
                <a:latin typeface="JetBrains Mono" pitchFamily="49" charset="0"/>
              </a:rPr>
              <a:t>MAIN FLOW</a:t>
            </a:r>
          </a:p>
        </p:txBody>
      </p:sp>
      <p:sp>
        <p:nvSpPr>
          <p:cNvPr id="18" name="Contract LockRegistry"/>
          <p:cNvSpPr/>
          <p:nvPr/>
        </p:nvSpPr>
        <p:spPr>
          <a:xfrm>
            <a:off x="594360" y="2907792"/>
            <a:ext cx="7086600" cy="713232"/>
          </a:xfrm>
          <a:prstGeom prst="roundRect">
            <a:avLst>
              <a:gd name="adj" fmla="val 256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9" name="Icon LockRegistry"/>
          <p:cNvGrpSpPr/>
          <p:nvPr/>
        </p:nvGrpSpPr>
        <p:grpSpPr>
          <a:xfrm>
            <a:off x="0" y="0"/>
            <a:ext cx="0" cy="0"/>
            <a:chOff x="0" y="0"/>
            <a:chExt cx="0" cy="0"/>
          </a:xfrm>
        </p:grpSpPr>
        <p:sp>
          <p:nvSpPr>
            <p:cNvPr id="20" name="LockRegistry slab · kiri"/>
            <p:cNvSpPr/>
            <p:nvPr/>
          </p:nvSpPr>
          <p:spPr>
            <a:xfrm>
              <a:off x="705293" y="3199714"/>
              <a:ext cx="391987" cy="392278"/>
            </a:xfrm>
            <a:custGeom>
              <a:avLst/>
              <a:gdLst/>
              <a:ahLst/>
              <a:cxnLst/>
              <a:rect l="l" t="t" r="r" b="b"/>
              <a:pathLst>
                <a:path w="391987" h="392278">
                  <a:moveTo>
                    <a:pt x="0" y="165964"/>
                  </a:moveTo>
                  <a:lnTo>
                    <a:pt x="391987" y="392278"/>
                  </a:lnTo>
                  <a:lnTo>
                    <a:pt x="391987" y="226314"/>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ockRegistry slab · kanan"/>
            <p:cNvSpPr/>
            <p:nvPr/>
          </p:nvSpPr>
          <p:spPr>
            <a:xfrm>
              <a:off x="1097280" y="3199714"/>
              <a:ext cx="391987" cy="392278"/>
            </a:xfrm>
            <a:custGeom>
              <a:avLst/>
              <a:gdLst/>
              <a:ahLst/>
              <a:cxnLst/>
              <a:rect l="l" t="t" r="r" b="b"/>
              <a:pathLst>
                <a:path w="391987" h="392278">
                  <a:moveTo>
                    <a:pt x="391987" y="165964"/>
                  </a:moveTo>
                  <a:lnTo>
                    <a:pt x="0" y="392278"/>
                  </a:lnTo>
                  <a:lnTo>
                    <a:pt x="0" y="226314"/>
                  </a:lnTo>
                  <a:lnTo>
                    <a:pt x="391987"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ockRegistry slab · atas"/>
            <p:cNvSpPr/>
            <p:nvPr/>
          </p:nvSpPr>
          <p:spPr>
            <a:xfrm>
              <a:off x="705293" y="2973400"/>
              <a:ext cx="783974" cy="452628"/>
            </a:xfrm>
            <a:custGeom>
              <a:avLst/>
              <a:gdLst/>
              <a:ahLst/>
              <a:cxnLst/>
              <a:rect l="l" t="t" r="r" b="b"/>
              <a:pathLst>
                <a:path w="783974" h="452628">
                  <a:moveTo>
                    <a:pt x="391987" y="0"/>
                  </a:moveTo>
                  <a:lnTo>
                    <a:pt x="783974" y="226314"/>
                  </a:lnTo>
                  <a:lnTo>
                    <a:pt x="391987" y="452628"/>
                  </a:lnTo>
                  <a:lnTo>
                    <a:pt x="0" y="226314"/>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3" name="LockRegistry name"/>
          <p:cNvSpPr txBox="1"/>
          <p:nvPr/>
        </p:nvSpPr>
        <p:spPr>
          <a:xfrm>
            <a:off x="1600200" y="2999232"/>
            <a:ext cx="3291840" cy="274320"/>
          </a:xfrm>
          <a:prstGeom prst="rect">
            <a:avLst/>
          </a:prstGeom>
          <a:noFill/>
        </p:spPr>
        <p:txBody>
          <a:bodyPr wrap="square" lIns="0" rIns="0" tIns="0" bIns="0" anchor="t">
            <a:noAutofit/>
          </a:bodyPr>
          <a:lstStyle/>
          <a:p>
            <a:pPr algn="l">
              <a:lnSpc>
                <a:spcPct val="100000"/>
              </a:lnSpc>
              <a:spcBef>
                <a:spcPts val="0"/>
              </a:spcBef>
              <a:spcAft>
                <a:spcPts val="0"/>
              </a:spcAft>
            </a:pPr>
            <a:r>
              <a:rPr sz="1700" b="1" i="0" lang="en-US">
                <a:solidFill>
                  <a:srgbClr val="FFFFFF"/>
                </a:solidFill>
                <a:latin typeface="Archivo" pitchFamily="34" charset="0"/>
              </a:rPr>
              <a:t>LockRegistry</a:t>
            </a:r>
          </a:p>
        </p:txBody>
      </p:sp>
      <p:sp>
        <p:nvSpPr>
          <p:cNvPr id="24" name="LockRegistry role"/>
          <p:cNvSpPr txBox="1"/>
          <p:nvPr/>
        </p:nvSpPr>
        <p:spPr>
          <a:xfrm>
            <a:off x="1600200" y="3291840"/>
            <a:ext cx="4572000" cy="274320"/>
          </a:xfrm>
          <a:prstGeom prst="rect">
            <a:avLst/>
          </a:prstGeom>
          <a:noFill/>
        </p:spPr>
        <p:txBody>
          <a:bodyPr wrap="square" lIns="0" rIns="0" tIns="0" bIns="0" anchor="t">
            <a:noAutofit/>
          </a:bodyPr>
          <a:lstStyle/>
          <a:p>
            <a:pPr algn="l">
              <a:lnSpc>
                <a:spcPct val="110000"/>
              </a:lnSpc>
              <a:spcBef>
                <a:spcPts val="0"/>
              </a:spcBef>
              <a:spcAft>
                <a:spcPts val="0"/>
              </a:spcAft>
            </a:pPr>
            <a:r>
              <a:rPr sz="1200" b="0" i="0" lang="en-US">
                <a:solidFill>
                  <a:srgbClr val="C9BDF2"/>
                </a:solidFill>
                <a:latin typeface="Inter" pitchFamily="34" charset="0"/>
              </a:rPr>
              <a:t>Write-once lock of each rule, with block time.</a:t>
            </a:r>
          </a:p>
        </p:txBody>
      </p:sp>
      <p:sp>
        <p:nvSpPr>
          <p:cNvPr id="25" name="LockRegistry address"/>
          <p:cNvSpPr txBox="1"/>
          <p:nvPr/>
        </p:nvSpPr>
        <p:spPr>
          <a:xfrm>
            <a:off x="5532120" y="2999232"/>
            <a:ext cx="1965960" cy="237744"/>
          </a:xfrm>
          <a:prstGeom prst="rect">
            <a:avLst/>
          </a:prstGeom>
          <a:noFill/>
        </p:spPr>
        <p:txBody>
          <a:bodyPr wrap="square" lIns="0" rIns="0" tIns="0" bIns="0" anchor="t">
            <a:noAutofit/>
          </a:bodyPr>
          <a:lstStyle/>
          <a:p>
            <a:pPr algn="r">
              <a:lnSpc>
                <a:spcPct val="125000"/>
              </a:lnSpc>
              <a:spcBef>
                <a:spcPts val="0"/>
              </a:spcBef>
              <a:spcAft>
                <a:spcPts val="0"/>
              </a:spcAft>
            </a:pPr>
            <a:r>
              <a:rPr sz="1100" b="0" i="0" lang="en-US">
                <a:solidFill>
                  <a:srgbClr val="ECE8FA"/>
                </a:solidFill>
                <a:latin typeface="JetBrains Mono" pitchFamily="49" charset="0"/>
              </a:rPr>
              <a:t>0xcF6f…bb0C</a:t>
            </a:r>
          </a:p>
        </p:txBody>
      </p:sp>
      <p:sp>
        <p:nvSpPr>
          <p:cNvPr id="26" name="Contract SelectionAnchor"/>
          <p:cNvSpPr/>
          <p:nvPr/>
        </p:nvSpPr>
        <p:spPr>
          <a:xfrm>
            <a:off x="594360" y="3712464"/>
            <a:ext cx="7086600" cy="713232"/>
          </a:xfrm>
          <a:prstGeom prst="roundRect">
            <a:avLst>
              <a:gd name="adj" fmla="val 256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7" name="Icon SelectionAnchor"/>
          <p:cNvGrpSpPr/>
          <p:nvPr/>
        </p:nvGrpSpPr>
        <p:grpSpPr>
          <a:xfrm>
            <a:off x="0" y="0"/>
            <a:ext cx="0" cy="0"/>
            <a:chOff x="0" y="0"/>
            <a:chExt cx="0" cy="0"/>
          </a:xfrm>
        </p:grpSpPr>
        <p:sp>
          <p:nvSpPr>
            <p:cNvPr id="28" name="SelectionAnchor slab · kiri"/>
            <p:cNvSpPr/>
            <p:nvPr/>
          </p:nvSpPr>
          <p:spPr>
            <a:xfrm>
              <a:off x="705293" y="4004386"/>
              <a:ext cx="391987" cy="392278"/>
            </a:xfrm>
            <a:custGeom>
              <a:avLst/>
              <a:gdLst/>
              <a:ahLst/>
              <a:cxnLst/>
              <a:rect l="l" t="t" r="r" b="b"/>
              <a:pathLst>
                <a:path w="391987" h="392278">
                  <a:moveTo>
                    <a:pt x="0" y="165964"/>
                  </a:moveTo>
                  <a:lnTo>
                    <a:pt x="391987" y="392278"/>
                  </a:lnTo>
                  <a:lnTo>
                    <a:pt x="391987" y="226314"/>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electionAnchor slab · kanan"/>
            <p:cNvSpPr/>
            <p:nvPr/>
          </p:nvSpPr>
          <p:spPr>
            <a:xfrm>
              <a:off x="1097280" y="4004386"/>
              <a:ext cx="391987" cy="392278"/>
            </a:xfrm>
            <a:custGeom>
              <a:avLst/>
              <a:gdLst/>
              <a:ahLst/>
              <a:cxnLst/>
              <a:rect l="l" t="t" r="r" b="b"/>
              <a:pathLst>
                <a:path w="391987" h="392278">
                  <a:moveTo>
                    <a:pt x="391987" y="165964"/>
                  </a:moveTo>
                  <a:lnTo>
                    <a:pt x="0" y="392278"/>
                  </a:lnTo>
                  <a:lnTo>
                    <a:pt x="0" y="226314"/>
                  </a:lnTo>
                  <a:lnTo>
                    <a:pt x="391987"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electionAnchor slab · atas"/>
            <p:cNvSpPr/>
            <p:nvPr/>
          </p:nvSpPr>
          <p:spPr>
            <a:xfrm>
              <a:off x="705293" y="3778072"/>
              <a:ext cx="783974" cy="452628"/>
            </a:xfrm>
            <a:custGeom>
              <a:avLst/>
              <a:gdLst/>
              <a:ahLst/>
              <a:cxnLst/>
              <a:rect l="l" t="t" r="r" b="b"/>
              <a:pathLst>
                <a:path w="783974" h="452628">
                  <a:moveTo>
                    <a:pt x="391987" y="0"/>
                  </a:moveTo>
                  <a:lnTo>
                    <a:pt x="783974" y="226314"/>
                  </a:lnTo>
                  <a:lnTo>
                    <a:pt x="391987" y="452628"/>
                  </a:lnTo>
                  <a:lnTo>
                    <a:pt x="0" y="226314"/>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1" name="SelectionAnchor name"/>
          <p:cNvSpPr txBox="1"/>
          <p:nvPr/>
        </p:nvSpPr>
        <p:spPr>
          <a:xfrm>
            <a:off x="1600200" y="3803904"/>
            <a:ext cx="3291840" cy="274320"/>
          </a:xfrm>
          <a:prstGeom prst="rect">
            <a:avLst/>
          </a:prstGeom>
          <a:noFill/>
        </p:spPr>
        <p:txBody>
          <a:bodyPr wrap="square" lIns="0" rIns="0" tIns="0" bIns="0" anchor="t">
            <a:noAutofit/>
          </a:bodyPr>
          <a:lstStyle/>
          <a:p>
            <a:pPr algn="l">
              <a:lnSpc>
                <a:spcPct val="100000"/>
              </a:lnSpc>
              <a:spcBef>
                <a:spcPts val="0"/>
              </a:spcBef>
              <a:spcAft>
                <a:spcPts val="0"/>
              </a:spcAft>
            </a:pPr>
            <a:r>
              <a:rPr sz="1700" b="1" i="0" lang="en-US">
                <a:solidFill>
                  <a:srgbClr val="FFFFFF"/>
                </a:solidFill>
                <a:latin typeface="Archivo" pitchFamily="34" charset="0"/>
              </a:rPr>
              <a:t>SelectionAnchor</a:t>
            </a:r>
          </a:p>
        </p:txBody>
      </p:sp>
      <p:sp>
        <p:nvSpPr>
          <p:cNvPr id="32" name="SelectionAnchor role"/>
          <p:cNvSpPr txBox="1"/>
          <p:nvPr/>
        </p:nvSpPr>
        <p:spPr>
          <a:xfrm>
            <a:off x="1600200" y="4096512"/>
            <a:ext cx="4572000" cy="274320"/>
          </a:xfrm>
          <a:prstGeom prst="rect">
            <a:avLst/>
          </a:prstGeom>
          <a:noFill/>
        </p:spPr>
        <p:txBody>
          <a:bodyPr wrap="square" lIns="0" rIns="0" tIns="0" bIns="0" anchor="t">
            <a:noAutofit/>
          </a:bodyPr>
          <a:lstStyle/>
          <a:p>
            <a:pPr algn="l">
              <a:lnSpc>
                <a:spcPct val="110000"/>
              </a:lnSpc>
              <a:spcBef>
                <a:spcPts val="0"/>
              </a:spcBef>
              <a:spcAft>
                <a:spcPts val="0"/>
              </a:spcAft>
            </a:pPr>
            <a:r>
              <a:rPr sz="1200" b="0" i="0" lang="en-US">
                <a:solidFill>
                  <a:srgbClr val="C9BDF2"/>
                </a:solidFill>
                <a:latin typeface="Inter" pitchFamily="34" charset="0"/>
              </a:rPr>
              <a:t>Analysts' daily bot pick, sealed before the bar closes.</a:t>
            </a:r>
          </a:p>
        </p:txBody>
      </p:sp>
      <p:sp>
        <p:nvSpPr>
          <p:cNvPr id="33" name="SelectionAnchor address"/>
          <p:cNvSpPr txBox="1"/>
          <p:nvPr/>
        </p:nvSpPr>
        <p:spPr>
          <a:xfrm>
            <a:off x="5532120" y="3803904"/>
            <a:ext cx="1965960" cy="237744"/>
          </a:xfrm>
          <a:prstGeom prst="rect">
            <a:avLst/>
          </a:prstGeom>
          <a:noFill/>
        </p:spPr>
        <p:txBody>
          <a:bodyPr wrap="square" lIns="0" rIns="0" tIns="0" bIns="0" anchor="t">
            <a:noAutofit/>
          </a:bodyPr>
          <a:lstStyle/>
          <a:p>
            <a:pPr algn="r">
              <a:lnSpc>
                <a:spcPct val="125000"/>
              </a:lnSpc>
              <a:spcBef>
                <a:spcPts val="0"/>
              </a:spcBef>
              <a:spcAft>
                <a:spcPts val="0"/>
              </a:spcAft>
            </a:pPr>
            <a:r>
              <a:rPr sz="1100" b="0" i="0" lang="en-US">
                <a:solidFill>
                  <a:srgbClr val="ECE8FA"/>
                </a:solidFill>
                <a:latin typeface="JetBrains Mono" pitchFamily="49" charset="0"/>
              </a:rPr>
              <a:t>0xc0c1…f3b1</a:t>
            </a:r>
          </a:p>
        </p:txBody>
      </p:sp>
      <p:sp>
        <p:nvSpPr>
          <p:cNvPr id="34" name="Contract DeskAnchor"/>
          <p:cNvSpPr/>
          <p:nvPr/>
        </p:nvSpPr>
        <p:spPr>
          <a:xfrm>
            <a:off x="594360" y="4517136"/>
            <a:ext cx="7086600" cy="713232"/>
          </a:xfrm>
          <a:prstGeom prst="roundRect">
            <a:avLst>
              <a:gd name="adj" fmla="val 256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5" name="Icon DeskAnchor"/>
          <p:cNvGrpSpPr/>
          <p:nvPr/>
        </p:nvGrpSpPr>
        <p:grpSpPr>
          <a:xfrm>
            <a:off x="0" y="0"/>
            <a:ext cx="0" cy="0"/>
            <a:chOff x="0" y="0"/>
            <a:chExt cx="0" cy="0"/>
          </a:xfrm>
        </p:grpSpPr>
        <p:sp>
          <p:nvSpPr>
            <p:cNvPr id="36" name="DeskAnchor slab · kiri"/>
            <p:cNvSpPr/>
            <p:nvPr/>
          </p:nvSpPr>
          <p:spPr>
            <a:xfrm>
              <a:off x="705293" y="4809058"/>
              <a:ext cx="391987" cy="392278"/>
            </a:xfrm>
            <a:custGeom>
              <a:avLst/>
              <a:gdLst/>
              <a:ahLst/>
              <a:cxnLst/>
              <a:rect l="l" t="t" r="r" b="b"/>
              <a:pathLst>
                <a:path w="391987" h="392278">
                  <a:moveTo>
                    <a:pt x="0" y="165964"/>
                  </a:moveTo>
                  <a:lnTo>
                    <a:pt x="391987" y="392278"/>
                  </a:lnTo>
                  <a:lnTo>
                    <a:pt x="391987" y="226314"/>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eskAnchor slab · kanan"/>
            <p:cNvSpPr/>
            <p:nvPr/>
          </p:nvSpPr>
          <p:spPr>
            <a:xfrm>
              <a:off x="1097280" y="4809058"/>
              <a:ext cx="391987" cy="392278"/>
            </a:xfrm>
            <a:custGeom>
              <a:avLst/>
              <a:gdLst/>
              <a:ahLst/>
              <a:cxnLst/>
              <a:rect l="l" t="t" r="r" b="b"/>
              <a:pathLst>
                <a:path w="391987" h="392278">
                  <a:moveTo>
                    <a:pt x="391987" y="165964"/>
                  </a:moveTo>
                  <a:lnTo>
                    <a:pt x="0" y="392278"/>
                  </a:lnTo>
                  <a:lnTo>
                    <a:pt x="0" y="226314"/>
                  </a:lnTo>
                  <a:lnTo>
                    <a:pt x="391987"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eskAnchor slab · atas"/>
            <p:cNvSpPr/>
            <p:nvPr/>
          </p:nvSpPr>
          <p:spPr>
            <a:xfrm>
              <a:off x="705293" y="4582744"/>
              <a:ext cx="783974" cy="452628"/>
            </a:xfrm>
            <a:custGeom>
              <a:avLst/>
              <a:gdLst/>
              <a:ahLst/>
              <a:cxnLst/>
              <a:rect l="l" t="t" r="r" b="b"/>
              <a:pathLst>
                <a:path w="783974" h="452628">
                  <a:moveTo>
                    <a:pt x="391987" y="0"/>
                  </a:moveTo>
                  <a:lnTo>
                    <a:pt x="783974" y="226314"/>
                  </a:lnTo>
                  <a:lnTo>
                    <a:pt x="391987" y="452628"/>
                  </a:lnTo>
                  <a:lnTo>
                    <a:pt x="0" y="226314"/>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9" name="DeskAnchor name"/>
          <p:cNvSpPr txBox="1"/>
          <p:nvPr/>
        </p:nvSpPr>
        <p:spPr>
          <a:xfrm>
            <a:off x="1600200" y="4608576"/>
            <a:ext cx="3291840" cy="274320"/>
          </a:xfrm>
          <a:prstGeom prst="rect">
            <a:avLst/>
          </a:prstGeom>
          <a:noFill/>
        </p:spPr>
        <p:txBody>
          <a:bodyPr wrap="square" lIns="0" rIns="0" tIns="0" bIns="0" anchor="t">
            <a:noAutofit/>
          </a:bodyPr>
          <a:lstStyle/>
          <a:p>
            <a:pPr algn="l">
              <a:lnSpc>
                <a:spcPct val="100000"/>
              </a:lnSpc>
              <a:spcBef>
                <a:spcPts val="0"/>
              </a:spcBef>
              <a:spcAft>
                <a:spcPts val="0"/>
              </a:spcAft>
            </a:pPr>
            <a:r>
              <a:rPr sz="1700" b="1" i="0" lang="en-US">
                <a:solidFill>
                  <a:srgbClr val="FFFFFF"/>
                </a:solidFill>
                <a:latin typeface="Archivo" pitchFamily="34" charset="0"/>
              </a:rPr>
              <a:t>DeskAnchor</a:t>
            </a:r>
          </a:p>
        </p:txBody>
      </p:sp>
      <p:sp>
        <p:nvSpPr>
          <p:cNvPr id="40" name="DeskAnchor role"/>
          <p:cNvSpPr txBox="1"/>
          <p:nvPr/>
        </p:nvSpPr>
        <p:spPr>
          <a:xfrm>
            <a:off x="1600200" y="4901184"/>
            <a:ext cx="4572000" cy="274320"/>
          </a:xfrm>
          <a:prstGeom prst="rect">
            <a:avLst/>
          </a:prstGeom>
          <a:noFill/>
        </p:spPr>
        <p:txBody>
          <a:bodyPr wrap="square" lIns="0" rIns="0" tIns="0" bIns="0" anchor="t">
            <a:noAutofit/>
          </a:bodyPr>
          <a:lstStyle/>
          <a:p>
            <a:pPr algn="l">
              <a:lnSpc>
                <a:spcPct val="110000"/>
              </a:lnSpc>
              <a:spcBef>
                <a:spcPts val="0"/>
              </a:spcBef>
              <a:spcAft>
                <a:spcPts val="0"/>
              </a:spcAft>
            </a:pPr>
            <a:r>
              <a:rPr sz="1200" b="0" i="0" lang="en-US">
                <a:solidFill>
                  <a:srgbClr val="C9BDF2"/>
                </a:solidFill>
                <a:latin typeface="Inter" pitchFamily="34" charset="0"/>
              </a:rPr>
              <a:t>Merkle root of each 5-minute cycle, only while it runs.</a:t>
            </a:r>
          </a:p>
        </p:txBody>
      </p:sp>
      <p:sp>
        <p:nvSpPr>
          <p:cNvPr id="41" name="DeskAnchor address"/>
          <p:cNvSpPr txBox="1"/>
          <p:nvPr/>
        </p:nvSpPr>
        <p:spPr>
          <a:xfrm>
            <a:off x="5532120" y="4608576"/>
            <a:ext cx="1965960" cy="237744"/>
          </a:xfrm>
          <a:prstGeom prst="rect">
            <a:avLst/>
          </a:prstGeom>
          <a:noFill/>
        </p:spPr>
        <p:txBody>
          <a:bodyPr wrap="square" lIns="0" rIns="0" tIns="0" bIns="0" anchor="t">
            <a:noAutofit/>
          </a:bodyPr>
          <a:lstStyle/>
          <a:p>
            <a:pPr algn="r">
              <a:lnSpc>
                <a:spcPct val="125000"/>
              </a:lnSpc>
              <a:spcBef>
                <a:spcPts val="0"/>
              </a:spcBef>
              <a:spcAft>
                <a:spcPts val="0"/>
              </a:spcAft>
            </a:pPr>
            <a:r>
              <a:rPr sz="1100" b="0" i="0" lang="en-US">
                <a:solidFill>
                  <a:srgbClr val="ECE8FA"/>
                </a:solidFill>
                <a:latin typeface="JetBrains Mono" pitchFamily="49" charset="0"/>
              </a:rPr>
              <a:t>0x706d…305f</a:t>
            </a:r>
          </a:p>
        </p:txBody>
      </p:sp>
      <p:sp>
        <p:nvSpPr>
          <p:cNvPr id="42" name="Contract FabiusCredit (FAB)"/>
          <p:cNvSpPr/>
          <p:nvPr/>
        </p:nvSpPr>
        <p:spPr>
          <a:xfrm>
            <a:off x="594360" y="5321808"/>
            <a:ext cx="7086600" cy="713232"/>
          </a:xfrm>
          <a:prstGeom prst="roundRect">
            <a:avLst>
              <a:gd name="adj" fmla="val 2564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3" name="Icon FabiusCredit (FAB)"/>
          <p:cNvGrpSpPr/>
          <p:nvPr/>
        </p:nvGrpSpPr>
        <p:grpSpPr>
          <a:xfrm>
            <a:off x="0" y="0"/>
            <a:ext cx="0" cy="0"/>
            <a:chOff x="0" y="0"/>
            <a:chExt cx="0" cy="0"/>
          </a:xfrm>
        </p:grpSpPr>
        <p:sp>
          <p:nvSpPr>
            <p:cNvPr id="44" name="FabiusCredit (FAB) slab · kiri"/>
            <p:cNvSpPr/>
            <p:nvPr/>
          </p:nvSpPr>
          <p:spPr>
            <a:xfrm>
              <a:off x="705293" y="5613730"/>
              <a:ext cx="391987" cy="392278"/>
            </a:xfrm>
            <a:custGeom>
              <a:avLst/>
              <a:gdLst/>
              <a:ahLst/>
              <a:cxnLst/>
              <a:rect l="l" t="t" r="r" b="b"/>
              <a:pathLst>
                <a:path w="391987" h="392278">
                  <a:moveTo>
                    <a:pt x="0" y="165964"/>
                  </a:moveTo>
                  <a:lnTo>
                    <a:pt x="391987" y="392278"/>
                  </a:lnTo>
                  <a:lnTo>
                    <a:pt x="391987" y="226314"/>
                  </a:lnTo>
                  <a:lnTo>
                    <a:pt x="0" y="0"/>
                  </a:lnTo>
                  <a:close/>
                </a:path>
              </a:pathLst>
            </a:custGeom>
            <a:solidFill>
              <a:srgbClr val="171428"/>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abiusCredit (FAB) slab · kanan"/>
            <p:cNvSpPr/>
            <p:nvPr/>
          </p:nvSpPr>
          <p:spPr>
            <a:xfrm>
              <a:off x="1097280" y="5613730"/>
              <a:ext cx="391987" cy="392278"/>
            </a:xfrm>
            <a:custGeom>
              <a:avLst/>
              <a:gdLst/>
              <a:ahLst/>
              <a:cxnLst/>
              <a:rect l="l" t="t" r="r" b="b"/>
              <a:pathLst>
                <a:path w="391987" h="392278">
                  <a:moveTo>
                    <a:pt x="391987" y="165964"/>
                  </a:moveTo>
                  <a:lnTo>
                    <a:pt x="0" y="392278"/>
                  </a:lnTo>
                  <a:lnTo>
                    <a:pt x="0" y="226314"/>
                  </a:lnTo>
                  <a:lnTo>
                    <a:pt x="391987" y="0"/>
                  </a:lnTo>
                  <a:close/>
                </a:path>
              </a:pathLst>
            </a:custGeom>
            <a:solidFill>
              <a:srgbClr val="231F3E"/>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abiusCredit (FAB) slab · atas"/>
            <p:cNvSpPr/>
            <p:nvPr/>
          </p:nvSpPr>
          <p:spPr>
            <a:xfrm>
              <a:off x="705293" y="5387416"/>
              <a:ext cx="783974" cy="452628"/>
            </a:xfrm>
            <a:custGeom>
              <a:avLst/>
              <a:gdLst/>
              <a:ahLst/>
              <a:cxnLst/>
              <a:rect l="l" t="t" r="r" b="b"/>
              <a:pathLst>
                <a:path w="783974" h="452628">
                  <a:moveTo>
                    <a:pt x="391987" y="0"/>
                  </a:moveTo>
                  <a:lnTo>
                    <a:pt x="783974" y="226314"/>
                  </a:lnTo>
                  <a:lnTo>
                    <a:pt x="391987" y="452628"/>
                  </a:lnTo>
                  <a:lnTo>
                    <a:pt x="0" y="226314"/>
                  </a:lnTo>
                  <a:close/>
                </a:path>
              </a:pathLst>
            </a:custGeom>
            <a:solidFill>
              <a:srgbClr val="3C3760"/>
            </a:solidFill>
            <a:ln w="6350" cap="rnd">
              <a:solidFill>
                <a:srgbClr val="ECE8FA">
                  <a:alpha val="24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7" name="FabiusCredit (FAB) name"/>
          <p:cNvSpPr txBox="1"/>
          <p:nvPr/>
        </p:nvSpPr>
        <p:spPr>
          <a:xfrm>
            <a:off x="1600200" y="5413248"/>
            <a:ext cx="3291840" cy="274320"/>
          </a:xfrm>
          <a:prstGeom prst="rect">
            <a:avLst/>
          </a:prstGeom>
          <a:noFill/>
        </p:spPr>
        <p:txBody>
          <a:bodyPr wrap="square" lIns="0" rIns="0" tIns="0" bIns="0" anchor="t">
            <a:noAutofit/>
          </a:bodyPr>
          <a:lstStyle/>
          <a:p>
            <a:pPr algn="l">
              <a:lnSpc>
                <a:spcPct val="100000"/>
              </a:lnSpc>
              <a:spcBef>
                <a:spcPts val="0"/>
              </a:spcBef>
              <a:spcAft>
                <a:spcPts val="0"/>
              </a:spcAft>
            </a:pPr>
            <a:r>
              <a:rPr sz="1700" b="1" i="0" lang="en-US">
                <a:solidFill>
                  <a:srgbClr val="FFFFFF"/>
                </a:solidFill>
                <a:latin typeface="Archivo" pitchFamily="34" charset="0"/>
              </a:rPr>
              <a:t>FabiusCredit (FAB)</a:t>
            </a:r>
          </a:p>
        </p:txBody>
      </p:sp>
      <p:sp>
        <p:nvSpPr>
          <p:cNvPr id="48" name="FabiusCredit (FAB) role"/>
          <p:cNvSpPr txBox="1"/>
          <p:nvPr/>
        </p:nvSpPr>
        <p:spPr>
          <a:xfrm>
            <a:off x="1600200" y="5705856"/>
            <a:ext cx="4572000" cy="274320"/>
          </a:xfrm>
          <a:prstGeom prst="rect">
            <a:avLst/>
          </a:prstGeom>
          <a:noFill/>
        </p:spPr>
        <p:txBody>
          <a:bodyPr wrap="square" lIns="0" rIns="0" tIns="0" bIns="0" anchor="t">
            <a:noAutofit/>
          </a:bodyPr>
          <a:lstStyle/>
          <a:p>
            <a:pPr algn="l">
              <a:lnSpc>
                <a:spcPct val="110000"/>
              </a:lnSpc>
              <a:spcBef>
                <a:spcPts val="0"/>
              </a:spcBef>
              <a:spcAft>
                <a:spcPts val="0"/>
              </a:spcAft>
            </a:pPr>
            <a:r>
              <a:rPr sz="1200" b="0" i="0" lang="en-US">
                <a:solidFill>
                  <a:srgbClr val="C9BDF2"/>
                </a:solidFill>
                <a:latin typeface="Inter" pitchFamily="34" charset="0"/>
              </a:rPr>
              <a:t>Test token that pays for signals. No value.</a:t>
            </a:r>
          </a:p>
        </p:txBody>
      </p:sp>
      <p:sp>
        <p:nvSpPr>
          <p:cNvPr id="49" name="FabiusCredit (FAB) address"/>
          <p:cNvSpPr txBox="1"/>
          <p:nvPr/>
        </p:nvSpPr>
        <p:spPr>
          <a:xfrm>
            <a:off x="5532120" y="5413248"/>
            <a:ext cx="1965960" cy="237744"/>
          </a:xfrm>
          <a:prstGeom prst="rect">
            <a:avLst/>
          </a:prstGeom>
          <a:noFill/>
        </p:spPr>
        <p:txBody>
          <a:bodyPr wrap="square" lIns="0" rIns="0" tIns="0" bIns="0" anchor="t">
            <a:noAutofit/>
          </a:bodyPr>
          <a:lstStyle/>
          <a:p>
            <a:pPr algn="r">
              <a:lnSpc>
                <a:spcPct val="125000"/>
              </a:lnSpc>
              <a:spcBef>
                <a:spcPts val="0"/>
              </a:spcBef>
              <a:spcAft>
                <a:spcPts val="0"/>
              </a:spcAft>
            </a:pPr>
            <a:r>
              <a:rPr sz="1100" b="0" i="0" lang="en-US">
                <a:solidFill>
                  <a:srgbClr val="ECE8FA"/>
                </a:solidFill>
                <a:latin typeface="JetBrains Mono" pitchFamily="49" charset="0"/>
              </a:rPr>
              <a:t>0xc7b6…c881</a:t>
            </a:r>
          </a:p>
        </p:txBody>
      </p:sp>
      <p:sp>
        <p:nvSpPr>
          <p:cNvPr id="50" name="Enforced card"/>
          <p:cNvSpPr/>
          <p:nvPr/>
        </p:nvSpPr>
        <p:spPr>
          <a:xfrm>
            <a:off x="7955280" y="2103120"/>
            <a:ext cx="3642055" cy="1874520"/>
          </a:xfrm>
          <a:prstGeom prst="roundRect">
            <a:avLst>
              <a:gd name="adj" fmla="val 10731"/>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nforced tag"/>
          <p:cNvSpPr txBox="1"/>
          <p:nvPr/>
        </p:nvSpPr>
        <p:spPr>
          <a:xfrm>
            <a:off x="8183880" y="2286000"/>
            <a:ext cx="3184855"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ENFORCED BY THE CONTRACT</a:t>
            </a:r>
          </a:p>
        </p:txBody>
      </p:sp>
      <p:sp>
        <p:nvSpPr>
          <p:cNvPr id="52" name="Chip · TooLate"/>
          <p:cNvSpPr/>
          <p:nvPr/>
        </p:nvSpPr>
        <p:spPr>
          <a:xfrm>
            <a:off x="8183880" y="2633472"/>
            <a:ext cx="853059" cy="274320"/>
          </a:xfrm>
          <a:prstGeom prst="roundRect">
            <a:avLst>
              <a:gd name="adj" fmla="val 50000"/>
            </a:avLst>
          </a:prstGeom>
          <a:solidFill>
            <a:srgbClr val="FF5A6E">
              <a:alpha val="10000"/>
            </a:srgbClr>
          </a:solidFill>
          <a:ln w="11430" cap="rnd">
            <a:solidFill>
              <a:srgbClr val="FF5A6E">
                <a:alpha val="8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hip text"/>
          <p:cNvSpPr txBox="1"/>
          <p:nvPr/>
        </p:nvSpPr>
        <p:spPr>
          <a:xfrm>
            <a:off x="8321040" y="2633472"/>
            <a:ext cx="578739"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a:solidFill>
                  <a:srgbClr val="FF9AA7"/>
                </a:solidFill>
                <a:latin typeface="JetBrains Mono" pitchFamily="49" charset="0"/>
              </a:rPr>
              <a:t>TooLate</a:t>
            </a:r>
          </a:p>
        </p:txBody>
      </p:sp>
      <p:sp>
        <p:nvSpPr>
          <p:cNvPr id="54" name="Chip · LockedAfterBar"/>
          <p:cNvSpPr/>
          <p:nvPr/>
        </p:nvSpPr>
        <p:spPr>
          <a:xfrm>
            <a:off x="9128379" y="2633472"/>
            <a:ext cx="1431798" cy="274320"/>
          </a:xfrm>
          <a:prstGeom prst="roundRect">
            <a:avLst>
              <a:gd name="adj" fmla="val 50000"/>
            </a:avLst>
          </a:prstGeom>
          <a:solidFill>
            <a:srgbClr val="FF5A6E">
              <a:alpha val="10000"/>
            </a:srgbClr>
          </a:solidFill>
          <a:ln w="11430" cap="rnd">
            <a:solidFill>
              <a:srgbClr val="FF5A6E">
                <a:alpha val="8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hip text"/>
          <p:cNvSpPr txBox="1"/>
          <p:nvPr/>
        </p:nvSpPr>
        <p:spPr>
          <a:xfrm>
            <a:off x="9265539" y="2633472"/>
            <a:ext cx="1157478"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a:solidFill>
                  <a:srgbClr val="FF9AA7"/>
                </a:solidFill>
                <a:latin typeface="JetBrains Mono" pitchFamily="49" charset="0"/>
              </a:rPr>
              <a:t>LockedAfterBar</a:t>
            </a:r>
          </a:p>
        </p:txBody>
      </p:sp>
      <p:sp>
        <p:nvSpPr>
          <p:cNvPr id="56" name="Enforced text"/>
          <p:cNvSpPr txBox="1"/>
          <p:nvPr/>
        </p:nvSpPr>
        <p:spPr>
          <a:xfrm>
            <a:off x="8183880" y="3017520"/>
            <a:ext cx="3184855" cy="914400"/>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A commit after the 12-hour window, or for a rule locked after the bar, reverts. The rule is code, not good intentions.</a:t>
            </a:r>
          </a:p>
        </p:txBody>
      </p:sp>
      <p:sp>
        <p:nvSpPr>
          <p:cNvPr id="57" name="External card"/>
          <p:cNvSpPr/>
          <p:nvPr/>
        </p:nvSpPr>
        <p:spPr>
          <a:xfrm>
            <a:off x="7955280" y="4114800"/>
            <a:ext cx="3642055" cy="1920240"/>
          </a:xfrm>
          <a:prstGeom prst="roundRect">
            <a:avLst>
              <a:gd name="adj" fmla="val 10476"/>
            </a:avLst>
          </a:prstGeom>
          <a:gradFill rotWithShape="1">
            <a:gsLst>
              <a:gs pos="0">
                <a:srgbClr val="FFFFFF">
                  <a:alpha val="10000"/>
                </a:srgbClr>
              </a:gs>
              <a:gs pos="100000">
                <a:srgbClr val="FFFFFF">
                  <a:alpha val="2500"/>
                </a:srgbClr>
              </a:gs>
            </a:gsLst>
            <a:lin ang="8100000" scaled="0"/>
          </a:gradFill>
          <a:ln w="9525" cap="rnd">
            <a:solidFill>
              <a:srgbClr val="8B86A6">
                <a:alpha val="60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External tag"/>
          <p:cNvSpPr txBox="1"/>
          <p:nvPr/>
        </p:nvSpPr>
        <p:spPr>
          <a:xfrm>
            <a:off x="8183880" y="4297680"/>
            <a:ext cx="3184855"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8B86A6"/>
                </a:solidFill>
                <a:latin typeface="JetBrains Mono" pitchFamily="49" charset="0"/>
              </a:rPr>
              <a:t>STANDARD RAILS WE USE · NOT OURS</a:t>
            </a:r>
          </a:p>
        </p:txBody>
      </p:sp>
      <p:sp>
        <p:nvSpPr>
          <p:cNvPr id="59" name="External items"/>
          <p:cNvSpPr txBox="1"/>
          <p:nvPr/>
        </p:nvSpPr>
        <p:spPr>
          <a:xfrm>
            <a:off x="8183880" y="4617720"/>
            <a:ext cx="3184855" cy="1280160"/>
          </a:xfrm>
          <a:prstGeom prst="rect">
            <a:avLst/>
          </a:prstGeom>
          <a:noFill/>
        </p:spPr>
        <p:txBody>
          <a:bodyPr wrap="square" lIns="0" rIns="0" tIns="0" bIns="0" anchor="t">
            <a:noAutofit/>
          </a:bodyPr>
          <a:lstStyle/>
          <a:p>
            <a:pPr algn="l">
              <a:lnSpc>
                <a:spcPct val="130000"/>
              </a:lnSpc>
              <a:spcBef>
                <a:spcPts val="0"/>
              </a:spcBef>
              <a:spcAft>
                <a:spcPts val="500"/>
              </a:spcAft>
            </a:pPr>
            <a:r>
              <a:rPr sz="1250" b="0" i="0" lang="en-US">
                <a:solidFill>
                  <a:srgbClr val="C9BDF2"/>
                </a:solidFill>
                <a:latin typeface="Inter" pitchFamily="34" charset="0"/>
              </a:rPr>
              <a:t>ERC-8004 Identity Registry: home of Fabius agent #2494</a:t>
            </a:r>
          </a:p>
          <a:p>
            <a:pPr algn="l">
              <a:lnSpc>
                <a:spcPct val="130000"/>
              </a:lnSpc>
              <a:spcBef>
                <a:spcPts val="0"/>
              </a:spcBef>
              <a:spcAft>
                <a:spcPts val="0"/>
              </a:spcAft>
            </a:pPr>
            <a:r>
              <a:rPr sz="1250" b="0" i="0" lang="en-US">
                <a:solidFill>
                  <a:srgbClr val="C9BDF2"/>
                </a:solidFill>
                <a:latin typeface="Inter" pitchFamily="34" charset="0"/>
              </a:rPr>
              <a:t>x402 payment proxy and Permit2: settlement</a:t>
            </a:r>
          </a:p>
        </p:txBody>
      </p:sp>
      <p:sp>
        <p:nvSpPr>
          <p:cNvPr id="60" name="Foot"/>
          <p:cNvSpPr txBox="1"/>
          <p:nvPr/>
        </p:nvSpPr>
        <p:spPr>
          <a:xfrm>
            <a:off x="594360" y="6053328"/>
            <a:ext cx="11002975" cy="237744"/>
          </a:xfrm>
          <a:prstGeom prst="rect">
            <a:avLst/>
          </a:prstGeom>
          <a:noFill/>
        </p:spPr>
        <p:txBody>
          <a:bodyPr wrap="square" lIns="0" rIns="0" tIns="0" bIns="0" anchor="ctr">
            <a:noAutofit/>
          </a:bodyPr>
          <a:lstStyle/>
          <a:p>
            <a:pPr algn="l">
              <a:lnSpc>
                <a:spcPct val="125000"/>
              </a:lnSpc>
              <a:spcBef>
                <a:spcPts val="0"/>
              </a:spcBef>
              <a:spcAft>
                <a:spcPts val="0"/>
              </a:spcAft>
            </a:pPr>
            <a:r>
              <a:rPr sz="1050" b="0" i="0" lang="en-US">
                <a:solidFill>
                  <a:srgbClr val="8B86A6"/>
                </a:solidFill>
                <a:latin typeface="JetBrains Mono" pitchFamily="49" charset="0"/>
              </a:rPr>
              <a:t>BNB SMART CHAIN TESTNET · CHAIN ID 97 · FULL ADDRESSES IN deployments/97.json · EARLIER DEPLOYMENTS LISTED THERE TOO</a:t>
            </a:r>
          </a:p>
        </p:txBody>
      </p:sp>
      <p:sp>
        <p:nvSpPr>
          <p:cNvPr id="61"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62"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10515600" cy="731520"/>
          </a:xfrm>
        </p:spPr>
        <p:txBody>
          <a:bodyPr wrap="square" lIns="0" rIns="0" tIns="0" bIns="0" anchor="t">
            <a:noAutofit/>
          </a:bodyPr>
          <a:lstStyle/>
          <a:p>
            <a:pPr algn="l">
              <a:lnSpc>
                <a:spcPct val="100000"/>
              </a:lnSpc>
              <a:spcBef>
                <a:spcPts val="0"/>
              </a:spcBef>
              <a:spcAft>
                <a:spcPts val="0"/>
              </a:spcAft>
            </a:pPr>
            <a:r>
              <a:rPr sz="4000" b="0" i="0" lang="en-US">
                <a:solidFill>
                  <a:srgbClr val="ECE8FA"/>
                </a:solidFill>
                <a:latin typeface="Archivo" pitchFamily="34" charset="0"/>
              </a:rPr>
              <a:t>A desk built to be doubted</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10 — BUILT TO BE DOUBTED</a:t>
            </a:r>
          </a:p>
        </p:txBody>
      </p:sp>
      <p:grpSp>
        <p:nvGrpSpPr>
          <p:cNvPr id="7" name="Halo"/>
          <p:cNvGrpSpPr/>
          <p:nvPr/>
        </p:nvGrpSpPr>
        <p:grpSpPr>
          <a:xfrm>
            <a:off x="-274320" y="1554480"/>
            <a:ext cx="5486400" cy="3474720"/>
            <a:chOff x="-274320" y="1554480"/>
            <a:chExt cx="5486400" cy="3474720"/>
          </a:xfrm>
        </p:grpSpPr>
        <p:sp>
          <p:nvSpPr>
            <p:cNvPr id="8" name="Halo 1"/>
            <p:cNvSpPr/>
            <p:nvPr/>
          </p:nvSpPr>
          <p:spPr>
            <a:xfrm>
              <a:off x="-274320" y="1554480"/>
              <a:ext cx="5486400" cy="3474720"/>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alo 2"/>
            <p:cNvSpPr/>
            <p:nvPr/>
          </p:nvSpPr>
          <p:spPr>
            <a:xfrm>
              <a:off x="-154142" y="1630593"/>
              <a:ext cx="5246043" cy="3322494"/>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alo 3"/>
            <p:cNvSpPr/>
            <p:nvPr/>
          </p:nvSpPr>
          <p:spPr>
            <a:xfrm>
              <a:off x="-33963" y="1706706"/>
              <a:ext cx="5005687" cy="3170268"/>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alo 4"/>
            <p:cNvSpPr/>
            <p:nvPr/>
          </p:nvSpPr>
          <p:spPr>
            <a:xfrm>
              <a:off x="86215" y="1782819"/>
              <a:ext cx="4765330" cy="3018043"/>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alo 5"/>
            <p:cNvSpPr/>
            <p:nvPr/>
          </p:nvSpPr>
          <p:spPr>
            <a:xfrm>
              <a:off x="206393" y="1858932"/>
              <a:ext cx="4524974" cy="2865817"/>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alo 6"/>
            <p:cNvSpPr/>
            <p:nvPr/>
          </p:nvSpPr>
          <p:spPr>
            <a:xfrm>
              <a:off x="326571" y="1935045"/>
              <a:ext cx="4284617" cy="2713591"/>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lo 7"/>
            <p:cNvSpPr/>
            <p:nvPr/>
          </p:nvSpPr>
          <p:spPr>
            <a:xfrm>
              <a:off x="446750" y="2011157"/>
              <a:ext cx="4044261" cy="2561365"/>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alo 8"/>
            <p:cNvSpPr/>
            <p:nvPr/>
          </p:nvSpPr>
          <p:spPr>
            <a:xfrm>
              <a:off x="566928" y="2087270"/>
              <a:ext cx="3803904" cy="2409139"/>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alo 9"/>
            <p:cNvSpPr/>
            <p:nvPr/>
          </p:nvSpPr>
          <p:spPr>
            <a:xfrm>
              <a:off x="687106" y="2163383"/>
              <a:ext cx="3563547" cy="2256913"/>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alo 10"/>
            <p:cNvSpPr/>
            <p:nvPr/>
          </p:nvSpPr>
          <p:spPr>
            <a:xfrm>
              <a:off x="807285" y="2239496"/>
              <a:ext cx="3323191" cy="2104688"/>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lo 11"/>
            <p:cNvSpPr/>
            <p:nvPr/>
          </p:nvSpPr>
          <p:spPr>
            <a:xfrm>
              <a:off x="927463" y="2315609"/>
              <a:ext cx="3082834" cy="1952462"/>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alo 12"/>
            <p:cNvSpPr/>
            <p:nvPr/>
          </p:nvSpPr>
          <p:spPr>
            <a:xfrm>
              <a:off x="1047641" y="2391722"/>
              <a:ext cx="2842478" cy="1800236"/>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alo 13"/>
            <p:cNvSpPr/>
            <p:nvPr/>
          </p:nvSpPr>
          <p:spPr>
            <a:xfrm>
              <a:off x="1167819" y="2467835"/>
              <a:ext cx="2602121" cy="1648010"/>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alo 14"/>
            <p:cNvSpPr/>
            <p:nvPr/>
          </p:nvSpPr>
          <p:spPr>
            <a:xfrm>
              <a:off x="1287998" y="2543948"/>
              <a:ext cx="2361765" cy="1495784"/>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alo 15"/>
            <p:cNvSpPr/>
            <p:nvPr/>
          </p:nvSpPr>
          <p:spPr>
            <a:xfrm>
              <a:off x="1408176" y="2620061"/>
              <a:ext cx="2121408" cy="1343558"/>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Halo 16"/>
            <p:cNvSpPr/>
            <p:nvPr/>
          </p:nvSpPr>
          <p:spPr>
            <a:xfrm>
              <a:off x="1528354" y="2696174"/>
              <a:ext cx="1881051" cy="1191333"/>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Halo 17"/>
            <p:cNvSpPr/>
            <p:nvPr/>
          </p:nvSpPr>
          <p:spPr>
            <a:xfrm>
              <a:off x="1648533" y="2772287"/>
              <a:ext cx="1640695" cy="1039107"/>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Halo 18"/>
            <p:cNvSpPr/>
            <p:nvPr/>
          </p:nvSpPr>
          <p:spPr>
            <a:xfrm>
              <a:off x="1768711" y="2848400"/>
              <a:ext cx="1400338" cy="886881"/>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alo 19"/>
            <p:cNvSpPr/>
            <p:nvPr/>
          </p:nvSpPr>
          <p:spPr>
            <a:xfrm>
              <a:off x="1888889" y="2924512"/>
              <a:ext cx="1159982" cy="734655"/>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Halo 20"/>
            <p:cNvSpPr/>
            <p:nvPr/>
          </p:nvSpPr>
          <p:spPr>
            <a:xfrm>
              <a:off x="2009067" y="3000625"/>
              <a:ext cx="919625" cy="582429"/>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Halo 21"/>
            <p:cNvSpPr/>
            <p:nvPr/>
          </p:nvSpPr>
          <p:spPr>
            <a:xfrm>
              <a:off x="2129246" y="3076738"/>
              <a:ext cx="679269" cy="430203"/>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alo 22"/>
            <p:cNvSpPr/>
            <p:nvPr/>
          </p:nvSpPr>
          <p:spPr>
            <a:xfrm>
              <a:off x="2249424" y="3152851"/>
              <a:ext cx="438912" cy="277978"/>
            </a:xfrm>
            <a:prstGeom prst="ellipse">
              <a:avLst/>
            </a:prstGeom>
            <a:solidFill>
              <a:srgbClr val="6E4BFF">
                <a:alpha val="1359"/>
              </a:srgbClr>
            </a:solidFill>
            <a:ln w="9525" cap="rnd">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0" name="Big number"/>
          <p:cNvSpPr txBox="1"/>
          <p:nvPr/>
        </p:nvSpPr>
        <p:spPr>
          <a:xfrm>
            <a:off x="594360" y="1828800"/>
            <a:ext cx="3931920" cy="1554480"/>
          </a:xfrm>
          <a:prstGeom prst="rect">
            <a:avLst/>
          </a:prstGeom>
          <a:noFill/>
        </p:spPr>
        <p:txBody>
          <a:bodyPr wrap="square" lIns="0" rIns="0" tIns="0" bIns="0" anchor="t">
            <a:noAutofit/>
          </a:bodyPr>
          <a:lstStyle/>
          <a:p>
            <a:pPr algn="l">
              <a:lnSpc>
                <a:spcPct val="90000"/>
              </a:lnSpc>
              <a:spcBef>
                <a:spcPts val="0"/>
              </a:spcBef>
              <a:spcAft>
                <a:spcPts val="0"/>
              </a:spcAft>
            </a:pPr>
            <a:r>
              <a:rPr sz="11200" b="1" i="0" lang="en-US">
                <a:solidFill>
                  <a:srgbClr val="FFFFFF"/>
                </a:solidFill>
                <a:latin typeface="Archivo" pitchFamily="34" charset="0"/>
              </a:rPr>
              <a:t>0 / 6</a:t>
            </a:r>
          </a:p>
        </p:txBody>
      </p:sp>
      <p:sp>
        <p:nvSpPr>
          <p:cNvPr id="31" name="Big label"/>
          <p:cNvSpPr txBox="1"/>
          <p:nvPr/>
        </p:nvSpPr>
        <p:spPr>
          <a:xfrm>
            <a:off x="594360" y="3456432"/>
            <a:ext cx="3657600" cy="566928"/>
          </a:xfrm>
          <a:prstGeom prst="rect">
            <a:avLst/>
          </a:prstGeom>
          <a:noFill/>
        </p:spPr>
        <p:txBody>
          <a:bodyPr wrap="square" lIns="0" rIns="0" tIns="0" bIns="0" anchor="t">
            <a:noAutofit/>
          </a:bodyPr>
          <a:lstStyle/>
          <a:p>
            <a:pPr algn="l">
              <a:lnSpc>
                <a:spcPct val="115000"/>
              </a:lnSpc>
              <a:spcBef>
                <a:spcPts val="0"/>
              </a:spcBef>
              <a:spcAft>
                <a:spcPts val="0"/>
              </a:spcAft>
            </a:pPr>
            <a:r>
              <a:rPr sz="1800" b="1" i="0" lang="en-US">
                <a:solidFill>
                  <a:srgbClr val="FFFFFF"/>
                </a:solidFill>
                <a:latin typeface="Archivo" pitchFamily="34" charset="0"/>
              </a:rPr>
              <a:t>bots have passed the forward test</a:t>
            </a:r>
          </a:p>
        </p:txBody>
      </p:sp>
      <p:sp>
        <p:nvSpPr>
          <p:cNvPr id="32" name="Big sub"/>
          <p:cNvSpPr txBox="1"/>
          <p:nvPr/>
        </p:nvSpPr>
        <p:spPr>
          <a:xfrm>
            <a:off x="594360" y="4114800"/>
            <a:ext cx="3931920" cy="566928"/>
          </a:xfrm>
          <a:prstGeom prst="rect">
            <a:avLst/>
          </a:prstGeom>
          <a:noFill/>
        </p:spPr>
        <p:txBody>
          <a:bodyPr wrap="square" lIns="0" rIns="0" tIns="0" bIns="0" anchor="t">
            <a:noAutofit/>
          </a:bodyPr>
          <a:lstStyle/>
          <a:p>
            <a:pPr algn="l">
              <a:lnSpc>
                <a:spcPct val="135000"/>
              </a:lnSpc>
              <a:spcBef>
                <a:spcPts val="0"/>
              </a:spcBef>
              <a:spcAft>
                <a:spcPts val="0"/>
              </a:spcAft>
            </a:pPr>
            <a:r>
              <a:rPr sz="1100" b="0" i="0" lang="en-US">
                <a:solidFill>
                  <a:srgbClr val="8B86A6"/>
                </a:solidFill>
                <a:latin typeface="JetBrains Mono" pitchFamily="49" charset="0"/>
              </a:rPr>
              <a:t>needs 20 signals · 20 settled days · 2 months</a:t>
            </a:r>
          </a:p>
        </p:txBody>
      </p:sp>
      <p:sp>
        <p:nvSpPr>
          <p:cNvPr id="33" name="Column 1"/>
          <p:cNvSpPr/>
          <p:nvPr/>
        </p:nvSpPr>
        <p:spPr>
          <a:xfrm>
            <a:off x="4572000" y="1828800"/>
            <a:ext cx="3398368" cy="2834640"/>
          </a:xfrm>
          <a:prstGeom prst="roundRect">
            <a:avLst>
              <a:gd name="adj" fmla="val 7096"/>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olumn 1 tag"/>
          <p:cNvSpPr txBox="1"/>
          <p:nvPr/>
        </p:nvSpPr>
        <p:spPr>
          <a:xfrm>
            <a:off x="4800600" y="2011680"/>
            <a:ext cx="2941168"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9D86FF"/>
                </a:solidFill>
                <a:latin typeface="JetBrains Mono" pitchFamily="49" charset="0"/>
              </a:rPr>
              <a:t>WHAT THE CHAIN PROVES</a:t>
            </a:r>
          </a:p>
        </p:txBody>
      </p:sp>
      <p:sp>
        <p:nvSpPr>
          <p:cNvPr id="35" name="Glyph"/>
          <p:cNvSpPr txBox="1"/>
          <p:nvPr/>
        </p:nvSpPr>
        <p:spPr>
          <a:xfrm>
            <a:off x="4800600" y="2377440"/>
            <a:ext cx="274320" cy="274320"/>
          </a:xfrm>
          <a:prstGeom prst="rect">
            <a:avLst/>
          </a:prstGeom>
          <a:noFill/>
        </p:spPr>
        <p:txBody>
          <a:bodyPr wrap="square" lIns="0" rIns="0" tIns="0" bIns="0" anchor="t">
            <a:noAutofit/>
          </a:bodyPr>
          <a:lstStyle/>
          <a:p>
            <a:pPr algn="l">
              <a:lnSpc>
                <a:spcPct val="100000"/>
              </a:lnSpc>
              <a:spcBef>
                <a:spcPts val="0"/>
              </a:spcBef>
              <a:spcAft>
                <a:spcPts val="0"/>
              </a:spcAft>
            </a:pPr>
            <a:r>
              <a:rPr sz="1600" b="1" i="0" lang="en-US">
                <a:solidFill>
                  <a:srgbClr val="9D86FF"/>
                </a:solidFill>
                <a:latin typeface="Inter" pitchFamily="34" charset="0"/>
              </a:rPr>
              <a:t>✓</a:t>
            </a:r>
          </a:p>
        </p:txBody>
      </p:sp>
      <p:sp>
        <p:nvSpPr>
          <p:cNvPr id="36" name="Item"/>
          <p:cNvSpPr txBox="1"/>
          <p:nvPr/>
        </p:nvSpPr>
        <p:spPr>
          <a:xfrm>
            <a:off x="5138928" y="2377440"/>
            <a:ext cx="2575408" cy="524510"/>
          </a:xfrm>
          <a:prstGeom prst="rect">
            <a:avLst/>
          </a:prstGeom>
          <a:noFill/>
        </p:spPr>
        <p:txBody>
          <a:bodyPr wrap="square" lIns="0" rIns="0" tIns="0" bIns="0" anchor="t">
            <a:noAutofit/>
          </a:bodyPr>
          <a:lstStyle/>
          <a:p>
            <a:pPr algn="l">
              <a:lnSpc>
                <a:spcPct val="125000"/>
              </a:lnSpc>
              <a:spcBef>
                <a:spcPts val="0"/>
              </a:spcBef>
              <a:spcAft>
                <a:spcPts val="0"/>
              </a:spcAft>
            </a:pPr>
            <a:r>
              <a:rPr sz="1350" b="0" i="0" lang="en-US">
                <a:solidFill>
                  <a:srgbClr val="ECE8FA"/>
                </a:solidFill>
                <a:latin typeface="Inter" pitchFamily="34" charset="0"/>
              </a:rPr>
              <a:t>The signal existed before the outcome</a:t>
            </a:r>
          </a:p>
        </p:txBody>
      </p:sp>
      <p:sp>
        <p:nvSpPr>
          <p:cNvPr id="37" name="Glyph"/>
          <p:cNvSpPr txBox="1"/>
          <p:nvPr/>
        </p:nvSpPr>
        <p:spPr>
          <a:xfrm>
            <a:off x="4800600" y="3039110"/>
            <a:ext cx="274320" cy="274320"/>
          </a:xfrm>
          <a:prstGeom prst="rect">
            <a:avLst/>
          </a:prstGeom>
          <a:noFill/>
        </p:spPr>
        <p:txBody>
          <a:bodyPr wrap="square" lIns="0" rIns="0" tIns="0" bIns="0" anchor="t">
            <a:noAutofit/>
          </a:bodyPr>
          <a:lstStyle/>
          <a:p>
            <a:pPr algn="l">
              <a:lnSpc>
                <a:spcPct val="100000"/>
              </a:lnSpc>
              <a:spcBef>
                <a:spcPts val="0"/>
              </a:spcBef>
              <a:spcAft>
                <a:spcPts val="0"/>
              </a:spcAft>
            </a:pPr>
            <a:r>
              <a:rPr sz="1600" b="1" i="0" lang="en-US">
                <a:solidFill>
                  <a:srgbClr val="9D86FF"/>
                </a:solidFill>
                <a:latin typeface="Inter" pitchFamily="34" charset="0"/>
              </a:rPr>
              <a:t>✓</a:t>
            </a:r>
          </a:p>
        </p:txBody>
      </p:sp>
      <p:sp>
        <p:nvSpPr>
          <p:cNvPr id="38" name="Item"/>
          <p:cNvSpPr txBox="1"/>
          <p:nvPr/>
        </p:nvSpPr>
        <p:spPr>
          <a:xfrm>
            <a:off x="5138928" y="3039110"/>
            <a:ext cx="2575408" cy="524510"/>
          </a:xfrm>
          <a:prstGeom prst="rect">
            <a:avLst/>
          </a:prstGeom>
          <a:noFill/>
        </p:spPr>
        <p:txBody>
          <a:bodyPr wrap="square" lIns="0" rIns="0" tIns="0" bIns="0" anchor="t">
            <a:noAutofit/>
          </a:bodyPr>
          <a:lstStyle/>
          <a:p>
            <a:pPr algn="l">
              <a:lnSpc>
                <a:spcPct val="125000"/>
              </a:lnSpc>
              <a:spcBef>
                <a:spcPts val="0"/>
              </a:spcBef>
              <a:spcAft>
                <a:spcPts val="0"/>
              </a:spcAft>
            </a:pPr>
            <a:r>
              <a:rPr sz="1450" b="0" i="0" lang="en-US">
                <a:solidFill>
                  <a:srgbClr val="ECE8FA"/>
                </a:solidFill>
                <a:latin typeface="Inter" pitchFamily="34" charset="0"/>
              </a:rPr>
              <a:t>It was not changed afterwards</a:t>
            </a:r>
          </a:p>
        </p:txBody>
      </p:sp>
      <p:sp>
        <p:nvSpPr>
          <p:cNvPr id="39" name="Glyph"/>
          <p:cNvSpPr txBox="1"/>
          <p:nvPr/>
        </p:nvSpPr>
        <p:spPr>
          <a:xfrm>
            <a:off x="4800600" y="3700780"/>
            <a:ext cx="274320" cy="274320"/>
          </a:xfrm>
          <a:prstGeom prst="rect">
            <a:avLst/>
          </a:prstGeom>
          <a:noFill/>
        </p:spPr>
        <p:txBody>
          <a:bodyPr wrap="square" lIns="0" rIns="0" tIns="0" bIns="0" anchor="t">
            <a:noAutofit/>
          </a:bodyPr>
          <a:lstStyle/>
          <a:p>
            <a:pPr algn="l">
              <a:lnSpc>
                <a:spcPct val="100000"/>
              </a:lnSpc>
              <a:spcBef>
                <a:spcPts val="0"/>
              </a:spcBef>
              <a:spcAft>
                <a:spcPts val="0"/>
              </a:spcAft>
            </a:pPr>
            <a:r>
              <a:rPr sz="1600" b="1" i="0" lang="en-US">
                <a:solidFill>
                  <a:srgbClr val="9D86FF"/>
                </a:solidFill>
                <a:latin typeface="Inter" pitchFamily="34" charset="0"/>
              </a:rPr>
              <a:t>✓</a:t>
            </a:r>
          </a:p>
        </p:txBody>
      </p:sp>
      <p:sp>
        <p:nvSpPr>
          <p:cNvPr id="40" name="Item"/>
          <p:cNvSpPr txBox="1"/>
          <p:nvPr/>
        </p:nvSpPr>
        <p:spPr>
          <a:xfrm>
            <a:off x="5138928" y="3700780"/>
            <a:ext cx="2575408" cy="524510"/>
          </a:xfrm>
          <a:prstGeom prst="rect">
            <a:avLst/>
          </a:prstGeom>
          <a:noFill/>
        </p:spPr>
        <p:txBody>
          <a:bodyPr wrap="square" lIns="0" rIns="0" tIns="0" bIns="0" anchor="t">
            <a:noAutofit/>
          </a:bodyPr>
          <a:lstStyle/>
          <a:p>
            <a:pPr algn="l">
              <a:lnSpc>
                <a:spcPct val="125000"/>
              </a:lnSpc>
              <a:spcBef>
                <a:spcPts val="0"/>
              </a:spcBef>
              <a:spcAft>
                <a:spcPts val="0"/>
              </a:spcAft>
            </a:pPr>
            <a:r>
              <a:rPr sz="1350" b="0" i="0" lang="en-US">
                <a:solidFill>
                  <a:srgbClr val="ECE8FA"/>
                </a:solidFill>
                <a:latin typeface="Inter" pitchFamily="34" charset="0"/>
              </a:rPr>
              <a:t>Which rule produced it, and when that rule was locked</a:t>
            </a:r>
          </a:p>
        </p:txBody>
      </p:sp>
      <p:sp>
        <p:nvSpPr>
          <p:cNvPr id="41" name="Column 2"/>
          <p:cNvSpPr/>
          <p:nvPr/>
        </p:nvSpPr>
        <p:spPr>
          <a:xfrm>
            <a:off x="8198968" y="1828800"/>
            <a:ext cx="3398368" cy="2834640"/>
          </a:xfrm>
          <a:prstGeom prst="roundRect">
            <a:avLst>
              <a:gd name="adj" fmla="val 7096"/>
            </a:avLst>
          </a:prstGeom>
          <a:gradFill rotWithShape="1">
            <a:gsLst>
              <a:gs pos="0">
                <a:srgbClr val="FFFFFF">
                  <a:alpha val="10000"/>
                </a:srgbClr>
              </a:gs>
              <a:gs pos="100000">
                <a:srgbClr val="FFFFFF">
                  <a:alpha val="2500"/>
                </a:srgbClr>
              </a:gs>
            </a:gsLst>
            <a:lin ang="8100000" scaled="0"/>
          </a:gradFill>
          <a:ln w="9525" cap="rnd">
            <a:solidFill>
              <a:srgbClr val="8B86A6">
                <a:alpha val="60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olumn 2 tag"/>
          <p:cNvSpPr txBox="1"/>
          <p:nvPr/>
        </p:nvSpPr>
        <p:spPr>
          <a:xfrm>
            <a:off x="8427568" y="2011680"/>
            <a:ext cx="2941168" cy="219456"/>
          </a:xfrm>
          <a:prstGeom prst="rect">
            <a:avLst/>
          </a:prstGeom>
          <a:noFill/>
        </p:spPr>
        <p:txBody>
          <a:bodyPr wrap="square" lIns="0" rIns="0" tIns="0" bIns="0" anchor="t">
            <a:noAutofit/>
          </a:bodyPr>
          <a:lstStyle/>
          <a:p>
            <a:pPr algn="l">
              <a:lnSpc>
                <a:spcPct val="120000"/>
              </a:lnSpc>
              <a:spcBef>
                <a:spcPts val="0"/>
              </a:spcBef>
              <a:spcAft>
                <a:spcPts val="0"/>
              </a:spcAft>
            </a:pPr>
            <a:r>
              <a:rPr sz="1100" b="0" i="0" lang="en-US" spc="120">
                <a:solidFill>
                  <a:srgbClr val="C9BDF2"/>
                </a:solidFill>
                <a:latin typeface="JetBrains Mono" pitchFamily="49" charset="0"/>
              </a:rPr>
              <a:t>WHAT IT DOES NOT PROVE</a:t>
            </a:r>
          </a:p>
        </p:txBody>
      </p:sp>
      <p:sp>
        <p:nvSpPr>
          <p:cNvPr id="43" name="Glyph"/>
          <p:cNvSpPr txBox="1"/>
          <p:nvPr/>
        </p:nvSpPr>
        <p:spPr>
          <a:xfrm>
            <a:off x="8427568" y="2377440"/>
            <a:ext cx="274320" cy="274320"/>
          </a:xfrm>
          <a:prstGeom prst="rect">
            <a:avLst/>
          </a:prstGeom>
          <a:noFill/>
        </p:spPr>
        <p:txBody>
          <a:bodyPr wrap="square" lIns="0" rIns="0" tIns="0" bIns="0" anchor="t">
            <a:noAutofit/>
          </a:bodyPr>
          <a:lstStyle/>
          <a:p>
            <a:pPr algn="l">
              <a:lnSpc>
                <a:spcPct val="100000"/>
              </a:lnSpc>
              <a:spcBef>
                <a:spcPts val="0"/>
              </a:spcBef>
              <a:spcAft>
                <a:spcPts val="0"/>
              </a:spcAft>
            </a:pPr>
            <a:r>
              <a:rPr sz="1600" b="1" i="0" lang="en-US">
                <a:solidFill>
                  <a:srgbClr val="C9BDF2"/>
                </a:solidFill>
                <a:latin typeface="Inter" pitchFamily="34" charset="0"/>
              </a:rPr>
              <a:t>—</a:t>
            </a:r>
          </a:p>
        </p:txBody>
      </p:sp>
      <p:sp>
        <p:nvSpPr>
          <p:cNvPr id="44" name="Item"/>
          <p:cNvSpPr txBox="1"/>
          <p:nvPr/>
        </p:nvSpPr>
        <p:spPr>
          <a:xfrm>
            <a:off x="8765896" y="2377440"/>
            <a:ext cx="2575408" cy="524510"/>
          </a:xfrm>
          <a:prstGeom prst="rect">
            <a:avLst/>
          </a:prstGeom>
          <a:noFill/>
        </p:spPr>
        <p:txBody>
          <a:bodyPr wrap="square" lIns="0" rIns="0" tIns="0" bIns="0" anchor="t">
            <a:noAutofit/>
          </a:bodyPr>
          <a:lstStyle/>
          <a:p>
            <a:pPr algn="l">
              <a:lnSpc>
                <a:spcPct val="125000"/>
              </a:lnSpc>
              <a:spcBef>
                <a:spcPts val="0"/>
              </a:spcBef>
              <a:spcAft>
                <a:spcPts val="0"/>
              </a:spcAft>
            </a:pPr>
            <a:r>
              <a:rPr sz="1350" b="0" i="0" lang="en-US">
                <a:solidFill>
                  <a:srgbClr val="C9BDF2"/>
                </a:solidFill>
                <a:latin typeface="Inter" pitchFamily="34" charset="0"/>
              </a:rPr>
              <a:t>That a call was right or profitable</a:t>
            </a:r>
          </a:p>
        </p:txBody>
      </p:sp>
      <p:sp>
        <p:nvSpPr>
          <p:cNvPr id="45" name="Glyph"/>
          <p:cNvSpPr txBox="1"/>
          <p:nvPr/>
        </p:nvSpPr>
        <p:spPr>
          <a:xfrm>
            <a:off x="8427568" y="3039110"/>
            <a:ext cx="274320" cy="274320"/>
          </a:xfrm>
          <a:prstGeom prst="rect">
            <a:avLst/>
          </a:prstGeom>
          <a:noFill/>
        </p:spPr>
        <p:txBody>
          <a:bodyPr wrap="square" lIns="0" rIns="0" tIns="0" bIns="0" anchor="t">
            <a:noAutofit/>
          </a:bodyPr>
          <a:lstStyle/>
          <a:p>
            <a:pPr algn="l">
              <a:lnSpc>
                <a:spcPct val="100000"/>
              </a:lnSpc>
              <a:spcBef>
                <a:spcPts val="0"/>
              </a:spcBef>
              <a:spcAft>
                <a:spcPts val="0"/>
              </a:spcAft>
            </a:pPr>
            <a:r>
              <a:rPr sz="1600" b="1" i="0" lang="en-US">
                <a:solidFill>
                  <a:srgbClr val="C9BDF2"/>
                </a:solidFill>
                <a:latin typeface="Inter" pitchFamily="34" charset="0"/>
              </a:rPr>
              <a:t>—</a:t>
            </a:r>
          </a:p>
        </p:txBody>
      </p:sp>
      <p:sp>
        <p:nvSpPr>
          <p:cNvPr id="46" name="Item"/>
          <p:cNvSpPr txBox="1"/>
          <p:nvPr/>
        </p:nvSpPr>
        <p:spPr>
          <a:xfrm>
            <a:off x="8765896" y="3039110"/>
            <a:ext cx="2575408" cy="524510"/>
          </a:xfrm>
          <a:prstGeom prst="rect">
            <a:avLst/>
          </a:prstGeom>
          <a:noFill/>
        </p:spPr>
        <p:txBody>
          <a:bodyPr wrap="square" lIns="0" rIns="0" tIns="0" bIns="0" anchor="t">
            <a:noAutofit/>
          </a:bodyPr>
          <a:lstStyle/>
          <a:p>
            <a:pPr algn="l">
              <a:lnSpc>
                <a:spcPct val="125000"/>
              </a:lnSpc>
              <a:spcBef>
                <a:spcPts val="0"/>
              </a:spcBef>
              <a:spcAft>
                <a:spcPts val="0"/>
              </a:spcAft>
            </a:pPr>
            <a:r>
              <a:rPr sz="1350" b="0" i="0" lang="en-US">
                <a:solidFill>
                  <a:srgbClr val="C9BDF2"/>
                </a:solidFill>
                <a:latin typeface="Inter" pitchFamily="34" charset="0"/>
              </a:rPr>
              <a:t>That a particular model produced it</a:t>
            </a:r>
          </a:p>
        </p:txBody>
      </p:sp>
      <p:sp>
        <p:nvSpPr>
          <p:cNvPr id="47" name="Glyph"/>
          <p:cNvSpPr txBox="1"/>
          <p:nvPr/>
        </p:nvSpPr>
        <p:spPr>
          <a:xfrm>
            <a:off x="8427568" y="3700780"/>
            <a:ext cx="274320" cy="274320"/>
          </a:xfrm>
          <a:prstGeom prst="rect">
            <a:avLst/>
          </a:prstGeom>
          <a:noFill/>
        </p:spPr>
        <p:txBody>
          <a:bodyPr wrap="square" lIns="0" rIns="0" tIns="0" bIns="0" anchor="t">
            <a:noAutofit/>
          </a:bodyPr>
          <a:lstStyle/>
          <a:p>
            <a:pPr algn="l">
              <a:lnSpc>
                <a:spcPct val="100000"/>
              </a:lnSpc>
              <a:spcBef>
                <a:spcPts val="0"/>
              </a:spcBef>
              <a:spcAft>
                <a:spcPts val="0"/>
              </a:spcAft>
            </a:pPr>
            <a:r>
              <a:rPr sz="1600" b="1" i="0" lang="en-US">
                <a:solidFill>
                  <a:srgbClr val="C9BDF2"/>
                </a:solidFill>
                <a:latin typeface="Inter" pitchFamily="34" charset="0"/>
              </a:rPr>
              <a:t>—</a:t>
            </a:r>
          </a:p>
        </p:txBody>
      </p:sp>
      <p:sp>
        <p:nvSpPr>
          <p:cNvPr id="48" name="Item"/>
          <p:cNvSpPr txBox="1"/>
          <p:nvPr/>
        </p:nvSpPr>
        <p:spPr>
          <a:xfrm>
            <a:off x="8765896" y="3700780"/>
            <a:ext cx="2575408" cy="285115"/>
          </a:xfrm>
          <a:prstGeom prst="rect">
            <a:avLst/>
          </a:prstGeom>
          <a:noFill/>
        </p:spPr>
        <p:txBody>
          <a:bodyPr wrap="square" lIns="0" rIns="0" tIns="0" bIns="0" anchor="t">
            <a:noAutofit/>
          </a:bodyPr>
          <a:lstStyle/>
          <a:p>
            <a:pPr algn="l">
              <a:lnSpc>
                <a:spcPct val="125000"/>
              </a:lnSpc>
              <a:spcBef>
                <a:spcPts val="0"/>
              </a:spcBef>
              <a:spcAft>
                <a:spcPts val="0"/>
              </a:spcAft>
            </a:pPr>
            <a:r>
              <a:rPr sz="1450" b="0" i="0" lang="en-US">
                <a:solidFill>
                  <a:srgbClr val="C9BDF2"/>
                </a:solidFill>
                <a:latin typeface="Inter" pitchFamily="34" charset="0"/>
              </a:rPr>
              <a:t>Any edge. None is claimed.</a:t>
            </a:r>
          </a:p>
        </p:txBody>
      </p:sp>
      <p:sp>
        <p:nvSpPr>
          <p:cNvPr id="49" name="Evidence 1"/>
          <p:cNvSpPr/>
          <p:nvPr/>
        </p:nvSpPr>
        <p:spPr>
          <a:xfrm>
            <a:off x="594360" y="4800600"/>
            <a:ext cx="3533546" cy="1188720"/>
          </a:xfrm>
          <a:prstGeom prst="roundRect">
            <a:avLst>
              <a:gd name="adj" fmla="val 15384"/>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Evidence 1 title"/>
          <p:cNvSpPr txBox="1"/>
          <p:nvPr/>
        </p:nvSpPr>
        <p:spPr>
          <a:xfrm>
            <a:off x="795528" y="5001768"/>
            <a:ext cx="3131210" cy="255651"/>
          </a:xfrm>
          <a:prstGeom prst="rect">
            <a:avLst/>
          </a:prstGeom>
          <a:noFill/>
        </p:spPr>
        <p:txBody>
          <a:bodyPr wrap="square" lIns="0" rIns="0" tIns="0" bIns="0" anchor="t">
            <a:noAutofit/>
          </a:bodyPr>
          <a:lstStyle/>
          <a:p>
            <a:pPr algn="l">
              <a:lnSpc>
                <a:spcPct val="110000"/>
              </a:lnSpc>
              <a:spcBef>
                <a:spcPts val="0"/>
              </a:spcBef>
              <a:spcAft>
                <a:spcPts val="0"/>
              </a:spcAft>
            </a:pPr>
            <a:r>
              <a:rPr sz="1500" b="1" i="0" lang="en-US">
                <a:solidFill>
                  <a:srgbClr val="FFFFFF"/>
                </a:solidFill>
                <a:latin typeface="Archivo" pitchFamily="34" charset="0"/>
              </a:rPr>
              <a:t>We reject our own bots</a:t>
            </a:r>
          </a:p>
        </p:txBody>
      </p:sp>
      <p:sp>
        <p:nvSpPr>
          <p:cNvPr id="51" name="Evidence 1 text"/>
          <p:cNvSpPr txBox="1"/>
          <p:nvPr/>
        </p:nvSpPr>
        <p:spPr>
          <a:xfrm>
            <a:off x="795528" y="5312283"/>
            <a:ext cx="3131210" cy="586511"/>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4 of 6 house bots fail our entry gates; 1 cannot be measured; 1 runs in shadow.</a:t>
            </a:r>
          </a:p>
        </p:txBody>
      </p:sp>
      <p:sp>
        <p:nvSpPr>
          <p:cNvPr id="52" name="Evidence 2"/>
          <p:cNvSpPr/>
          <p:nvPr/>
        </p:nvSpPr>
        <p:spPr>
          <a:xfrm>
            <a:off x="4329074" y="4800600"/>
            <a:ext cx="3533546" cy="1188720"/>
          </a:xfrm>
          <a:prstGeom prst="roundRect">
            <a:avLst>
              <a:gd name="adj" fmla="val 15384"/>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vidence 2 title"/>
          <p:cNvSpPr txBox="1"/>
          <p:nvPr/>
        </p:nvSpPr>
        <p:spPr>
          <a:xfrm>
            <a:off x="4530242" y="5001768"/>
            <a:ext cx="3131210" cy="255651"/>
          </a:xfrm>
          <a:prstGeom prst="rect">
            <a:avLst/>
          </a:prstGeom>
          <a:noFill/>
        </p:spPr>
        <p:txBody>
          <a:bodyPr wrap="square" lIns="0" rIns="0" tIns="0" bIns="0" anchor="t">
            <a:noAutofit/>
          </a:bodyPr>
          <a:lstStyle/>
          <a:p>
            <a:pPr algn="l">
              <a:lnSpc>
                <a:spcPct val="110000"/>
              </a:lnSpc>
              <a:spcBef>
                <a:spcPts val="0"/>
              </a:spcBef>
              <a:spcAft>
                <a:spcPts val="0"/>
              </a:spcAft>
            </a:pPr>
            <a:r>
              <a:rPr sz="1500" b="1" i="0" lang="en-US">
                <a:solidFill>
                  <a:srgbClr val="FFFFFF"/>
                </a:solidFill>
                <a:latin typeface="Archivo" pitchFamily="34" charset="0"/>
              </a:rPr>
              <a:t>Our AI reviewer cannot approve</a:t>
            </a:r>
          </a:p>
        </p:txBody>
      </p:sp>
      <p:sp>
        <p:nvSpPr>
          <p:cNvPr id="54" name="Evidence 2 text"/>
          <p:cNvSpPr txBox="1"/>
          <p:nvPr/>
        </p:nvSpPr>
        <p:spPr>
          <a:xfrm>
            <a:off x="4530242" y="5312283"/>
            <a:ext cx="3131210" cy="586511"/>
          </a:xfrm>
          <a:prstGeom prst="rect">
            <a:avLst/>
          </a:prstGeom>
          <a:noFill/>
        </p:spPr>
        <p:txBody>
          <a:bodyPr wrap="square" lIns="0" rIns="0" tIns="0" bIns="0" anchor="t">
            <a:noAutofit/>
          </a:bodyPr>
          <a:lstStyle/>
          <a:p>
            <a:pPr algn="l">
              <a:lnSpc>
                <a:spcPct val="130000"/>
              </a:lnSpc>
              <a:spcBef>
                <a:spcPts val="0"/>
              </a:spcBef>
              <a:spcAft>
                <a:spcPts val="0"/>
              </a:spcAft>
            </a:pPr>
            <a:r>
              <a:rPr sz="1250" b="0" i="0" lang="en-US">
                <a:solidFill>
                  <a:srgbClr val="C9BDF2"/>
                </a:solidFill>
                <a:latin typeface="Inter" pitchFamily="34" charset="0"/>
              </a:rPr>
              <a:t>It can hold or reject, never grant a slot. The agent version missed calibration: off.</a:t>
            </a:r>
          </a:p>
        </p:txBody>
      </p:sp>
      <p:sp>
        <p:nvSpPr>
          <p:cNvPr id="55" name="Evidence 3"/>
          <p:cNvSpPr/>
          <p:nvPr/>
        </p:nvSpPr>
        <p:spPr>
          <a:xfrm>
            <a:off x="8063789" y="4800600"/>
            <a:ext cx="3533546" cy="1188720"/>
          </a:xfrm>
          <a:prstGeom prst="roundRect">
            <a:avLst>
              <a:gd name="adj" fmla="val 15384"/>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Evidence 3 title"/>
          <p:cNvSpPr txBox="1"/>
          <p:nvPr/>
        </p:nvSpPr>
        <p:spPr>
          <a:xfrm>
            <a:off x="8264957" y="5001768"/>
            <a:ext cx="3131210" cy="255651"/>
          </a:xfrm>
          <a:prstGeom prst="rect">
            <a:avLst/>
          </a:prstGeom>
          <a:noFill/>
        </p:spPr>
        <p:txBody>
          <a:bodyPr wrap="square" lIns="0" rIns="0" tIns="0" bIns="0" anchor="t">
            <a:noAutofit/>
          </a:bodyPr>
          <a:lstStyle/>
          <a:p>
            <a:pPr algn="l">
              <a:lnSpc>
                <a:spcPct val="110000"/>
              </a:lnSpc>
              <a:spcBef>
                <a:spcPts val="0"/>
              </a:spcBef>
              <a:spcAft>
                <a:spcPts val="0"/>
              </a:spcAft>
            </a:pPr>
            <a:r>
              <a:rPr sz="1500" b="1" i="0" lang="en-US">
                <a:solidFill>
                  <a:srgbClr val="FFFFFF"/>
                </a:solidFill>
                <a:latin typeface="Archivo" pitchFamily="34" charset="0"/>
              </a:rPr>
              <a:t>Gates tested on noise</a:t>
            </a:r>
          </a:p>
        </p:txBody>
      </p:sp>
      <p:sp>
        <p:nvSpPr>
          <p:cNvPr id="57" name="Evidence 3 text"/>
          <p:cNvSpPr txBox="1"/>
          <p:nvPr/>
        </p:nvSpPr>
        <p:spPr>
          <a:xfrm>
            <a:off x="8264957" y="5312283"/>
            <a:ext cx="3131210" cy="586511"/>
          </a:xfrm>
          <a:prstGeom prst="rect">
            <a:avLst/>
          </a:prstGeom>
          <a:noFill/>
        </p:spPr>
        <p:txBody>
          <a:bodyPr wrap="square" lIns="0" rIns="0" tIns="0" bIns="0" anchor="t">
            <a:noAutofit/>
          </a:bodyPr>
          <a:lstStyle/>
          <a:p>
            <a:pPr algn="l">
              <a:lnSpc>
                <a:spcPct val="130000"/>
              </a:lnSpc>
              <a:spcBef>
                <a:spcPts val="0"/>
              </a:spcBef>
              <a:spcAft>
                <a:spcPts val="0"/>
              </a:spcAft>
            </a:pPr>
            <a:r>
              <a:rPr sz="1300" b="0" i="0" lang="en-US">
                <a:solidFill>
                  <a:srgbClr val="C9BDF2"/>
                </a:solidFill>
                <a:latin typeface="Inter" pitchFamily="34" charset="0"/>
              </a:rPr>
              <a:t>Synthetic test: no-edge strategies pass about 1% (budget 5%).</a:t>
            </a:r>
          </a:p>
        </p:txBody>
      </p:sp>
      <p:sp>
        <p:nvSpPr>
          <p:cNvPr id="58" name="Ribbon"/>
          <p:cNvSpPr txBox="1"/>
          <p:nvPr/>
        </p:nvSpPr>
        <p:spPr>
          <a:xfrm>
            <a:off x="594360" y="6053328"/>
            <a:ext cx="11002975" cy="237744"/>
          </a:xfrm>
          <a:prstGeom prst="rect">
            <a:avLst/>
          </a:prstGeom>
          <a:noFill/>
        </p:spPr>
        <p:txBody>
          <a:bodyPr wrap="square" lIns="0" rIns="0" tIns="0" bIns="0" anchor="ctr">
            <a:noAutofit/>
          </a:bodyPr>
          <a:lstStyle/>
          <a:p>
            <a:pPr algn="l">
              <a:lnSpc>
                <a:spcPct val="120000"/>
              </a:lnSpc>
              <a:spcBef>
                <a:spcPts val="0"/>
              </a:spcBef>
              <a:spcAft>
                <a:spcPts val="0"/>
              </a:spcAft>
            </a:pPr>
            <a:r>
              <a:rPr sz="1050" b="0" i="0" lang="en-US" spc="140">
                <a:solidFill>
                  <a:srgbClr val="9D86FF"/>
                </a:solidFill>
                <a:latin typeface="JetBrains Mono" pitchFamily="49" charset="0"/>
              </a:rPr>
              <a:t>PAPER ONLY · NO EDGE CLAIMED · EVERY RULE LOCKED BEFORE THE DATA · VERIFY, DON'T TRUST</a:t>
            </a:r>
          </a:p>
        </p:txBody>
      </p:sp>
      <p:sp>
        <p:nvSpPr>
          <p:cNvPr id="59"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60"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181038"/>
            </a:gs>
            <a:gs pos="55000">
              <a:srgbClr val="0F0B26"/>
            </a:gs>
            <a:gs pos="100000">
              <a:srgbClr val="07051A"/>
            </a:gs>
          </a:gsLst>
          <a:lin ang="5400000" scaled="0"/>
        </a:gradFill>
        <a:effectLst/>
      </p:bgPr>
    </p:bg>
    <p:spTree>
      <p:nvGrpSpPr>
        <p:cNvPr id="1" name=""/>
        <p:cNvGrpSpPr/>
        <p:nvPr/>
      </p:nvGrpSpPr>
      <p:grpSpPr/>
      <p:sp>
        <p:nvSpPr>
          <p:cNvPr id="2" name="Title"/>
          <p:cNvSpPr>
            <a:spLocks noGrp="1"/>
          </p:cNvSpPr>
          <p:nvPr>
            <p:ph type="title"/>
          </p:nvPr>
        </p:nvSpPr>
        <p:spPr>
          <a:xfrm>
            <a:off x="594360" y="896112"/>
            <a:ext cx="10515600" cy="731520"/>
          </a:xfrm>
        </p:spPr>
        <p:txBody>
          <a:bodyPr wrap="square" lIns="0" rIns="0" tIns="0" bIns="0" anchor="t">
            <a:noAutofit/>
          </a:bodyPr>
          <a:lstStyle/>
          <a:p>
            <a:pPr algn="l">
              <a:lnSpc>
                <a:spcPct val="100000"/>
              </a:lnSpc>
              <a:spcBef>
                <a:spcPts val="0"/>
              </a:spcBef>
              <a:spcAft>
                <a:spcPts val="0"/>
              </a:spcAft>
            </a:pPr>
            <a:r>
              <a:rPr sz="4000" b="0" i="0" lang="en-US">
                <a:solidFill>
                  <a:srgbClr val="ECE8FA"/>
                </a:solidFill>
                <a:latin typeface="Archivo" pitchFamily="34" charset="0"/>
              </a:rPr>
              <a:t>Live. Built. </a:t>
            </a:r>
            <a:r>
              <a:rPr sz="4000" b="1" i="1" lang="en-US">
                <a:solidFill>
                  <a:srgbClr val="9D86FF"/>
                </a:solidFill>
                <a:latin typeface="Archivo" pitchFamily="34" charset="0"/>
              </a:rPr>
              <a:t>Gated.</a:t>
            </a:r>
          </a:p>
        </p:txBody>
      </p:sp>
      <p:sp>
        <p:nvSpPr>
          <p:cNvPr id="3" name="Marker cube · kiri"/>
          <p:cNvSpPr/>
          <p:nvPr/>
        </p:nvSpPr>
        <p:spPr>
          <a:xfrm>
            <a:off x="615755" y="503834"/>
            <a:ext cx="79189" cy="137160"/>
          </a:xfrm>
          <a:custGeom>
            <a:avLst/>
            <a:gdLst/>
            <a:ahLst/>
            <a:cxnLst/>
            <a:rect l="l" t="t" r="r" b="b"/>
            <a:pathLst>
              <a:path w="79189" h="137160">
                <a:moveTo>
                  <a:pt x="0" y="91440"/>
                </a:moveTo>
                <a:lnTo>
                  <a:pt x="79189" y="137160"/>
                </a:lnTo>
                <a:lnTo>
                  <a:pt x="79189" y="45720"/>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arker cube · kanan"/>
          <p:cNvSpPr/>
          <p:nvPr/>
        </p:nvSpPr>
        <p:spPr>
          <a:xfrm>
            <a:off x="694944" y="503834"/>
            <a:ext cx="79189" cy="137160"/>
          </a:xfrm>
          <a:custGeom>
            <a:avLst/>
            <a:gdLst/>
            <a:ahLst/>
            <a:cxnLst/>
            <a:rect l="l" t="t" r="r" b="b"/>
            <a:pathLst>
              <a:path w="79189" h="137160">
                <a:moveTo>
                  <a:pt x="79189" y="91440"/>
                </a:moveTo>
                <a:lnTo>
                  <a:pt x="0" y="137160"/>
                </a:lnTo>
                <a:lnTo>
                  <a:pt x="0" y="45720"/>
                </a:lnTo>
                <a:lnTo>
                  <a:pt x="79189"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rker cube · atas"/>
          <p:cNvSpPr/>
          <p:nvPr/>
        </p:nvSpPr>
        <p:spPr>
          <a:xfrm>
            <a:off x="615755" y="458114"/>
            <a:ext cx="158378" cy="91440"/>
          </a:xfrm>
          <a:custGeom>
            <a:avLst/>
            <a:gdLst/>
            <a:ahLst/>
            <a:cxnLst/>
            <a:rect l="l" t="t" r="r" b="b"/>
            <a:pathLst>
              <a:path w="158378" h="91440">
                <a:moveTo>
                  <a:pt x="79189" y="0"/>
                </a:moveTo>
                <a:lnTo>
                  <a:pt x="158378" y="45720"/>
                </a:lnTo>
                <a:lnTo>
                  <a:pt x="79189" y="91440"/>
                </a:lnTo>
                <a:lnTo>
                  <a:pt x="0" y="45720"/>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rker"/>
          <p:cNvSpPr txBox="1"/>
          <p:nvPr/>
        </p:nvSpPr>
        <p:spPr>
          <a:xfrm>
            <a:off x="905256" y="457200"/>
            <a:ext cx="5486400" cy="256032"/>
          </a:xfrm>
          <a:prstGeom prst="rect">
            <a:avLst/>
          </a:prstGeom>
          <a:noFill/>
        </p:spPr>
        <p:txBody>
          <a:bodyPr wrap="square" lIns="0" rIns="0" tIns="0" bIns="0" anchor="ctr">
            <a:noAutofit/>
          </a:bodyPr>
          <a:lstStyle/>
          <a:p>
            <a:pPr algn="l">
              <a:lnSpc>
                <a:spcPct val="120000"/>
              </a:lnSpc>
              <a:spcBef>
                <a:spcPts val="0"/>
              </a:spcBef>
              <a:spcAft>
                <a:spcPts val="0"/>
              </a:spcAft>
            </a:pPr>
            <a:r>
              <a:rPr sz="1100" b="0" i="0" lang="en-US" spc="120">
                <a:solidFill>
                  <a:srgbClr val="9D86FF"/>
                </a:solidFill>
                <a:latin typeface="JetBrains Mono" pitchFamily="49" charset="0"/>
              </a:rPr>
              <a:t>11 — WHAT IS NEXT</a:t>
            </a:r>
          </a:p>
        </p:txBody>
      </p:sp>
      <p:sp>
        <p:nvSpPr>
          <p:cNvPr id="7" name="Column live"/>
          <p:cNvSpPr/>
          <p:nvPr/>
        </p:nvSpPr>
        <p:spPr>
          <a:xfrm>
            <a:off x="594360" y="1783080"/>
            <a:ext cx="3521354" cy="2788920"/>
          </a:xfrm>
          <a:prstGeom prst="roundRect">
            <a:avLst>
              <a:gd name="adj" fmla="val 7213"/>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8" name="Icon live"/>
          <p:cNvGrpSpPr/>
          <p:nvPr/>
        </p:nvGrpSpPr>
        <p:grpSpPr>
          <a:xfrm>
            <a:off x="0" y="0"/>
            <a:ext cx="0" cy="0"/>
            <a:chOff x="0" y="0"/>
            <a:chExt cx="0" cy="0"/>
          </a:xfrm>
        </p:grpSpPr>
        <p:sp>
          <p:nvSpPr>
            <p:cNvPr id="9" name="live block · kiri"/>
            <p:cNvSpPr/>
            <p:nvPr/>
          </p:nvSpPr>
          <p:spPr>
            <a:xfrm>
              <a:off x="812198" y="2093976"/>
              <a:ext cx="285082" cy="493776"/>
            </a:xfrm>
            <a:custGeom>
              <a:avLst/>
              <a:gdLst/>
              <a:ahLst/>
              <a:cxnLst/>
              <a:rect l="l" t="t" r="r" b="b"/>
              <a:pathLst>
                <a:path w="285082" h="493776">
                  <a:moveTo>
                    <a:pt x="0" y="329184"/>
                  </a:moveTo>
                  <a:lnTo>
                    <a:pt x="285082" y="493776"/>
                  </a:lnTo>
                  <a:lnTo>
                    <a:pt x="285082" y="164592"/>
                  </a:lnTo>
                  <a:lnTo>
                    <a:pt x="0" y="0"/>
                  </a:lnTo>
                  <a:close/>
                </a:path>
              </a:pathLst>
            </a:custGeom>
            <a:solidFill>
              <a:srgbClr val="9D86FF">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ive block · kanan"/>
            <p:cNvSpPr/>
            <p:nvPr/>
          </p:nvSpPr>
          <p:spPr>
            <a:xfrm>
              <a:off x="1097280" y="2093976"/>
              <a:ext cx="285082" cy="493776"/>
            </a:xfrm>
            <a:custGeom>
              <a:avLst/>
              <a:gdLst/>
              <a:ahLst/>
              <a:cxnLst/>
              <a:rect l="l" t="t" r="r" b="b"/>
              <a:pathLst>
                <a:path w="285082" h="493776">
                  <a:moveTo>
                    <a:pt x="285082" y="329184"/>
                  </a:moveTo>
                  <a:lnTo>
                    <a:pt x="0" y="493776"/>
                  </a:lnTo>
                  <a:lnTo>
                    <a:pt x="0" y="164592"/>
                  </a:lnTo>
                  <a:lnTo>
                    <a:pt x="285082" y="0"/>
                  </a:lnTo>
                  <a:close/>
                </a:path>
              </a:pathLst>
            </a:custGeom>
            <a:solidFill>
              <a:srgbClr val="C9BDF2">
                <a:alpha val="96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ive block · atas"/>
            <p:cNvSpPr/>
            <p:nvPr/>
          </p:nvSpPr>
          <p:spPr>
            <a:xfrm>
              <a:off x="812198" y="1929384"/>
              <a:ext cx="570164" cy="329184"/>
            </a:xfrm>
            <a:custGeom>
              <a:avLst/>
              <a:gdLst/>
              <a:ahLst/>
              <a:cxnLst/>
              <a:rect l="l" t="t" r="r" b="b"/>
              <a:pathLst>
                <a:path w="570164" h="329184">
                  <a:moveTo>
                    <a:pt x="285082" y="0"/>
                  </a:moveTo>
                  <a:lnTo>
                    <a:pt x="570164" y="164592"/>
                  </a:lnTo>
                  <a:lnTo>
                    <a:pt x="285082" y="329184"/>
                  </a:lnTo>
                  <a:lnTo>
                    <a:pt x="0" y="164592"/>
                  </a:lnTo>
                  <a:close/>
                </a:path>
              </a:pathLst>
            </a:custGeom>
            <a:solidFill>
              <a:srgbClr val="F6F2FF">
                <a:alpha val="97000"/>
              </a:srgbClr>
            </a:solidFill>
            <a:ln w="9525" cap="rnd">
              <a:solidFill>
                <a:srgbClr val="FFFFFF">
                  <a:alpha val="85000"/>
                </a:srgbClr>
              </a:solidFill>
              <a:round/>
            </a:ln>
            <a:effectLst>
              <a:glow rad="114300">
                <a:srgbClr val="9D86FF">
                  <a:alpha val="38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2" name="Chip · LIVE"/>
          <p:cNvSpPr/>
          <p:nvPr/>
        </p:nvSpPr>
        <p:spPr>
          <a:xfrm>
            <a:off x="1508760" y="1984248"/>
            <a:ext cx="838708" cy="274320"/>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ip dot"/>
          <p:cNvSpPr/>
          <p:nvPr/>
        </p:nvSpPr>
        <p:spPr>
          <a:xfrm>
            <a:off x="1645920" y="2077974"/>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hip text"/>
          <p:cNvSpPr txBox="1"/>
          <p:nvPr/>
        </p:nvSpPr>
        <p:spPr>
          <a:xfrm>
            <a:off x="1828800" y="1984248"/>
            <a:ext cx="381508"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FFFFFF"/>
                </a:solidFill>
                <a:latin typeface="JetBrains Mono" pitchFamily="49" charset="0"/>
              </a:rPr>
              <a:t>LIVE</a:t>
            </a:r>
          </a:p>
        </p:txBody>
      </p:sp>
      <p:sp>
        <p:nvSpPr>
          <p:cNvPr id="15" name="Column 1 title"/>
          <p:cNvSpPr txBox="1"/>
          <p:nvPr/>
        </p:nvSpPr>
        <p:spPr>
          <a:xfrm>
            <a:off x="1508760" y="2331720"/>
            <a:ext cx="2424074" cy="457200"/>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Running on BNB testnet</a:t>
            </a:r>
          </a:p>
        </p:txBody>
      </p:sp>
      <p:sp>
        <p:nvSpPr>
          <p:cNvPr id="16" name="Column 1 items"/>
          <p:cNvSpPr txBox="1"/>
          <p:nvPr/>
        </p:nvSpPr>
        <p:spPr>
          <a:xfrm>
            <a:off x="850392" y="2862072"/>
            <a:ext cx="3064154" cy="1600200"/>
          </a:xfrm>
          <a:prstGeom prst="rect">
            <a:avLst/>
          </a:prstGeom>
          <a:noFill/>
        </p:spPr>
        <p:txBody>
          <a:bodyPr wrap="square" lIns="0" rIns="0" tIns="0" bIns="0" anchor="t">
            <a:noAutofit/>
          </a:bodyPr>
          <a:lstStyle/>
          <a:p>
            <a:pPr algn="l">
              <a:lnSpc>
                <a:spcPct val="122000"/>
              </a:lnSpc>
              <a:spcBef>
                <a:spcPts val="0"/>
              </a:spcBef>
              <a:spcAft>
                <a:spcPts val="500"/>
              </a:spcAft>
            </a:pPr>
            <a:r>
              <a:rPr sz="1200" b="0" i="0" lang="en-US">
                <a:solidFill>
                  <a:srgbClr val="ECE8FA"/>
                </a:solidFill>
                <a:latin typeface="Inter" pitchFamily="34" charset="0"/>
              </a:rPr>
              <a:t>Proof feed and /verify: no key, no gas</a:t>
            </a:r>
          </a:p>
          <a:p>
            <a:pPr algn="l">
              <a:lnSpc>
                <a:spcPct val="122000"/>
              </a:lnSpc>
              <a:spcBef>
                <a:spcPts val="0"/>
              </a:spcBef>
              <a:spcAft>
                <a:spcPts val="500"/>
              </a:spcAft>
            </a:pPr>
            <a:r>
              <a:rPr sz="1200" b="0" i="0" lang="en-US">
                <a:solidFill>
                  <a:srgbClr val="ECE8FA"/>
                </a:solidFill>
                <a:latin typeface="Inter" pitchFamily="34" charset="0"/>
              </a:rPr>
              <a:t>6 bots on public forward ledgers</a:t>
            </a:r>
          </a:p>
          <a:p>
            <a:pPr algn="l">
              <a:lnSpc>
                <a:spcPct val="122000"/>
              </a:lnSpc>
              <a:spcBef>
                <a:spcPts val="0"/>
              </a:spcBef>
              <a:spcAft>
                <a:spcPts val="500"/>
              </a:spcAft>
            </a:pPr>
            <a:r>
              <a:rPr sz="1200" b="0" i="0" lang="en-US">
                <a:solidFill>
                  <a:srgbClr val="ECE8FA"/>
                </a:solidFill>
                <a:latin typeface="Inter" pitchFamily="34" charset="0"/>
              </a:rPr>
              <a:t>AI desk every 5 minutes, one paper book</a:t>
            </a:r>
          </a:p>
          <a:p>
            <a:pPr algn="l">
              <a:lnSpc>
                <a:spcPct val="122000"/>
              </a:lnSpc>
              <a:spcBef>
                <a:spcPts val="0"/>
              </a:spcBef>
              <a:spcAft>
                <a:spcPts val="500"/>
              </a:spcAft>
            </a:pPr>
            <a:r>
              <a:rPr sz="1200" b="0" i="0" lang="en-US">
                <a:solidFill>
                  <a:srgbClr val="ECE8FA"/>
                </a:solidFill>
                <a:latin typeface="Inter" pitchFamily="34" charset="0"/>
              </a:rPr>
              <a:t>Open submissions: rule, feed and AI agent</a:t>
            </a:r>
          </a:p>
          <a:p>
            <a:pPr algn="l">
              <a:lnSpc>
                <a:spcPct val="122000"/>
              </a:lnSpc>
              <a:spcBef>
                <a:spcPts val="0"/>
              </a:spcBef>
              <a:spcAft>
                <a:spcPts val="0"/>
              </a:spcAft>
            </a:pPr>
            <a:r>
              <a:rPr sz="1200" b="0" i="0" lang="en-US">
                <a:solidFill>
                  <a:srgbClr val="ECE8FA"/>
                </a:solidFill>
                <a:latin typeface="Inter" pitchFamily="34" charset="0"/>
              </a:rPr>
              <a:t>x402 checkout with a no-value token; free MCP server</a:t>
            </a:r>
          </a:p>
        </p:txBody>
      </p:sp>
      <p:sp>
        <p:nvSpPr>
          <p:cNvPr id="17" name="Column built"/>
          <p:cNvSpPr/>
          <p:nvPr/>
        </p:nvSpPr>
        <p:spPr>
          <a:xfrm>
            <a:off x="4335170" y="1783080"/>
            <a:ext cx="3521354" cy="2788920"/>
          </a:xfrm>
          <a:prstGeom prst="roundRect">
            <a:avLst>
              <a:gd name="adj" fmla="val 7213"/>
            </a:avLst>
          </a:prstGeom>
          <a:gradFill rotWithShape="1">
            <a:gsLst>
              <a:gs pos="0">
                <a:srgbClr val="FFFFFF">
                  <a:alpha val="10000"/>
                </a:srgbClr>
              </a:gs>
              <a:gs pos="100000">
                <a:srgbClr val="FFFFFF">
                  <a:alpha val="2500"/>
                </a:srgbClr>
              </a:gs>
            </a:gsLst>
            <a:lin ang="8100000" scaled="0"/>
          </a:gradFill>
          <a:ln w="9525" cap="rnd">
            <a:solidFill>
              <a:srgbClr val="FFFFFF">
                <a:alpha val="16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8" name="Icon built"/>
          <p:cNvGrpSpPr/>
          <p:nvPr/>
        </p:nvGrpSpPr>
        <p:grpSpPr>
          <a:xfrm>
            <a:off x="0" y="0"/>
            <a:ext cx="0" cy="0"/>
            <a:chOff x="0" y="0"/>
            <a:chExt cx="0" cy="0"/>
          </a:xfrm>
        </p:grpSpPr>
        <p:sp>
          <p:nvSpPr>
            <p:cNvPr id="19" name="built block · kiri"/>
            <p:cNvSpPr/>
            <p:nvPr/>
          </p:nvSpPr>
          <p:spPr>
            <a:xfrm>
              <a:off x="4553009" y="2093976"/>
              <a:ext cx="285081" cy="493776"/>
            </a:xfrm>
            <a:custGeom>
              <a:avLst/>
              <a:gdLst/>
              <a:ahLst/>
              <a:cxnLst/>
              <a:rect l="l" t="t" r="r" b="b"/>
              <a:pathLst>
                <a:path w="285081" h="493776">
                  <a:moveTo>
                    <a:pt x="0" y="329184"/>
                  </a:moveTo>
                  <a:lnTo>
                    <a:pt x="285081" y="493776"/>
                  </a:lnTo>
                  <a:lnTo>
                    <a:pt x="285081" y="164592"/>
                  </a:lnTo>
                  <a:lnTo>
                    <a:pt x="0" y="0"/>
                  </a:lnTo>
                  <a:close/>
                </a:path>
              </a:pathLst>
            </a:custGeom>
            <a:solidFill>
              <a:srgbClr val="1D156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uilt block · kanan"/>
            <p:cNvSpPr/>
            <p:nvPr/>
          </p:nvSpPr>
          <p:spPr>
            <a:xfrm>
              <a:off x="4838090" y="2093976"/>
              <a:ext cx="285082" cy="493776"/>
            </a:xfrm>
            <a:custGeom>
              <a:avLst/>
              <a:gdLst/>
              <a:ahLst/>
              <a:cxnLst/>
              <a:rect l="l" t="t" r="r" b="b"/>
              <a:pathLst>
                <a:path w="285082" h="493776">
                  <a:moveTo>
                    <a:pt x="285082" y="329184"/>
                  </a:moveTo>
                  <a:lnTo>
                    <a:pt x="0" y="493776"/>
                  </a:lnTo>
                  <a:lnTo>
                    <a:pt x="0" y="164592"/>
                  </a:lnTo>
                  <a:lnTo>
                    <a:pt x="285082" y="0"/>
                  </a:lnTo>
                  <a:close/>
                </a:path>
              </a:pathLst>
            </a:custGeom>
            <a:solidFill>
              <a:srgbClr val="2F2290">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ilt block · atas"/>
            <p:cNvSpPr/>
            <p:nvPr/>
          </p:nvSpPr>
          <p:spPr>
            <a:xfrm>
              <a:off x="4553009" y="1929384"/>
              <a:ext cx="570163" cy="329184"/>
            </a:xfrm>
            <a:custGeom>
              <a:avLst/>
              <a:gdLst/>
              <a:ahLst/>
              <a:cxnLst/>
              <a:rect l="l" t="t" r="r" b="b"/>
              <a:pathLst>
                <a:path w="570163" h="329184">
                  <a:moveTo>
                    <a:pt x="285081" y="0"/>
                  </a:moveTo>
                  <a:lnTo>
                    <a:pt x="570163" y="164592"/>
                  </a:lnTo>
                  <a:lnTo>
                    <a:pt x="285081" y="329184"/>
                  </a:lnTo>
                  <a:lnTo>
                    <a:pt x="0" y="164592"/>
                  </a:lnTo>
                  <a:close/>
                </a:path>
              </a:pathLst>
            </a:custGeom>
            <a:solidFill>
              <a:srgbClr val="4A38C8">
                <a:alpha val="98000"/>
              </a:srgbClr>
            </a:solidFill>
            <a:ln w="9525" cap="rnd">
              <a:solidFill>
                <a:srgbClr val="9D86FF">
                  <a:alpha val="4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2" name="Chip · BUILT"/>
          <p:cNvSpPr/>
          <p:nvPr/>
        </p:nvSpPr>
        <p:spPr>
          <a:xfrm>
            <a:off x="5249570" y="1984248"/>
            <a:ext cx="934085" cy="274320"/>
          </a:xfrm>
          <a:prstGeom prst="roundRect">
            <a:avLst>
              <a:gd name="adj" fmla="val 50000"/>
            </a:avLst>
          </a:prstGeom>
          <a:solidFill>
            <a:srgbClr val="2A1F7A">
              <a:alpha val="55000"/>
            </a:srgbClr>
          </a:solidFill>
          <a:ln w="11430" cap="rnd">
            <a:solidFill>
              <a:srgbClr val="C9BDF2">
                <a:alpha val="5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ip dot"/>
          <p:cNvSpPr/>
          <p:nvPr/>
        </p:nvSpPr>
        <p:spPr>
          <a:xfrm>
            <a:off x="5386730" y="2077974"/>
            <a:ext cx="86868" cy="86868"/>
          </a:xfrm>
          <a:prstGeom prst="ellipse">
            <a:avLst/>
          </a:prstGeom>
          <a:solidFill>
            <a:srgbClr val="4A38C8"/>
          </a:solidFill>
          <a:ln w="7620" cap="rnd">
            <a:solidFill>
              <a:srgbClr val="C9BDF2">
                <a:alpha val="8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hip text"/>
          <p:cNvSpPr txBox="1"/>
          <p:nvPr/>
        </p:nvSpPr>
        <p:spPr>
          <a:xfrm>
            <a:off x="5569610" y="1984248"/>
            <a:ext cx="476885"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ECE8FA"/>
                </a:solidFill>
                <a:latin typeface="JetBrains Mono" pitchFamily="49" charset="0"/>
              </a:rPr>
              <a:t>BUILT</a:t>
            </a:r>
          </a:p>
        </p:txBody>
      </p:sp>
      <p:sp>
        <p:nvSpPr>
          <p:cNvPr id="25" name="Column 2 title"/>
          <p:cNvSpPr txBox="1"/>
          <p:nvPr/>
        </p:nvSpPr>
        <p:spPr>
          <a:xfrm>
            <a:off x="5249570" y="2331720"/>
            <a:ext cx="2424074" cy="457200"/>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Written, waiting on a switch</a:t>
            </a:r>
          </a:p>
        </p:txBody>
      </p:sp>
      <p:sp>
        <p:nvSpPr>
          <p:cNvPr id="26" name="Column 2 items"/>
          <p:cNvSpPr txBox="1"/>
          <p:nvPr/>
        </p:nvSpPr>
        <p:spPr>
          <a:xfrm>
            <a:off x="4591202" y="2862072"/>
            <a:ext cx="3064154" cy="1600200"/>
          </a:xfrm>
          <a:prstGeom prst="rect">
            <a:avLst/>
          </a:prstGeom>
          <a:noFill/>
        </p:spPr>
        <p:txBody>
          <a:bodyPr wrap="square" lIns="0" rIns="0" tIns="0" bIns="0" anchor="t">
            <a:noAutofit/>
          </a:bodyPr>
          <a:lstStyle/>
          <a:p>
            <a:pPr algn="l">
              <a:lnSpc>
                <a:spcPct val="122000"/>
              </a:lnSpc>
              <a:spcBef>
                <a:spcPts val="0"/>
              </a:spcBef>
              <a:spcAft>
                <a:spcPts val="500"/>
              </a:spcAft>
            </a:pPr>
            <a:r>
              <a:rPr sz="1300" b="0" i="0" lang="en-US">
                <a:solidFill>
                  <a:srgbClr val="C9BDF2"/>
                </a:solidFill>
                <a:latin typeface="Inter" pitchFamily="34" charset="0"/>
              </a:rPr>
              <a:t>Publisher revenue share (BotRegistry + RevenueSplitter)</a:t>
            </a:r>
          </a:p>
          <a:p>
            <a:pPr algn="l">
              <a:lnSpc>
                <a:spcPct val="122000"/>
              </a:lnSpc>
              <a:spcBef>
                <a:spcPts val="0"/>
              </a:spcBef>
              <a:spcAft>
                <a:spcPts val="500"/>
              </a:spcAft>
            </a:pPr>
            <a:r>
              <a:rPr sz="1300" b="0" i="0" lang="en-US">
                <a:solidFill>
                  <a:srgbClr val="C9BDF2"/>
                </a:solidFill>
                <a:latin typeface="Inter" pitchFamily="34" charset="0"/>
              </a:rPr>
              <a:t>Private code submissions</a:t>
            </a:r>
          </a:p>
          <a:p>
            <a:pPr algn="l">
              <a:lnSpc>
                <a:spcPct val="122000"/>
              </a:lnSpc>
              <a:spcBef>
                <a:spcPts val="0"/>
              </a:spcBef>
              <a:spcAft>
                <a:spcPts val="500"/>
              </a:spcAft>
            </a:pPr>
            <a:r>
              <a:rPr sz="1300" b="0" i="0" lang="en-US">
                <a:solidFill>
                  <a:srgbClr val="C9BDF2"/>
                </a:solidFill>
                <a:latin typeface="Inter" pitchFamily="34" charset="0"/>
              </a:rPr>
              <a:t>Paid MCP access to the desk</a:t>
            </a:r>
          </a:p>
          <a:p>
            <a:pPr algn="l">
              <a:lnSpc>
                <a:spcPct val="122000"/>
              </a:lnSpc>
              <a:spcBef>
                <a:spcPts val="0"/>
              </a:spcBef>
              <a:spcAft>
                <a:spcPts val="0"/>
              </a:spcAft>
            </a:pPr>
            <a:r>
              <a:rPr sz="1300" b="0" i="0" lang="en-US">
                <a:solidFill>
                  <a:srgbClr val="C9BDF2"/>
                </a:solidFill>
                <a:latin typeface="Inter" pitchFamily="34" charset="0"/>
              </a:rPr>
              <a:t>Desk evaluation shadow</a:t>
            </a:r>
          </a:p>
        </p:txBody>
      </p:sp>
      <p:sp>
        <p:nvSpPr>
          <p:cNvPr id="27" name="Column gated"/>
          <p:cNvSpPr/>
          <p:nvPr/>
        </p:nvSpPr>
        <p:spPr>
          <a:xfrm>
            <a:off x="8075981" y="1783080"/>
            <a:ext cx="3521354" cy="2788920"/>
          </a:xfrm>
          <a:prstGeom prst="roundRect">
            <a:avLst>
              <a:gd name="adj" fmla="val 7213"/>
            </a:avLst>
          </a:prstGeom>
          <a:gradFill rotWithShape="1">
            <a:gsLst>
              <a:gs pos="0">
                <a:srgbClr val="FFFFFF">
                  <a:alpha val="10000"/>
                </a:srgbClr>
              </a:gs>
              <a:gs pos="100000">
                <a:srgbClr val="FFFFFF">
                  <a:alpha val="2500"/>
                </a:srgbClr>
              </a:gs>
            </a:gsLst>
            <a:lin ang="8100000" scaled="0"/>
          </a:gradFill>
          <a:ln w="9525" cap="rnd">
            <a:solidFill>
              <a:srgbClr val="8B86A6">
                <a:alpha val="60000"/>
              </a:srgbClr>
            </a:solidFill>
            <a:prstDash val="dash"/>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8" name="Icon gated"/>
          <p:cNvGrpSpPr/>
          <p:nvPr/>
        </p:nvGrpSpPr>
        <p:grpSpPr>
          <a:xfrm>
            <a:off x="0" y="0"/>
            <a:ext cx="0" cy="0"/>
            <a:chOff x="0" y="0"/>
            <a:chExt cx="0" cy="0"/>
          </a:xfrm>
        </p:grpSpPr>
        <p:sp>
          <p:nvSpPr>
            <p:cNvPr id="29" name="gated block · kiri"/>
            <p:cNvSpPr/>
            <p:nvPr/>
          </p:nvSpPr>
          <p:spPr>
            <a:xfrm>
              <a:off x="8293819" y="2093976"/>
              <a:ext cx="285082" cy="493776"/>
            </a:xfrm>
            <a:custGeom>
              <a:avLst/>
              <a:gdLst/>
              <a:ahLst/>
              <a:cxnLst/>
              <a:rect l="l" t="t" r="r" b="b"/>
              <a:pathLst>
                <a:path w="285082" h="493776">
                  <a:moveTo>
                    <a:pt x="0" y="329184"/>
                  </a:moveTo>
                  <a:lnTo>
                    <a:pt x="285082" y="493776"/>
                  </a:lnTo>
                  <a:lnTo>
                    <a:pt x="285082" y="164592"/>
                  </a:lnTo>
                  <a:lnTo>
                    <a:pt x="0" y="0"/>
                  </a:lnTo>
                  <a:close/>
                </a:path>
              </a:pathLst>
            </a:custGeom>
            <a:solidFill>
              <a:srgbClr val="C9BDF2">
                <a:alpha val="5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ated block · kanan"/>
            <p:cNvSpPr/>
            <p:nvPr/>
          </p:nvSpPr>
          <p:spPr>
            <a:xfrm>
              <a:off x="8578901" y="2093976"/>
              <a:ext cx="285082" cy="493776"/>
            </a:xfrm>
            <a:custGeom>
              <a:avLst/>
              <a:gdLst/>
              <a:ahLst/>
              <a:cxnLst/>
              <a:rect l="l" t="t" r="r" b="b"/>
              <a:pathLst>
                <a:path w="285082" h="493776">
                  <a:moveTo>
                    <a:pt x="285082" y="329184"/>
                  </a:moveTo>
                  <a:lnTo>
                    <a:pt x="0" y="493776"/>
                  </a:lnTo>
                  <a:lnTo>
                    <a:pt x="0" y="164592"/>
                  </a:lnTo>
                  <a:lnTo>
                    <a:pt x="285082" y="0"/>
                  </a:lnTo>
                  <a:close/>
                </a:path>
              </a:pathLst>
            </a:custGeom>
            <a:solidFill>
              <a:srgbClr val="C9BDF2">
                <a:alpha val="7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gated block · atas"/>
            <p:cNvSpPr/>
            <p:nvPr/>
          </p:nvSpPr>
          <p:spPr>
            <a:xfrm>
              <a:off x="8293819" y="1929384"/>
              <a:ext cx="570164" cy="329184"/>
            </a:xfrm>
            <a:custGeom>
              <a:avLst/>
              <a:gdLst/>
              <a:ahLst/>
              <a:cxnLst/>
              <a:rect l="l" t="t" r="r" b="b"/>
              <a:pathLst>
                <a:path w="570164" h="329184">
                  <a:moveTo>
                    <a:pt x="285082" y="0"/>
                  </a:moveTo>
                  <a:lnTo>
                    <a:pt x="570164" y="164592"/>
                  </a:lnTo>
                  <a:lnTo>
                    <a:pt x="285082" y="329184"/>
                  </a:lnTo>
                  <a:lnTo>
                    <a:pt x="0" y="164592"/>
                  </a:lnTo>
                  <a:close/>
                </a:path>
              </a:pathLst>
            </a:custGeom>
            <a:solidFill>
              <a:srgbClr val="FFFFFF">
                <a:alpha val="10000"/>
              </a:srgbClr>
            </a:solidFill>
            <a:ln w="12700" cap="rnd">
              <a:solidFill>
                <a:srgbClr val="C9BDF2">
                  <a:alpha val="55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2" name="Chip · GATED"/>
          <p:cNvSpPr/>
          <p:nvPr/>
        </p:nvSpPr>
        <p:spPr>
          <a:xfrm>
            <a:off x="8990381" y="1984248"/>
            <a:ext cx="934085" cy="274320"/>
          </a:xfrm>
          <a:prstGeom prst="roundRect">
            <a:avLst>
              <a:gd name="adj" fmla="val 50000"/>
            </a:avLst>
          </a:prstGeom>
          <a:noFill/>
          <a:ln w="11430" cap="rnd">
            <a:solidFill>
              <a:srgbClr val="8B86A6">
                <a:alpha val="75000"/>
              </a:srgbClr>
            </a:solidFill>
            <a:prstDash val="dash"/>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hip dot"/>
          <p:cNvSpPr/>
          <p:nvPr/>
        </p:nvSpPr>
        <p:spPr>
          <a:xfrm>
            <a:off x="9127541" y="2077974"/>
            <a:ext cx="86868" cy="86868"/>
          </a:xfrm>
          <a:prstGeom prst="ellipse">
            <a:avLst/>
          </a:prstGeom>
          <a:noFill/>
          <a:ln w="11430" cap="rnd">
            <a:solidFill>
              <a:srgbClr val="8B86A6">
                <a:alpha val="90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hip text"/>
          <p:cNvSpPr txBox="1"/>
          <p:nvPr/>
        </p:nvSpPr>
        <p:spPr>
          <a:xfrm>
            <a:off x="9310421" y="1984248"/>
            <a:ext cx="476885" cy="274320"/>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spc="100">
                <a:solidFill>
                  <a:srgbClr val="C9BDF2"/>
                </a:solidFill>
                <a:latin typeface="JetBrains Mono" pitchFamily="49" charset="0"/>
              </a:rPr>
              <a:t>GATED</a:t>
            </a:r>
          </a:p>
        </p:txBody>
      </p:sp>
      <p:sp>
        <p:nvSpPr>
          <p:cNvPr id="35" name="Column 3 title"/>
          <p:cNvSpPr txBox="1"/>
          <p:nvPr/>
        </p:nvSpPr>
        <p:spPr>
          <a:xfrm>
            <a:off x="8990381" y="2331720"/>
            <a:ext cx="2424074" cy="457200"/>
          </a:xfrm>
          <a:prstGeom prst="rect">
            <a:avLst/>
          </a:prstGeom>
          <a:noFill/>
        </p:spPr>
        <p:txBody>
          <a:bodyPr wrap="square" lIns="0" rIns="0" tIns="0" bIns="0" anchor="t">
            <a:noAutofit/>
          </a:bodyPr>
          <a:lstStyle/>
          <a:p>
            <a:pPr algn="l">
              <a:lnSpc>
                <a:spcPct val="105000"/>
              </a:lnSpc>
              <a:spcBef>
                <a:spcPts val="0"/>
              </a:spcBef>
              <a:spcAft>
                <a:spcPts val="0"/>
              </a:spcAft>
            </a:pPr>
            <a:r>
              <a:rPr sz="1600" b="1" i="0" lang="en-US">
                <a:solidFill>
                  <a:srgbClr val="FFFFFF"/>
                </a:solidFill>
                <a:latin typeface="Archivo" pitchFamily="34" charset="0"/>
              </a:rPr>
              <a:t>Locked until the evidence exists</a:t>
            </a:r>
          </a:p>
        </p:txBody>
      </p:sp>
      <p:sp>
        <p:nvSpPr>
          <p:cNvPr id="36" name="Column 3 items"/>
          <p:cNvSpPr txBox="1"/>
          <p:nvPr/>
        </p:nvSpPr>
        <p:spPr>
          <a:xfrm>
            <a:off x="8332013" y="2862072"/>
            <a:ext cx="3064154" cy="1600200"/>
          </a:xfrm>
          <a:prstGeom prst="rect">
            <a:avLst/>
          </a:prstGeom>
          <a:noFill/>
        </p:spPr>
        <p:txBody>
          <a:bodyPr wrap="square" lIns="0" rIns="0" tIns="0" bIns="0" anchor="t">
            <a:noAutofit/>
          </a:bodyPr>
          <a:lstStyle/>
          <a:p>
            <a:pPr algn="l">
              <a:lnSpc>
                <a:spcPct val="122000"/>
              </a:lnSpc>
              <a:spcBef>
                <a:spcPts val="0"/>
              </a:spcBef>
              <a:spcAft>
                <a:spcPts val="500"/>
              </a:spcAft>
            </a:pPr>
            <a:r>
              <a:rPr sz="1300" b="0" i="0" lang="en-US">
                <a:solidFill>
                  <a:srgbClr val="C9BDF2"/>
                </a:solidFill>
                <a:latin typeface="Inter" pitchFamily="34" charset="0"/>
              </a:rPr>
              <a:t>Real-time paid signals: a bot must pass the forward test, then a legal review</a:t>
            </a:r>
          </a:p>
          <a:p>
            <a:pPr algn="l">
              <a:lnSpc>
                <a:spcPct val="122000"/>
              </a:lnSpc>
              <a:spcBef>
                <a:spcPts val="0"/>
              </a:spcBef>
              <a:spcAft>
                <a:spcPts val="0"/>
              </a:spcAft>
            </a:pPr>
            <a:r>
              <a:rPr sz="1300" b="0" i="0" lang="en-US">
                <a:solidFill>
                  <a:srgbClr val="C9BDF2"/>
                </a:solidFill>
                <a:latin typeface="Inter" pitchFamily="34" charset="0"/>
              </a:rPr>
              <a:t>Real money and mainnet: off the table until then</a:t>
            </a:r>
          </a:p>
        </p:txBody>
      </p:sp>
      <p:sp>
        <p:nvSpPr>
          <p:cNvPr id="37" name="Closing band"/>
          <p:cNvSpPr/>
          <p:nvPr/>
        </p:nvSpPr>
        <p:spPr>
          <a:xfrm>
            <a:off x="594360" y="4828032"/>
            <a:ext cx="11002975" cy="1371600"/>
          </a:xfrm>
          <a:prstGeom prst="roundRect">
            <a:avLst>
              <a:gd name="adj" fmla="val 17333"/>
            </a:avLst>
          </a:prstGeom>
          <a:gradFill rotWithShape="1">
            <a:gsLst>
              <a:gs pos="0">
                <a:srgbClr val="6E4BFF">
                  <a:alpha val="34000"/>
                </a:srgbClr>
              </a:gs>
              <a:gs pos="100000">
                <a:srgbClr val="6E4BFF">
                  <a:alpha val="10000"/>
                </a:srgbClr>
              </a:gs>
            </a:gsLst>
            <a:lin ang="8100000" scaled="0"/>
          </a:gradFill>
          <a:ln w="9525" cap="rnd">
            <a:solidFill>
              <a:srgbClr val="9D86FF">
                <a:alpha val="60000"/>
              </a:srgbClr>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sing line"/>
          <p:cNvSpPr txBox="1"/>
          <p:nvPr/>
        </p:nvSpPr>
        <p:spPr>
          <a:xfrm>
            <a:off x="914400" y="4937760"/>
            <a:ext cx="6583680" cy="731520"/>
          </a:xfrm>
          <a:prstGeom prst="rect">
            <a:avLst/>
          </a:prstGeom>
          <a:noFill/>
        </p:spPr>
        <p:txBody>
          <a:bodyPr wrap="square" lIns="0" rIns="0" tIns="0" bIns="0" anchor="t">
            <a:noAutofit/>
          </a:bodyPr>
          <a:lstStyle/>
          <a:p>
            <a:pPr algn="l">
              <a:lnSpc>
                <a:spcPct val="108000"/>
              </a:lnSpc>
              <a:spcBef>
                <a:spcPts val="0"/>
              </a:spcBef>
              <a:spcAft>
                <a:spcPts val="0"/>
              </a:spcAft>
            </a:pPr>
            <a:r>
              <a:rPr sz="2500" b="0" i="0" lang="en-US">
                <a:solidFill>
                  <a:srgbClr val="FFFFFF"/>
                </a:solidFill>
                <a:latin typeface="Archivo" pitchFamily="34" charset="0"/>
              </a:rPr>
              <a:t>Fabius refuses the battle until the proof exists.</a:t>
            </a:r>
          </a:p>
        </p:txBody>
      </p:sp>
      <p:sp>
        <p:nvSpPr>
          <p:cNvPr id="39" name="Tagline"/>
          <p:cNvSpPr txBox="1"/>
          <p:nvPr/>
        </p:nvSpPr>
        <p:spPr>
          <a:xfrm>
            <a:off x="914400" y="5705856"/>
            <a:ext cx="6035040" cy="457200"/>
          </a:xfrm>
          <a:prstGeom prst="rect">
            <a:avLst/>
          </a:prstGeom>
          <a:noFill/>
        </p:spPr>
        <p:txBody>
          <a:bodyPr wrap="square" lIns="0" rIns="0" tIns="0" bIns="0" anchor="t">
            <a:noAutofit/>
          </a:bodyPr>
          <a:lstStyle/>
          <a:p>
            <a:pPr algn="l">
              <a:lnSpc>
                <a:spcPct val="110000"/>
              </a:lnSpc>
              <a:spcBef>
                <a:spcPts val="0"/>
              </a:spcBef>
              <a:spcAft>
                <a:spcPts val="0"/>
              </a:spcAft>
            </a:pPr>
            <a:r>
              <a:rPr sz="1250" b="0" i="0" lang="en-US">
                <a:solidFill>
                  <a:srgbClr val="C9BDF2"/>
                </a:solidFill>
                <a:latin typeface="Inter" pitchFamily="34" charset="0"/>
              </a:rPr>
              <a:t>Plug in your bot or agent, prove every call</a:t>
            </a:r>
            <a:br>
              <a:rPr sz="1250"/>
            </a:br>
            <a:r>
              <a:rPr sz="1250" b="0" i="0" lang="en-US">
                <a:solidFill>
                  <a:srgbClr val="C9BDF2"/>
                </a:solidFill>
                <a:latin typeface="Inter" pitchFamily="34" charset="0"/>
              </a:rPr>
              <a:t>on-chain, sell it to humans and AI via x402 + MCP.</a:t>
            </a:r>
          </a:p>
        </p:txBody>
      </p:sp>
      <p:sp>
        <p:nvSpPr>
          <p:cNvPr id="40" name="Chip · fabius-one.vercel.app"/>
          <p:cNvSpPr/>
          <p:nvPr/>
        </p:nvSpPr>
        <p:spPr>
          <a:xfrm>
            <a:off x="9001201" y="5084064"/>
            <a:ext cx="2321814" cy="310896"/>
          </a:xfrm>
          <a:prstGeom prst="roundRect">
            <a:avLst>
              <a:gd name="adj" fmla="val 50000"/>
            </a:avLst>
          </a:prstGeom>
          <a:solidFill>
            <a:srgbClr val="6E4BFF">
              <a:alpha val="32000"/>
            </a:srgbClr>
          </a:solidFill>
          <a:ln w="11430" cap="rnd">
            <a:solidFill>
              <a:srgbClr val="9D86FF">
                <a:alpha val="95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hip dot"/>
          <p:cNvSpPr/>
          <p:nvPr/>
        </p:nvSpPr>
        <p:spPr>
          <a:xfrm>
            <a:off x="9138361" y="5196078"/>
            <a:ext cx="86868" cy="86868"/>
          </a:xfrm>
          <a:prstGeom prst="ellipse">
            <a:avLst/>
          </a:prstGeom>
          <a:solidFill>
            <a:srgbClr val="F6F2FF"/>
          </a:solidFill>
          <a:ln w="9525" cap="rnd">
            <a:noFill/>
          </a:ln>
          <a:effectLst>
            <a:glow rad="76200">
              <a:srgbClr val="9D86FF">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hip text"/>
          <p:cNvSpPr txBox="1"/>
          <p:nvPr/>
        </p:nvSpPr>
        <p:spPr>
          <a:xfrm>
            <a:off x="9321241" y="5084064"/>
            <a:ext cx="1864614" cy="310896"/>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a:solidFill>
                  <a:srgbClr val="FFFFFF"/>
                </a:solidFill>
                <a:latin typeface="JetBrains Mono" pitchFamily="49" charset="0"/>
              </a:rPr>
              <a:t>fabius-one.vercel.app</a:t>
            </a:r>
          </a:p>
        </p:txBody>
      </p:sp>
      <p:sp>
        <p:nvSpPr>
          <p:cNvPr id="43" name="Chip · github.com/Shenhan01-sys/Fabius"/>
          <p:cNvSpPr/>
          <p:nvPr/>
        </p:nvSpPr>
        <p:spPr>
          <a:xfrm>
            <a:off x="8135061" y="5468112"/>
            <a:ext cx="3187954" cy="310896"/>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hip text"/>
          <p:cNvSpPr txBox="1"/>
          <p:nvPr/>
        </p:nvSpPr>
        <p:spPr>
          <a:xfrm>
            <a:off x="8272221" y="5468112"/>
            <a:ext cx="2913634" cy="310896"/>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a:solidFill>
                  <a:srgbClr val="ECE8FA"/>
                </a:solidFill>
                <a:latin typeface="JetBrains Mono" pitchFamily="49" charset="0"/>
              </a:rPr>
              <a:t>github.com/Shenhan01-sys/Fabius</a:t>
            </a:r>
          </a:p>
        </p:txBody>
      </p:sp>
      <p:sp>
        <p:nvSpPr>
          <p:cNvPr id="45" name="Chip · python -X utf8 tools/verify_signals.py"/>
          <p:cNvSpPr/>
          <p:nvPr/>
        </p:nvSpPr>
        <p:spPr>
          <a:xfrm>
            <a:off x="7528763" y="5852160"/>
            <a:ext cx="3794252" cy="310896"/>
          </a:xfrm>
          <a:prstGeom prst="roundRect">
            <a:avLst>
              <a:gd name="adj" fmla="val 50000"/>
            </a:avLst>
          </a:prstGeom>
          <a:solidFill>
            <a:srgbClr val="FFFFFF">
              <a:alpha val="8000"/>
            </a:srgbClr>
          </a:solidFill>
          <a:ln w="11430" cap="rnd">
            <a:solidFill>
              <a:srgbClr val="FFFFFF">
                <a:alpha val="22000"/>
              </a:srgbClr>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hip text"/>
          <p:cNvSpPr txBox="1"/>
          <p:nvPr/>
        </p:nvSpPr>
        <p:spPr>
          <a:xfrm>
            <a:off x="7665923" y="5852160"/>
            <a:ext cx="3519932" cy="310896"/>
          </a:xfrm>
          <a:prstGeom prst="rect">
            <a:avLst/>
          </a:prstGeom>
          <a:noFill/>
        </p:spPr>
        <p:txBody>
          <a:bodyPr wrap="square" lIns="0" rIns="0" tIns="0" bIns="0" anchor="ctr">
            <a:noAutofit/>
          </a:bodyPr>
          <a:lstStyle/>
          <a:p>
            <a:pPr algn="l">
              <a:lnSpc>
                <a:spcPct val="100000"/>
              </a:lnSpc>
              <a:spcBef>
                <a:spcPts val="0"/>
              </a:spcBef>
              <a:spcAft>
                <a:spcPts val="0"/>
              </a:spcAft>
            </a:pPr>
            <a:r>
              <a:rPr sz="1050" b="0" i="0" lang="en-US">
                <a:solidFill>
                  <a:srgbClr val="ECE8FA"/>
                </a:solidFill>
                <a:latin typeface="JetBrains Mono" pitchFamily="49" charset="0"/>
              </a:rPr>
              <a:t>python -X utf8 tools/verify_signals.py</a:t>
            </a:r>
          </a:p>
        </p:txBody>
      </p:sp>
      <p:sp>
        <p:nvSpPr>
          <p:cNvPr id="47" name="Footer"/>
          <p:cNvSpPr txBox="1"/>
          <p:nvPr/>
        </p:nvSpPr>
        <p:spPr>
          <a:xfrm>
            <a:off x="594360" y="6473952"/>
            <a:ext cx="7772400" cy="201168"/>
          </a:xfrm>
          <a:prstGeom prst="rect">
            <a:avLst/>
          </a:prstGeom>
          <a:noFill/>
        </p:spPr>
        <p:txBody>
          <a:bodyPr wrap="square" lIns="0" rIns="0" tIns="0" bIns="0" anchor="ctr">
            <a:noAutofit/>
          </a:bodyPr>
          <a:lstStyle/>
          <a:p>
            <a:pPr algn="l">
              <a:lnSpc>
                <a:spcPct val="120000"/>
              </a:lnSpc>
              <a:spcBef>
                <a:spcPts val="0"/>
              </a:spcBef>
              <a:spcAft>
                <a:spcPts val="0"/>
              </a:spcAft>
            </a:pPr>
            <a:r>
              <a:rPr sz="1000" b="0" i="0" lang="en-US" spc="100">
                <a:solidFill>
                  <a:srgbClr val="8B86A6"/>
                </a:solidFill>
                <a:latin typeface="JetBrains Mono" pitchFamily="49" charset="0"/>
              </a:rPr>
              <a:t>FABIUS · SUBMISSION DECK · 7 OCT 2026</a:t>
            </a:r>
          </a:p>
        </p:txBody>
      </p:sp>
      <p:sp>
        <p:nvSpPr>
          <p:cNvPr id="48" name="Slide number"/>
          <p:cNvSpPr txBox="1"/>
          <p:nvPr/>
        </p:nvSpPr>
        <p:spPr>
          <a:xfrm>
            <a:off x="10317175" y="6473952"/>
            <a:ext cx="1280160" cy="201168"/>
          </a:xfrm>
          <a:prstGeom prst="rect">
            <a:avLst/>
          </a:prstGeom>
          <a:noFill/>
        </p:spPr>
        <p:txBody>
          <a:bodyPr wrap="none" lIns="0" rIns="0" tIns="0" bIns="0" anchor="ctr">
            <a:spAutoFit/>
          </a:bodyPr>
          <a:lstStyle/>
          <a:p>
            <a:pPr algn="r"/>
            <a:fld id="{B6F15528-21DE-4FAA-801E-634DDDAF4B2B}" type="slidenum">
              <a:rPr lang="en-US" sz="1000" spc="100">
                <a:solidFill>
                  <a:srgbClr val="8B86A6"/>
                </a:solidFill>
                <a:latin typeface="JetBrains Mono" pitchFamily="49" charset="0"/>
              </a:rPr>
              <a:t>‹#›</a:t>
            </a:fld>
            <a:r>
              <a:rPr sz="1000" lang="en-US" spc="100">
                <a:solidFill>
                  <a:srgbClr val="8B86A6"/>
                </a:solidFill>
                <a:latin typeface="JetBrains Mono" pitchFamily="49" charset="0"/>
              </a:rPr>
              <a:t> / 12</a:t>
            </a:r>
          </a:p>
        </p:txBody>
      </p:sp>
    </p:spTree>
  </p:cSld>
  <p:clrMapOvr>
    <a:masterClrMapping/>
  </p:clrMapOvr>
  <p:transition spd="med">
    <p:fade/>
  </p:transition>
</p:sld>
</file>

<file path=ppt/theme/theme1.xml><?xml version="1.0" encoding="utf-8"?>
<a:theme xmlns:a="http://schemas.openxmlformats.org/drawingml/2006/main" name="Fabius">
  <a:themeElements>
    <a:clrScheme name="Fabius">
      <a:dk1>
        <a:srgbClr val="0F0B26"/>
      </a:dk1>
      <a:lt1>
        <a:srgbClr val="ECE8FA"/>
      </a:lt1>
      <a:dk2>
        <a:srgbClr val="1A1442"/>
      </a:dk2>
      <a:lt2>
        <a:srgbClr val="DDD5F6"/>
      </a:lt2>
      <a:accent1>
        <a:srgbClr val="6E4BFF"/>
      </a:accent1>
      <a:accent2>
        <a:srgbClr val="9D86FF"/>
      </a:accent2>
      <a:accent3>
        <a:srgbClr val="C9BDF2"/>
      </a:accent3>
      <a:accent4>
        <a:srgbClr val="8B86A6"/>
      </a:accent4>
      <a:accent5>
        <a:srgbClr val="FF5A6E"/>
      </a:accent5>
      <a:accent6>
        <a:srgbClr val="2A1F7A"/>
      </a:accent6>
      <a:hlink>
        <a:srgbClr val="9D86FF"/>
      </a:hlink>
      <a:folHlink>
        <a:srgbClr val="C9BDF2"/>
      </a:folHlink>
    </a:clrScheme>
    <a:fontScheme name="Fabius">
      <a:majorFont>
        <a:latin typeface="Archiv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Fabius: Submission Deck</dc:title>
  <dc:subject>Open platform for bots and AI agents: every signal committed on BNB Chain before the outcome, sold per call over x402 and MCP.</dc:subject>
  <dc:creator>Fabius</dc:creator>
  <cp:keywords>Fabius, BNB Chain, x402, MCP, ERC-8004, commit-reveal, AI agents, paper trading</cp:keywords>
  <dc:description>Generated from vault/13-SubmmisionsDocs (one markdown file per slide) by build/build_deck.py</dc:description>
  <cp:lastModifiedBy>Fabius</cp:lastModifiedBy>
  <cp:revision>1</cp:revision>
  <dcterms:created xsi:type="dcterms:W3CDTF">2026-10-07T13:57:31Z</dcterms:created>
  <dcterms:modified xsi:type="dcterms:W3CDTF">2026-10-07T13:57:31Z</dcterms:modified>
  <cp:category/>
  <dc:language>en-US</dc:language>
</cp:coreProperties>
</file>