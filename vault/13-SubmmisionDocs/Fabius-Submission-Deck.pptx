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01/12 · 01 · Cover: the sealed crystal</a:t>
            </a:r>
          </a:p>
          <a:p/>
          <a:p>
            <a:r>
              <a:t>VISUAL SCRIPT</a:t>
            </a:r>
          </a:p>
          <a:p>
            <a:r>
              <a:t>Setting. Deep indigo night, brightest behind the hero object and almost black in the corners. A soft violet halo sits behind the crystal and seems to breathe.</a:t>
            </a:r>
          </a:p>
          <a:p/>
          <a:p>
            <a:r>
              <a:t>Hero object: the Sealed Crystal. A 3×3×3 cube of glass blocks floats right of centre, drawn in the same isometric language as the website hero. Most blocks are sealed indigo. Three at the top-left are clear, misty glass: empty slots in a record that has only just started. At the front corner three blocks have been lifted out and the cavity glows white-violet: the blocks inside are opened and verified. One luminous block hovers above the crystal, one sealed block drifts off to the right, and two dark hardware panels float at the edges like the plates of an exploded device.</a:t>
            </a:r>
          </a:p>
          <a:p/>
          <a:p>
            <a:r>
              <a:t>Orbits. A dashed violet ring and a fainter lavender ring circle the crystal on an invisible floor. Specks of lavender dust hang in the air.</a:t>
            </a:r>
          </a:p>
          <a:p/>
          <a:p>
            <a:r>
              <a:t>Type. FABIUS in giant bold white, left. Under it the hook in two weights: Signals sealed light, before the outcome. bold italic violet. Then the one-line tagline, three status chips, and the live URL.</a:t>
            </a:r>
          </a:p>
          <a:p/>
          <a:p>
            <a:r>
              <a:t>Live line. Bottom right, small mono: LIVE FROM CHAIN 97 · #135,379,370. It reads like a heartbeat. This deck is a window onto a running system, not a mock-up.</a:t>
            </a:r>
          </a:p>
          <a:p/>
          <a:p>
            <a:r>
              <a:t>Feeling. Calm, expensive, a little ominous: a vault that has just opened one door.</a:t>
            </a:r>
          </a:p>
          <a:p/>
          <a:p>
            <a:r>
              <a:t>NARRATION</a:t>
            </a:r>
          </a:p>
          <a:p>
            <a:r>
              <a:t>[Slow. Let the crystal sit on screen for a second.]</a:t>
            </a:r>
          </a:p>
          <a:p/>
          <a:p>
            <a:r>
              <a:t>Most trading bots show you their results after the market has spoken.</a:t>
            </a:r>
          </a:p>
          <a:p/>
          <a:p>
            <a:r>
              <a:t>Fabius is built the other way around. A decision is sealed on BNB Chain before the outcome exists, and anyone can check it with no key and no gas.</a:t>
            </a:r>
          </a:p>
          <a:p/>
          <a:p>
            <a:r>
              <a:t>This is the open platform where bots and AI agents bring their signals, prove them, and, once the proof exists, sell them one call at a time.</a:t>
            </a:r>
          </a:p>
          <a:p/>
          <a:p>
            <a:r>
              <a:t>[Beat.] Let me show you how it works, and where the honest limits are.</a:t>
            </a:r>
          </a:p>
          <a:p/>
          <a:p>
            <a:r>
              <a:t>SOURCES (vault)</a:t>
            </a:r>
          </a:p>
          <a:p>
            <a:r>
              <a:t>00 - Hub Submission Deck</a:t>
            </a:r>
          </a:p>
          <a:p>
            <a:r>
              <a:t>01 - Claims Cheat Sheet</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02/12 · 02 · The problem: every track record is written after the move</a:t>
            </a:r>
          </a:p>
          <a:p/>
          <a:p>
            <a:r>
              <a:t>VISUAL SCRIPT</a:t>
            </a:r>
          </a:p>
          <a:p>
            <a:r>
              <a:t>Setting. The only light slide in the first half, on purpose: pale lavender, bright, flat and a little hollow. This is the world of claims. It looks clean, and that is the trick.</a:t>
            </a:r>
          </a:p>
          <a:p/>
          <a:p>
            <a:r>
              <a:t>Left. The headline in light weight with one word in bold violet italic: after. Two calm lines of lead copy. At the bottom, one bold sentence that lands the point.</a:t>
            </a:r>
          </a:p>
          <a:p/>
          <a:p>
            <a:r>
              <a:t>Right, top: the screenshot. A frosted-glass card, the kind of thing a signal seller posts. Inside it, a smooth violet line climbs from bottom-left to top-right with a glowing dot at the end. No axes, no numbers, on purpose: it is a picture of a promise, and the caption under it says so (screenshot · posted after the fact). A small dashed chip in the corner reads AFTER THE MOVE.</a:t>
            </a:r>
          </a:p>
          <a:p/>
          <a:p>
            <a:r>
              <a:t>Right, bottom: the holes. Three stacked rows, each a glass card with a dashed red outline and a cracked, empty glass block as its icon. Red appears here because the Fabius visual system reserves red for holes and only holes: deleted signals, edited rules, back-dated calls.</a:t>
            </a:r>
          </a:p>
          <a:p/>
          <a:p>
            <a:r>
              <a:t>Feeling. Reassuring on the surface, uneasy once you read the three rows.</a:t>
            </a:r>
          </a:p>
          <a:p/>
          <a:p>
            <a:r>
              <a:t>NARRATION</a:t>
            </a:r>
          </a:p>
          <a:p>
            <a:r>
              <a:t>Look at any signal seller's page. You will see a chart that only goes up. A screenshot of profit. A backtest with no trading costs.</a:t>
            </a:r>
          </a:p>
          <a:p/>
          <a:p>
            <a:r>
              <a:t>Now look at what you cannot see. Which calls were deleted the moment they lost? Which rule was rewritten to fit the data? Which prediction was posted after the candle had already closed?</a:t>
            </a:r>
          </a:p>
          <a:p/>
          <a:p>
            <a:r>
              <a:t>A buyer can check none of it. That is the real problem. It is not that there are too few bots. It is that nobody can prove a bot was honest.</a:t>
            </a:r>
          </a:p>
          <a:p/>
          <a:p>
            <a:r>
              <a:t>SOURCES (vault)</a:t>
            </a:r>
          </a:p>
          <a:p>
            <a:r>
              <a:t>00 - Hub Submission Deck</a:t>
            </a:r>
          </a:p>
          <a:p>
            <a:r>
              <a:t>02 - Project Detail</a:t>
            </a:r>
          </a:p>
          <a:p>
            <a:r>
              <a:t>01 - Briefing</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03/12 · 03 · The gap: money moves, proof doesn't</a:t>
            </a:r>
          </a:p>
          <a:p/>
          <a:p>
            <a:r>
              <a:t>VISUAL SCRIPT</a:t>
            </a:r>
          </a:p>
          <a:p>
            <a:r>
              <a:t>Setting. Still the pale lavender world of claims, now wide and horizontal.</a:t>
            </a:r>
          </a:p>
          <a:p/>
          <a:p>
            <a:r>
              <a:t>The bridge. Two dark towers stand at the far left and far right: two agents. Between them runs a bridge of seven pale glass spans. The fourth span is missing: only a dashed red outline of it remains, a hole in the middle of the crossing.</a:t>
            </a:r>
          </a:p>
          <a:p/>
          <a:p>
            <a:r>
              <a:t>Two lines of travel. A violet arc leaves a glowing coin marked 402 on the left tower and sails over the whole bridge to the right tower: payment passes. Under it a thin dashed red line follows the deck of the bridge, reaches the missing span, bends down and ends in a small red ✕: the proof falls through. Under the gap, three red mono questions: WHEN? · WHAT? · UNCHANGED?</a:t>
            </a:r>
          </a:p>
          <a:p/>
          <a:p>
            <a:r>
              <a:t>Below. Three quiet glass cards, one per pressure on the problem: supply, hindsight, rails.</a:t>
            </a:r>
          </a:p>
          <a:p/>
          <a:p>
            <a:r>
              <a:t>Feeling. The audience should feel the missing piece before they read a word.</a:t>
            </a:r>
          </a:p>
          <a:p/>
          <a:p>
            <a:r>
              <a:t>NARRATION</a:t>
            </a:r>
          </a:p>
          <a:p>
            <a:r>
              <a:t>Now add AI agents. Anyone can launch a bot in an afternoon. A language model can explain any call, convincingly, after the fact. And a new payment rail, x402, lets software pay software over plain HTTP.</a:t>
            </a:r>
          </a:p>
          <a:p/>
          <a:p>
            <a:r>
              <a:t>So the money can move. We have done it ourselves on BNB testnet: an agent with zero BNB in its wallet paid another agent.</a:t>
            </a:r>
          </a:p>
          <a:p/>
          <a:p>
            <a:r>
              <a:t>What cannot move is the proof. When was this signal made? What exactly was decided? Did anyone change it? A payment without provenance is a leap of faith at machine speed.</a:t>
            </a:r>
          </a:p>
          <a:p/>
          <a:p>
            <a:r>
              <a:t>SOURCES (vault)</a:t>
            </a:r>
          </a:p>
          <a:p>
            <a:r>
              <a:t>00 - Hub Submission Deck</a:t>
            </a:r>
          </a:p>
          <a:p>
            <a:r>
              <a:t>02 - x402 Payment</a:t>
            </a:r>
          </a:p>
          <a:p>
            <a:r>
              <a:t>02 - Business Process</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04/12 · 04 · The idea: commit first, prove later</a:t>
            </a:r>
          </a:p>
          <a:p/>
          <a:p>
            <a:r>
              <a:t>VISUAL SCRIPT</a:t>
            </a:r>
          </a:p>
          <a:p>
            <a:r>
              <a:t>Setting. The switch. The slide goes back to night and the palette flips from hollow to glowing: this is the moment the deck turns from problem to answer.</a:t>
            </a:r>
          </a:p>
          <a:p/>
          <a:p>
            <a:r>
              <a:t>Left. The headline at poster size: Commit first. in light weight, Prove later. in bold italic violet. Under it one calm sentence of lead copy.</a:t>
            </a:r>
          </a:p>
          <a:p/>
          <a:p>
            <a:r>
              <a:t>Right: a timeline of three objects on one horizontal axis. On the left a deep indigo cube with a small white seal slab resting on top: the decision, sealed. In the middle a tall, thin wall of white-violet light: the bar closing, the line nothing can cross. On the right a clear, misty, empty cube: the outcome, not known yet. A thin lavender axis with an arrowhead runs beneath all three, with glowing nodes and labels: DECISION, BAR CLOSES, OUTCOME.</a:t>
            </a:r>
          </a:p>
          <a:p/>
          <a:p>
            <a:r>
              <a:t>Below. Three glass cards, the three rules of the idea. Then one closing line.</a:t>
            </a:r>
          </a:p>
          <a:p/>
          <a:p>
            <a:r>
              <a:t>Feeling. Quiet certainty. The sealed cube is on the left of the wall, always.</a:t>
            </a:r>
          </a:p>
          <a:p/>
          <a:p>
            <a:r>
              <a:t>NARRATION</a:t>
            </a:r>
          </a:p>
          <a:p>
            <a:r>
              <a:t>So we flip the order.</a:t>
            </a:r>
          </a:p>
          <a:p/>
          <a:p>
            <a:r>
              <a:t>First, each bot's rule is hashed and locked on BNB Chain. The bot is not allowed to commit a single signal before that lock exists.</a:t>
            </a:r>
          </a:p>
          <a:p/>
          <a:p>
            <a:r>
              <a:t>Then, every day, the bot's signals are folded into one Merkle root and committed to the SignalAnchor contract. The block time is the alibi. Only after that does the market answer.</a:t>
            </a:r>
          </a:p>
          <a:p/>
          <a:p>
            <a:r>
              <a:t>I want to be precise about what this proves. It does not prove a signal was profitable. It proves the one thing a seller cannot fake: that the call came first.</a:t>
            </a:r>
          </a:p>
          <a:p/>
          <a:p>
            <a:r>
              <a:t>SOURCES (vault)</a:t>
            </a:r>
          </a:p>
          <a:p>
            <a:r>
              <a:t>00 - Hub Submission Deck</a:t>
            </a:r>
          </a:p>
          <a:p>
            <a:r>
              <a:t>C7 - SignalAnchor</a:t>
            </a:r>
          </a:p>
          <a:p>
            <a:r>
              <a:t>C6 - LockRegistry</a:t>
            </a:r>
          </a:p>
          <a:p>
            <a:r>
              <a:t>Anchored Before Outcome</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05/12 · 05 · The proof engine: from candle close to proof</a:t>
            </a:r>
          </a:p>
          <a:p/>
          <a:p>
            <a:r>
              <a:t>VISUAL SCRIPT</a:t>
            </a:r>
          </a:p>
          <a:p>
            <a:r>
              <a:t>Setting. Night. A wide, faint violet halo lies along a horizontal rail across the middle of the slide.</a:t>
            </a:r>
          </a:p>
          <a:p/>
          <a:p>
            <a:r>
              <a:t>The rail. One glowing lavender rail with an arrowhead, five round nodes on it. Above each node sits one isometric block, and the block changes state station by station, using the three states of the Fabius block language:</a:t>
            </a:r>
          </a:p>
          <a:p/>
          <a:p>
            <a:r>
              <a:t>1. The bar closes. A clear, misty glass cube: an empty slot, nothing in it yet.</a:t>
            </a:r>
          </a:p>
          <a:p>
            <a:r>
              <a:t>2. The bot decides. The cube turns deep indigo: a decision exists, sealed.</a:t>
            </a:r>
          </a:p>
          <a:p>
            <a:r>
              <a:t>3. Sealed. The same indigo cube with a small white seal slab floating on top: signals folded into one Merkle root.</a:t>
            </a:r>
          </a:p>
          <a:p>
            <a:r>
              <a:t>4. Committed on BNB Chain. The sealed cube now rests on two dark chain slabs: it has landed in a block.</a:t>
            </a:r>
          </a:p>
          <a:p>
            <a:r>
              <a:t>5. Opened and checked. The cube is white-violet and glowing: revealed, recomputed, verified.</a:t>
            </a:r>
          </a:p>
          <a:p/>
          <a:p>
            <a:r>
              <a:t>Step 0. A wide violet pill above the rail, left: Step 0 · rules locked on-chain first. It comes before the first node, because the lock comes before the first signal.</a:t>
            </a:r>
          </a:p>
          <a:p/>
          <a:p>
            <a:r>
              <a:t>Under each node. A mono time label (00:00 UTC, + seconds, + minutes, ≤ 12 h, after), a bold title, two short lines of copy, and the contract that does the work in small mono type.</a:t>
            </a:r>
          </a:p>
          <a:p/>
          <a:p>
            <a:r>
              <a:t>Bottom strip. A glass bar holding the verification command in mono and three chips: NO KEY, NO GAS, SAH = recomputes exactly.</a:t>
            </a:r>
          </a:p>
          <a:p/>
          <a:p>
            <a:r>
              <a:t>Feeling. A factory line where every station has a window.</a:t>
            </a:r>
          </a:p>
          <a:p/>
          <a:p>
            <a:r>
              <a:t>NARRATION</a:t>
            </a:r>
          </a:p>
          <a:p>
            <a:r>
              <a:t>Here is the whole machine, one signal at a time.</a:t>
            </a:r>
          </a:p>
          <a:p/>
          <a:p>
            <a:r>
              <a:t>Before anything else, the bot's rule is locked on-chain. Then the daily bar closes at midnight UTC, and from that moment nothing new can enter the signal.</a:t>
            </a:r>
          </a:p>
          <a:p/>
          <a:p>
            <a:r>
              <a:t>The bot decides. Its signals are salted and folded into a single Merkle root, and that root is committed to the SignalAnchor contract. The contract accepts it only within twelve hours of the close, and rejects anything late. So far our commits have landed 8.7 to 11.2 hours after the close.</a:t>
            </a:r>
          </a:p>
          <a:p/>
          <a:p>
            <a:r>
              <a:t>Then the payloads are opened, and anyone can recompute them from public price bars. One command, no key, no gas. If it matches, the verdict is SAH: it recomputes exactly.</a:t>
            </a:r>
          </a:p>
          <a:p/>
          <a:p>
            <a:r>
              <a:t>SOURCES (vault)</a:t>
            </a:r>
          </a:p>
          <a:p>
            <a:r>
              <a:t>00 - Hub Submission Deck</a:t>
            </a:r>
          </a:p>
          <a:p>
            <a:r>
              <a:t>C7 - SignalAnchor</a:t>
            </a:r>
          </a:p>
          <a:p>
            <a:r>
              <a:t>C6 - LockRegistry</a:t>
            </a:r>
          </a:p>
          <a:p>
            <a:r>
              <a:t>TL20 - server MCP</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06/12 · 06 · The open platform: bring your bot, bring your agent</a:t>
            </a:r>
          </a:p>
          <a:p/>
          <a:p>
            <a:r>
              <a:t>VISUAL SCRIPT</a:t>
            </a:r>
          </a:p>
          <a:p>
            <a:r>
              <a:t>Setting. Night, a long soft glow behind a row of four tall doors.</a:t>
            </a:r>
          </a:p>
          <a:p/>
          <a:p>
            <a:r>
              <a:t>The doors. Four glass cards side by side, each with an arched glass portal at the top-left. The three live doors have a glowing violet rim and a halo, with a bright block stepping through; the fourth is drawn with a dashed outline and a clear, empty block: not open yet. Each card carries a mono kind label (RULE, FEED, AGENT, CODE), a bold title, three lines of plain copy, and a chip: LIVE ×3, NEXT ×1.</a:t>
            </a:r>
          </a:p>
          <a:p/>
          <a:p>
            <a:r>
              <a:t>The shared corridor. Beneath the doors a single line of four rounded stations joined by small violet arrows: RECEIVED, GATES G1–G11, FORWARD SHADOW, SLOT. Everything that enters passes the same four stations, ours included.</a:t>
            </a:r>
          </a:p>
          <a:p/>
          <a:p>
            <a:r>
              <a:t>Feeling. An invitation with a very clear standard on the other side of the door.</a:t>
            </a:r>
          </a:p>
          <a:p/>
          <a:p>
            <a:r>
              <a:t>NARRATION</a:t>
            </a:r>
          </a:p>
          <a:p>
            <a:r>
              <a:t>Fabius is not a closed fund with a clever bot. It is a place where other people's bots and agents can compete in public.</a:t>
            </a:r>
          </a:p>
          <a:p/>
          <a:p>
            <a:r>
              <a:t>There are four doors. Compose a rule from our vocabulary and our engine runs it. Run your own program and commit signed target weights before each daily close. Register an AI agent for the desk. And soon, ship private code into a sandbox.</a:t>
            </a:r>
          </a:p>
          <a:p/>
          <a:p>
            <a:r>
              <a:t>Whatever comes through goes down the same corridor: received, put through the same eleven public gates that judge our own bots, then a sixty-day forward shadow, then a slot, one of ten.</a:t>
            </a:r>
          </a:p>
          <a:p/>
          <a:p>
            <a:r>
              <a:t>I will be straight with you: no outside submission has arrived yet. The platform is open. The first seat is still yours.</a:t>
            </a:r>
          </a:p>
          <a:p/>
          <a:p>
            <a:r>
              <a:t>SOURCES (vault)</a:t>
            </a:r>
          </a:p>
          <a:p>
            <a:r>
              <a:t>00 - Hub Submission Deck</a:t>
            </a:r>
          </a:p>
          <a:p>
            <a:r>
              <a:t>TL37 - jalur pengajuan bot</a:t>
            </a:r>
          </a:p>
          <a:p>
            <a:r>
              <a:t>TL38 - agent luar di meja (pull)</a:t>
            </a:r>
          </a:p>
          <a:p>
            <a:r>
              <a:t>TL39 - aturan deklaratif (rule)</a:t>
            </a:r>
          </a:p>
          <a:p>
            <a:r>
              <a:t>TL42 - komit maju penerbit (feed)</a:t>
            </a:r>
          </a:p>
          <a:p>
            <a:r>
              <a:t>12 - Epik Pengajuan Terbuka dan Peninjau LLM</a:t>
            </a:r>
          </a:p>
          <a:p>
            <a:r>
              <a:t>13 - Langkah Builder Tertunda</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07/12 · 07 · The AI desk: a desk of agents, sealed on the clock</a:t>
            </a:r>
          </a:p>
          <a:p/>
          <a:p>
            <a:r>
              <a:t>VISUAL SCRIPT</a:t>
            </a:r>
          </a:p>
          <a:p>
            <a:r>
              <a:t>Setting. Night. A diorama of a trading floor, seen in the same isometric language as the website's /desk page.</a:t>
            </a:r>
          </a:p>
          <a:p/>
          <a:p>
            <a:r>
              <a:t>Left of the stage: three workstations. Each is a dark glass desk with a glowing monitor slab standing on it and a small violet cube for the analyst sitting beside it. Under each one a mono label: ANALYST, and below it ERC-8004 identity.</a:t>
            </a:r>
          </a:p>
          <a:p/>
          <a:p>
            <a:r>
              <a:t>The wiring. From each desk a thin violet line runs right to a vertical bus, and from the bus one line, with an arrowhead, runs into the centre.</a:t>
            </a:r>
          </a:p>
          <a:p/>
          <a:p>
            <a:r>
              <a:t>The centre: the formula. Three concentric rings lie on the floor and a luminous white-violet core cube floats at their heart: the fixed, published formula. Label: FIXED FORMULA r4.</a:t>
            </a:r>
          </a:p>
          <a:p/>
          <a:p>
            <a:r>
              <a:t>Right of the stage: the tower. A line leaves the hub and climbs to a tower of twelve slabs, alternating indigo and dark glass, with the top three glowing white-violet: the last twelve five-minute cycles, the freshest committed. Label: DESKANCHOR · LAST 12 CYCLES.</a:t>
            </a:r>
          </a:p>
          <a:p/>
          <a:p>
            <a:r>
              <a:t>Chips and note. EVERY 5 MIN · ERC-8004 ANALYSTS · ONE PAPER BOOK · MAX 5 POSITIONS, and in small mono at the right: REAL DECISIONS · PAPER MONEY.</a:t>
            </a:r>
          </a:p>
          <a:p/>
          <a:p>
            <a:r>
              <a:t>Left column. Headline, then three numbered steps.</a:t>
            </a:r>
          </a:p>
          <a:p/>
          <a:p>
            <a:r>
              <a:t>Feeling. Agents at work, and a clock you can hear ticking.</a:t>
            </a:r>
          </a:p>
          <a:p/>
          <a:p>
            <a:r>
              <a:t>NARRATION</a:t>
            </a:r>
          </a:p>
          <a:p>
            <a:r>
              <a:t>Now the part that makes Fabius more than a registry: a desk where AI agents work as a team.</a:t>
            </a:r>
          </a:p>
          <a:p/>
          <a:p>
            <a:r>
              <a:t>Every five minutes, a panel of AI analysts, each with its own ERC-8004 identity on BNB Chain, reads the same data. They do not trade. They score our six locked bots and say which instruments matter and how much exposure they want. Direction is not their decision.</a:t>
            </a:r>
          </a:p>
          <a:p/>
          <a:p>
            <a:r>
              <a:t>A fixed, published formula merges the scores and picks one bot. Then plain code applies that bot's locked rule to a single paper book, with at most five positions.</a:t>
            </a:r>
          </a:p>
          <a:p/>
          <a:p>
            <a:r>
              <a:t>And the whole cycle is sealed. One Merkle root goes to the DeskAnchor contract, and the contract only accepts it while the five minutes are still running. The agents collaborate. The clock keeps them honest.</a:t>
            </a:r>
          </a:p>
          <a:p/>
          <a:p>
            <a:r>
              <a:t>SOURCES (vault)</a:t>
            </a:r>
          </a:p>
          <a:p>
            <a:r>
              <a:t>00 - Hub Submission Deck</a:t>
            </a:r>
          </a:p>
          <a:p>
            <a:r>
              <a:t>TL36 - meja v2 bot + instrumen</a:t>
            </a:r>
          </a:p>
          <a:p>
            <a:r>
              <a:t>TL34 - meja AI 5 menit</a:t>
            </a:r>
          </a:p>
          <a:p>
            <a:r>
              <a:t>TL33 - agent analis</a:t>
            </a:r>
          </a:p>
          <a:p>
            <a:r>
              <a:t>11 - Epik Meja AI v2</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08/12 · 08 · The market: pay per call, no subscription, no custody</a:t>
            </a:r>
          </a:p>
          <a:p/>
          <a:p>
            <a:r>
              <a:t>VISUAL SCRIPT</a:t>
            </a:r>
          </a:p>
          <a:p>
            <a:r>
              <a:t>Setting. Night.</a:t>
            </a:r>
          </a:p>
          <a:p/>
          <a:p>
            <a:r>
              <a:t>Top: the checkout, five glass cards in a row, joined by glowing arrows. 01 BUYER, 02 HTTP 402, 03 SIGN, 04 SETTLE, 05 DELIVER. The first four are quiet glass; the last is tinted violet because it is where the buyer gets what they came for. Two chips at the top right name the lanes: HUMAN · WEB + TELEGRAM and AGENT · MCP + X402.</a:t>
            </a:r>
          </a:p>
          <a:p/>
          <a:p>
            <a:r>
              <a:t>Bottom left: the business flow in three blocks. A violet cube on the left (publishers), a large, bright white-violet cube in the centre (Fabius), a clear misty cube on the right (buyers). Arrows run left to right (bots and signals in, signals and proof out) and back right to left (payment), plus one dashed arrow from Fabius back to the publishers: the revenue share, drawn dashed because it is built but not switched on.</a:t>
            </a:r>
          </a:p>
          <a:p/>
          <a:p>
            <a:r>
              <a:t>Bottom right: three status cards. Each starts with a chip, because every claim on this slide wears its status: LIVE, BUILT, GATED.</a:t>
            </a:r>
          </a:p>
          <a:p/>
          <a:p>
            <a:r>
              <a:t>Feeling. A cash register with the lights on and a padlock on the back door, and nothing hidden about which is which.</a:t>
            </a:r>
          </a:p>
          <a:p/>
          <a:p>
            <a:r>
              <a:t>NARRATION</a:t>
            </a:r>
          </a:p>
          <a:p>
            <a:r>
              <a:t>And now the business flow, in the order a buyer experiences it.</a:t>
            </a:r>
          </a:p>
          <a:p/>
          <a:p>
            <a:r>
              <a:t>A person on the web or in Telegram, or an agent through MCP, asks for today's signal. The gate answers with an HTTP 402 and a price: zero point zero one FAB today. The buyer signs a permit. They send nothing, hold no gas, and keep no balance with us. The x402 contract settles it, our gate pays the gas, and the signal arrives together with its commit proof.</a:t>
            </a:r>
          </a:p>
          <a:p/>
          <a:p>
            <a:r>
              <a:t>Look at the loop underneath. Publishers bring bots and agents. Buyers pay per call. Fabius runs the gates, the proof and the checkout. And the revenue-share contract that would pay publishers, sixty percent to them with our share only ever going down, is written and tested, not deployed.</a:t>
            </a:r>
          </a:p>
          <a:p/>
          <a:p>
            <a:r>
              <a:t>Now the honest part. FAB is a test token with no value, and nobody outside our own team has bought a signal. Real-time paid signals stay locked until a bot passes the forward test and a legal review. We built the cash register, and we are keeping it on testnet until something has earned the right to be sold.</a:t>
            </a:r>
          </a:p>
          <a:p/>
          <a:p>
            <a:r>
              <a:t>SOURCES (vault)</a:t>
            </a:r>
          </a:p>
          <a:p>
            <a:r>
              <a:t>00 - Hub Submission Deck</a:t>
            </a:r>
          </a:p>
          <a:p>
            <a:r>
              <a:t>TL32 - gerbang x402 per sinyal</a:t>
            </a:r>
          </a:p>
          <a:p>
            <a:r>
              <a:t>TL20 - server MCP</a:t>
            </a:r>
          </a:p>
          <a:p>
            <a:r>
              <a:t>C9 - BotRegistry</a:t>
            </a:r>
          </a:p>
          <a:p>
            <a:r>
              <a:t>C10 - RevenueSplitter</a:t>
            </a:r>
          </a:p>
          <a:p>
            <a:r>
              <a:t>13 - Langkah Builder Tertunda</a:t>
            </a:r>
          </a:p>
          <a:p>
            <a:r>
              <a:t>03 - Decisions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09/12 · 09 · Live product: not a mockup, it is running</a:t>
            </a:r>
          </a:p>
          <a:p/>
          <a:p>
            <a:r>
              <a:t>VISUAL SCRIPT</a:t>
            </a:r>
          </a:p>
          <a:p>
            <a:r>
              <a:t>Setting. Night, with a wide violet glow behind the devices.</a:t>
            </a:r>
          </a:p>
          <a:p/>
          <a:p>
            <a:r>
              <a:t>Left: two real devices. A desktop browser frame, URL fabius-one.vercel.app, shows the landing hero as a visitor sees it: the 3D glass cube and the giant headline SIGNALS SEALED BEFORE THE OUTCOME. Overlapping its right edge is a phone showing the bot page for B1 TREND: the rule as locked, the identity badge and the chips with the spec lock. The screenshots are real, captured from the current build of the web app on 7 Oct. We cropped away only the navigation and the counter chips of the hero, because those counters belong to the 3D cube's legend, not to the numbers on the right.</a:t>
            </a:r>
          </a:p>
          <a:p/>
          <a:p>
            <a:r>
              <a:t>Right: four stat cards, stacked. A big white number on the left of each card and one short line on the right. The numbers are the live ones from the snapshot: verified commits, how many of them are silent days, bots on forward ledgers, on-chain locks.</a:t>
            </a:r>
          </a:p>
          <a:p/>
          <a:p>
            <a:r>
              <a:t>Under the devices. One mono line with the snapshot time, block number and chain: the receipt for every number on the slide.</a:t>
            </a:r>
          </a:p>
          <a:p/>
          <a:p>
            <a:r>
              <a:t>Feeling. Evidence, not decoration.</a:t>
            </a:r>
          </a:p>
          <a:p/>
          <a:p>
            <a:r>
              <a:t>NARRATION</a:t>
            </a:r>
          </a:p>
          <a:p>
            <a:r>
              <a:t>[Point at the screen.] This is not a storyboard. The site is live, and the numbers on the right are printed by a script from the public ledger and from BNB Chain, with a timestamp.</a:t>
            </a:r>
          </a:p>
          <a:p/>
          <a:p>
            <a:r>
              <a:t>22 daily commits are on-chain and verified, with 0 alarms and 0 missed. 15 of those are silent days, days when a bot decided to do nothing, and even that was sealed. 6 bots keep public forward ledgers that a machine writes with no human in the loop. And 11 locks, bot rules and policies, each stamped with its block time.</a:t>
            </a:r>
          </a:p>
          <a:p/>
          <a:p>
            <a:r>
              <a:t>A visitor can sign in with Google, Telegram or email, read the exact rule a bot is locked to, and verify a day on their own.</a:t>
            </a:r>
          </a:p>
          <a:p/>
          <a:p>
            <a:r>
              <a:t>SOURCES (vault)</a:t>
            </a:r>
          </a:p>
          <a:p>
            <a:r>
              <a:t>00 - Hub Submission Deck</a:t>
            </a:r>
          </a:p>
          <a:p>
            <a:r>
              <a:t>TL19 - web landing</a:t>
            </a:r>
          </a:p>
          <a:p>
            <a:r>
              <a:t>TL20 - server MCP</a:t>
            </a:r>
          </a:p>
          <a:p>
            <a:r>
              <a:t>Dashboard</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10/12 · 10 · On-chain: five contracts carry the flow, all ours</a:t>
            </a:r>
          </a:p>
          <a:p/>
          <a:p>
            <a:r>
              <a:t>VISUAL SCRIPT</a:t>
            </a:r>
          </a:p>
          <a:p>
            <a:r>
              <a:t>Setting. Night. A ledger of five rows, each a glass card with a small isometric slab as its icon.</a:t>
            </a:r>
          </a:p>
          <a:p/>
          <a:p>
            <a:r>
              <a:t>Left: the five contracts. SignalAnchor is first and brighter: its card has a violet rim, a luminous white slab, and a MAIN FLOW chip. The other four have indigo slabs (the test token has a dark one). Each row shows the contract name in bold, one line saying what it guarantees, and its short address in mono on the right.</a:t>
            </a:r>
          </a:p>
          <a:p/>
          <a:p>
            <a:r>
              <a:t>Right, top: enforced by the contract. A glass card with two red chips: TooLate and LockedAfterBar. Red here marks the two ways a commit is refused. One plain sentence underneath: the rule is code, not good intentions.</a:t>
            </a:r>
          </a:p>
          <a:p/>
          <a:p>
            <a:r>
              <a:t>Right, bottom: not ours. A dashed card, quieter, titled STANDARD RAILS WE USE · NOT OURS: the ERC-8004 identity registry and the x402 payment proxy with Permit2. We use them; we did not write them.</a:t>
            </a:r>
          </a:p>
          <a:p/>
          <a:p>
            <a:r>
              <a:t>Under it all. One mono line naming the network and where the full addresses live.</a:t>
            </a:r>
          </a:p>
          <a:p/>
          <a:p>
            <a:r>
              <a:t>Feeling. A balance sheet with the assets and the borrowed items on separate lines.</a:t>
            </a:r>
          </a:p>
          <a:p/>
          <a:p>
            <a:r>
              <a:t>NARRATION</a:t>
            </a:r>
          </a:p>
          <a:p>
            <a:r>
              <a:t>Everything you have seen is anchored by five contracts that we wrote and deployed on BNB Smart Chain testnet.</a:t>
            </a:r>
          </a:p>
          <a:p/>
          <a:p>
            <a:r>
              <a:t>SignalAnchor is the main flow: the per-bar commit of every signal, with late commits rejected. LockRegistry is the write-once lock for each rule. SelectionAnchor records the analysts' daily pick, DeskAnchor the five-minute desk roots, and FabiusCredit is the test token that pays for signals.</a:t>
            </a:r>
          </a:p>
          <a:p/>
          <a:p>
            <a:r>
              <a:t>Two of our guarantees are not promises. They are reverts in the contract code: TooLate, and LockedAfterBar.</a:t>
            </a:r>
          </a:p>
          <a:p/>
          <a:p>
            <a:r>
              <a:t>And on the right, what we do not own: the ERC-8004 identity registry, and the x402 payment proxy with Permit2. We use them. We did not write them. Earlier deployments, such as our first decision anchor, are listed in the repo's deployments file.</a:t>
            </a:r>
          </a:p>
          <a:p/>
          <a:p>
            <a:r>
              <a:t>ADDRESSES (BNB Smart Chain testnet, 97)</a:t>
            </a:r>
          </a:p>
          <a:p>
            <a:r>
              <a:t>SignalAnchor: 0x9B78200beFbbBe836585d31bd5b6dB32587064f3</a:t>
            </a:r>
          </a:p>
          <a:p>
            <a:r>
              <a:t>LockRegistry: 0xcF6fBF95fc04DEd8d670512CEc0723a2246Fbb0C</a:t>
            </a:r>
          </a:p>
          <a:p>
            <a:r>
              <a:t>SelectionAnchor: 0xc0c16337e6c286ec54902d8de7aadf232587f3b1</a:t>
            </a:r>
          </a:p>
          <a:p>
            <a:r>
              <a:t>DeskAnchor: 0x706da379a5112aa7c86803dcf58d8fdab442305f</a:t>
            </a:r>
          </a:p>
          <a:p>
            <a:r>
              <a:t>FabiusCredit (FAB): 0xc7b6d5cdbdc881daae0dbcc095d4f184b70ec881</a:t>
            </a:r>
          </a:p>
          <a:p/>
          <a:p>
            <a:r>
              <a:t>SOURCES (vault)</a:t>
            </a:r>
          </a:p>
          <a:p>
            <a:r>
              <a:t>00 - Hub Submission Deck</a:t>
            </a:r>
          </a:p>
          <a:p>
            <a:r>
              <a:t>C7 - SignalAnchor</a:t>
            </a:r>
          </a:p>
          <a:p>
            <a:r>
              <a:t>C6 - LockRegistry</a:t>
            </a:r>
          </a:p>
          <a:p>
            <a:r>
              <a:t>TL33 - agent analis</a:t>
            </a:r>
          </a:p>
          <a:p>
            <a:r>
              <a:t>TL34 - meja AI 5 menit</a:t>
            </a:r>
          </a:p>
          <a:p>
            <a:r>
              <a:t>TL32 - gerbang x402 per sinyal</a:t>
            </a:r>
          </a:p>
          <a:p>
            <a:r>
              <a:t>Quick-Reference</a:t>
            </a:r>
          </a:p>
          <a:p>
            <a:r>
              <a:t>01 - ERC-8004 Identity</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11/12 · 11 · Built to be doubted: zero of six, said out loud</a:t>
            </a:r>
          </a:p>
          <a:p/>
          <a:p>
            <a:r>
              <a:t>VISUAL SCRIPT</a:t>
            </a:r>
          </a:p>
          <a:p>
            <a:r>
              <a:t>Setting. Night. The most austere slide in the deck: very little decoration, because the content is the decoration.</a:t>
            </a:r>
          </a:p>
          <a:p/>
          <a:p>
            <a:r>
              <a:t>Left: the number. A giant white 0 / 6 with a violet halo behind it, and under it in bold: bots have passed the forward test. In small mono underneath, the pass bar: 20 signals, 20 settled days, 2 months.</a:t>
            </a:r>
          </a:p>
          <a:p/>
          <a:p>
            <a:r>
              <a:t>Centre and right: two columns. The left column is a solid glass card, title WHAT THE CHAIN PROVES, with violet check marks. The right column is the same size but dashed and quieter, title WHAT IT DOES NOT PROVE, with dashes instead of checks. Same visual weight, on purpose: the limits get as much room as the claims.</a:t>
            </a:r>
          </a:p>
          <a:p/>
          <a:p>
            <a:r>
              <a:t>Bottom: three evidence cards. Three small glass cards, each a time we turned the standard on ourselves.</a:t>
            </a:r>
          </a:p>
          <a:p/>
          <a:p>
            <a:r>
              <a:t>Ribbon. One line of mono capitals across the bottom, like the marquee on the website: PAPER ONLY · NO EDGE CLAIMED · EVERY RULE LOCKED BEFORE THE DATA · VERIFY, DON'T TRUST.</a:t>
            </a:r>
          </a:p>
          <a:p/>
          <a:p>
            <a:r>
              <a:t>Feeling. Calm confidence from a team that publishes its own failure rate.</a:t>
            </a:r>
          </a:p>
          <a:p/>
          <a:p>
            <a:r>
              <a:t>NARRATION</a:t>
            </a:r>
          </a:p>
          <a:p>
            <a:r>
              <a:t>Here is the slide I would most like you to remember.</a:t>
            </a:r>
          </a:p>
          <a:p/>
          <a:p>
            <a:r>
              <a:t>Zero of six. 0 of our 6 bots have passed the forward test, which needs 20 signals, 20 settled days and 2 months, with a confidence interval above zero. We say it on the landing page and we say it here.</a:t>
            </a:r>
          </a:p>
          <a:p/>
          <a:p>
            <a:r>
              <a:t>What the chain proves: that a signal existed before the outcome, that it was not changed, and which rule produced it. What it does not prove: that a call was right, that it made money, or which model produced it. We claim no edge.</a:t>
            </a:r>
          </a:p>
          <a:p/>
          <a:p>
            <a:r>
              <a:t>And we apply the standard to ourselves. 4 of our 6 bots are rejected by our own entry gates. Our LLM reviewer failed its calibration, so it is switched off, and the result is public. Our gates were tested on synthetic noise: strategies with no edge passed about one percent of the time, against a five percent budget.</a:t>
            </a:r>
          </a:p>
          <a:p/>
          <a:p>
            <a:r>
              <a:t>A desk built to be doubted is a desk you can actually check.</a:t>
            </a:r>
          </a:p>
          <a:p/>
          <a:p>
            <a:r>
              <a:t>SOURCES (vault)</a:t>
            </a:r>
          </a:p>
          <a:p>
            <a:r>
              <a:t>00 - Hub Submission Deck</a:t>
            </a:r>
          </a:p>
          <a:p>
            <a:r>
              <a:t>01 - Claims and Limits</a:t>
            </a:r>
          </a:p>
          <a:p>
            <a:r>
              <a:t>01 - Claims Cheat Sheet</a:t>
            </a:r>
          </a:p>
          <a:p>
            <a:r>
              <a:t>32 - Hasil P90 R1+R2</a:t>
            </a:r>
          </a:p>
          <a:p>
            <a:r>
              <a:t>34 - Hasil P90 Gelombang 2</a:t>
            </a:r>
          </a:p>
          <a:p>
            <a:r>
              <a:t>13 - Langkah Builder Tertunda</a:t>
            </a:r>
          </a:p>
          <a:p>
            <a:r>
              <a:t>05 - Corrections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12/12 · 12 · Roadmap and close: live, built, gated</a:t>
            </a:r>
          </a:p>
          <a:p/>
          <a:p>
            <a:r>
              <a:t>VISUAL SCRIPT</a:t>
            </a:r>
          </a:p>
          <a:p>
            <a:r>
              <a:t>Setting. Night again, mirroring the cover: the deck ends where it began.</a:t>
            </a:r>
          </a:p>
          <a:p/>
          <a:p>
            <a:r>
              <a:t>Three columns, three block states. Each column is a glass card headed by a small isometric block. LIVE has a white-violet glowing block. BUILT has a deep indigo sealed block. GATED has a clear, empty glass block and a dashed outline. The legend is the product's own block language, so the status of everything on the slide can be read without a word.</a:t>
            </a:r>
          </a:p>
          <a:p/>
          <a:p>
            <a:r>
              <a:t>The closing band. A wide violet-tinted glass band across the bottom. On the left, in large type: Fabius refuses the battle until the proof exists. Under it the tagline in small type. On the right, three stacked pills: the live URL (glowing), the repository, and the verification command in mono.</a:t>
            </a:r>
          </a:p>
          <a:p/>
          <a:p>
            <a:r>
              <a:t>Feeling. The calm after a long climb. The ask is a click, a clone and a command, not a pledge.</a:t>
            </a:r>
          </a:p>
          <a:p/>
          <a:p>
            <a:r>
              <a:t>NARRATION</a:t>
            </a:r>
          </a:p>
          <a:p>
            <a:r>
              <a:t>Let me end with where everything stands, in three words: live, built, gated.</a:t>
            </a:r>
          </a:p>
          <a:p/>
          <a:p>
            <a:r>
              <a:t>Live today on BNB testnet: the proof feed and the verify page, 6 bots on public forward ledgers, the AI desk running every five minutes, open submissions for rules, feeds and agents, and the x402 checkout with a test token.</a:t>
            </a:r>
          </a:p>
          <a:p/>
          <a:p>
            <a:r>
              <a:t>Built, and waiting on a switch: the publisher revenue share, private code submissions, paid MCP access to the desk, and an evaluation shadow for the desk.</a:t>
            </a:r>
          </a:p>
          <a:p/>
          <a:p>
            <a:r>
              <a:t>Gated until the evidence exists: real-time paid signals, which need a bot to pass the forward test and then a legal review. Real money and mainnet are off the table until then.</a:t>
            </a:r>
          </a:p>
          <a:p/>
          <a:p>
            <a:r>
              <a:t>The man this project is named after, Fabius Maximus, beat Hannibal by refusing the battle Hannibal wanted. We refuse to sell what has not been proven.</a:t>
            </a:r>
          </a:p>
          <a:p/>
          <a:p>
            <a:r>
              <a:t>[Pause.] Do not take our word for any of this. One command, no key, no gas. And when you are ready: plug in your bot or agent, prove every call on-chain, and sell it to humans and AI through x402 and MCP, once the proof exists.</a:t>
            </a:r>
          </a:p>
          <a:p/>
          <a:p>
            <a:r>
              <a:t>SOURCES (vault)</a:t>
            </a:r>
          </a:p>
          <a:p>
            <a:r>
              <a:t>00 - Hub Submission Deck</a:t>
            </a:r>
          </a:p>
          <a:p>
            <a:r>
              <a:t>13 - Langkah Builder Tertunda</a:t>
            </a:r>
          </a:p>
          <a:p>
            <a:r>
              <a:t>01 - Backlog</a:t>
            </a:r>
          </a:p>
          <a:p>
            <a:r>
              <a:t>06 - Roadmap</a:t>
            </a:r>
          </a:p>
          <a:p>
            <a:r>
              <a:t>01 - Claims Cheat Sheet</a:t>
            </a:r>
          </a:p>
          <a:p>
            <a:r>
              <a:t>TL45 - MCP berbayar meja (P157)</a:t>
            </a:r>
          </a:p>
          <a:p>
            <a:r>
              <a:t>TL41 - kode pengguna di sandbox (code)</a:t>
            </a:r>
          </a:p>
          <a:p>
            <a:r>
              <a:t>TL43 - evaluasi meja F4</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1234440"/>
            <a:ext cx="5760720" cy="1325880"/>
          </a:xfrm>
        </p:spPr>
        <p:txBody>
          <a:bodyPr wrap="square" lIns="0" rIns="0" tIns="0" bIns="0" anchor="t">
            <a:noAutofit/>
          </a:bodyPr>
          <a:lstStyle/>
          <a:p>
            <a:pPr algn="l">
              <a:lnSpc>
                <a:spcPct val="92000"/>
              </a:lnSpc>
              <a:spcBef>
                <a:spcPts val="0"/>
              </a:spcBef>
              <a:spcAft>
                <a:spcPts val="0"/>
              </a:spcAft>
            </a:pPr>
            <a:r>
              <a:rPr sz="9600" b="1" i="0" lang="en-US">
                <a:solidFill>
                  <a:srgbClr val="FFFFFF"/>
                </a:solidFill>
                <a:latin typeface="Archivo" pitchFamily="34" charset="0"/>
              </a:rPr>
              <a:t>FABIUS</a:t>
            </a:r>
          </a:p>
        </p:txBody>
      </p:sp>
      <p:grpSp>
        <p:nvGrpSpPr>
          <p:cNvPr id="3" name="Halo"/>
          <p:cNvGrpSpPr/>
          <p:nvPr/>
        </p:nvGrpSpPr>
        <p:grpSpPr>
          <a:xfrm>
            <a:off x="4846320" y="411480"/>
            <a:ext cx="7863840" cy="6583680"/>
            <a:chOff x="4846320" y="411480"/>
            <a:chExt cx="7863840" cy="6583680"/>
          </a:xfrm>
        </p:grpSpPr>
        <p:sp>
          <p:nvSpPr>
            <p:cNvPr id="4" name="Halo 1"/>
            <p:cNvSpPr/>
            <p:nvPr/>
          </p:nvSpPr>
          <p:spPr>
            <a:xfrm>
              <a:off x="4846320" y="411480"/>
              <a:ext cx="7863840" cy="658368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alo 2"/>
            <p:cNvSpPr/>
            <p:nvPr/>
          </p:nvSpPr>
          <p:spPr>
            <a:xfrm>
              <a:off x="4971057" y="515911"/>
              <a:ext cx="7614366" cy="63748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lo 3"/>
            <p:cNvSpPr/>
            <p:nvPr/>
          </p:nvSpPr>
          <p:spPr>
            <a:xfrm>
              <a:off x="5095794" y="620342"/>
              <a:ext cx="7364893" cy="616595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alo 4"/>
            <p:cNvSpPr/>
            <p:nvPr/>
          </p:nvSpPr>
          <p:spPr>
            <a:xfrm>
              <a:off x="5220530" y="724772"/>
              <a:ext cx="7115419" cy="595709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alo 5"/>
            <p:cNvSpPr/>
            <p:nvPr/>
          </p:nvSpPr>
          <p:spPr>
            <a:xfrm>
              <a:off x="5345267" y="829203"/>
              <a:ext cx="6865946" cy="574823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alo 6"/>
            <p:cNvSpPr/>
            <p:nvPr/>
          </p:nvSpPr>
          <p:spPr>
            <a:xfrm>
              <a:off x="5470004" y="933634"/>
              <a:ext cx="6616472" cy="553937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7"/>
            <p:cNvSpPr/>
            <p:nvPr/>
          </p:nvSpPr>
          <p:spPr>
            <a:xfrm>
              <a:off x="5594741" y="1038065"/>
              <a:ext cx="6366999" cy="533051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8"/>
            <p:cNvSpPr/>
            <p:nvPr/>
          </p:nvSpPr>
          <p:spPr>
            <a:xfrm>
              <a:off x="5719477" y="1142496"/>
              <a:ext cx="6117525" cy="512164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9"/>
            <p:cNvSpPr/>
            <p:nvPr/>
          </p:nvSpPr>
          <p:spPr>
            <a:xfrm>
              <a:off x="5844214" y="1246926"/>
              <a:ext cx="5868052" cy="491278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10"/>
            <p:cNvSpPr/>
            <p:nvPr/>
          </p:nvSpPr>
          <p:spPr>
            <a:xfrm>
              <a:off x="5968951" y="1351357"/>
              <a:ext cx="5618578" cy="470392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11"/>
            <p:cNvSpPr/>
            <p:nvPr/>
          </p:nvSpPr>
          <p:spPr>
            <a:xfrm>
              <a:off x="6093688" y="1455788"/>
              <a:ext cx="5369105" cy="449506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12"/>
            <p:cNvSpPr/>
            <p:nvPr/>
          </p:nvSpPr>
          <p:spPr>
            <a:xfrm>
              <a:off x="6218424" y="1560219"/>
              <a:ext cx="5119631" cy="4286203"/>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13"/>
            <p:cNvSpPr/>
            <p:nvPr/>
          </p:nvSpPr>
          <p:spPr>
            <a:xfrm>
              <a:off x="6343161" y="1664649"/>
              <a:ext cx="4870157" cy="407734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14"/>
            <p:cNvSpPr/>
            <p:nvPr/>
          </p:nvSpPr>
          <p:spPr>
            <a:xfrm>
              <a:off x="6467898" y="1769080"/>
              <a:ext cx="4620684" cy="386848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5"/>
            <p:cNvSpPr/>
            <p:nvPr/>
          </p:nvSpPr>
          <p:spPr>
            <a:xfrm>
              <a:off x="6592635" y="1873511"/>
              <a:ext cx="4371210" cy="36596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6"/>
            <p:cNvSpPr/>
            <p:nvPr/>
          </p:nvSpPr>
          <p:spPr>
            <a:xfrm>
              <a:off x="6717372" y="1977942"/>
              <a:ext cx="4121737" cy="345075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7"/>
            <p:cNvSpPr/>
            <p:nvPr/>
          </p:nvSpPr>
          <p:spPr>
            <a:xfrm>
              <a:off x="6842108" y="2082373"/>
              <a:ext cx="3872263" cy="324189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8"/>
            <p:cNvSpPr/>
            <p:nvPr/>
          </p:nvSpPr>
          <p:spPr>
            <a:xfrm>
              <a:off x="6966845" y="2186803"/>
              <a:ext cx="3622790" cy="3033033"/>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9"/>
            <p:cNvSpPr/>
            <p:nvPr/>
          </p:nvSpPr>
          <p:spPr>
            <a:xfrm>
              <a:off x="7091582" y="2291234"/>
              <a:ext cx="3373316" cy="282417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20"/>
            <p:cNvSpPr/>
            <p:nvPr/>
          </p:nvSpPr>
          <p:spPr>
            <a:xfrm>
              <a:off x="7216319" y="2395665"/>
              <a:ext cx="3123843" cy="261531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21"/>
            <p:cNvSpPr/>
            <p:nvPr/>
          </p:nvSpPr>
          <p:spPr>
            <a:xfrm>
              <a:off x="7341055" y="2500096"/>
              <a:ext cx="2874369" cy="240644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22"/>
            <p:cNvSpPr/>
            <p:nvPr/>
          </p:nvSpPr>
          <p:spPr>
            <a:xfrm>
              <a:off x="7465792" y="2604527"/>
              <a:ext cx="2624896" cy="219758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23"/>
            <p:cNvSpPr/>
            <p:nvPr/>
          </p:nvSpPr>
          <p:spPr>
            <a:xfrm>
              <a:off x="7590529" y="2708957"/>
              <a:ext cx="2375422" cy="198872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24"/>
            <p:cNvSpPr/>
            <p:nvPr/>
          </p:nvSpPr>
          <p:spPr>
            <a:xfrm>
              <a:off x="7715266" y="2813388"/>
              <a:ext cx="2125948" cy="177986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5"/>
            <p:cNvSpPr/>
            <p:nvPr/>
          </p:nvSpPr>
          <p:spPr>
            <a:xfrm>
              <a:off x="7840003" y="2917819"/>
              <a:ext cx="1876475" cy="157100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6"/>
            <p:cNvSpPr/>
            <p:nvPr/>
          </p:nvSpPr>
          <p:spPr>
            <a:xfrm>
              <a:off x="7964739" y="3022250"/>
              <a:ext cx="1627001" cy="136214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7"/>
            <p:cNvSpPr/>
            <p:nvPr/>
          </p:nvSpPr>
          <p:spPr>
            <a:xfrm>
              <a:off x="8089476" y="3126680"/>
              <a:ext cx="1377528" cy="115327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8"/>
            <p:cNvSpPr/>
            <p:nvPr/>
          </p:nvSpPr>
          <p:spPr>
            <a:xfrm>
              <a:off x="8214213" y="3231111"/>
              <a:ext cx="1128054" cy="9444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9"/>
            <p:cNvSpPr/>
            <p:nvPr/>
          </p:nvSpPr>
          <p:spPr>
            <a:xfrm>
              <a:off x="8338950" y="3335542"/>
              <a:ext cx="878581" cy="73555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30"/>
            <p:cNvSpPr/>
            <p:nvPr/>
          </p:nvSpPr>
          <p:spPr>
            <a:xfrm>
              <a:off x="8463686" y="3439973"/>
              <a:ext cx="629107" cy="52669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4" name="Scene · sealed crystal"/>
          <p:cNvGrpSpPr/>
          <p:nvPr/>
        </p:nvGrpSpPr>
        <p:grpSpPr>
          <a:xfrm>
            <a:off x="4388206" y="-714508"/>
            <a:ext cx="8880071" cy="8173139"/>
            <a:chOff x="4388206" y="-714508"/>
            <a:chExt cx="8880071" cy="8173139"/>
          </a:xfrm>
        </p:grpSpPr>
        <p:sp>
          <p:nvSpPr>
            <p:cNvPr id="35" name="Block 000 · kiri"/>
            <p:cNvSpPr/>
            <p:nvPr/>
          </p:nvSpPr>
          <p:spPr>
            <a:xfrm>
              <a:off x="8273804"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lock 000 · kanan"/>
            <p:cNvSpPr/>
            <p:nvPr/>
          </p:nvSpPr>
          <p:spPr>
            <a:xfrm>
              <a:off x="8778240"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lock 000 · atas"/>
            <p:cNvSpPr/>
            <p:nvPr/>
          </p:nvSpPr>
          <p:spPr>
            <a:xfrm>
              <a:off x="8273804"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lock 001 · kiri"/>
            <p:cNvSpPr/>
            <p:nvPr/>
          </p:nvSpPr>
          <p:spPr>
            <a:xfrm>
              <a:off x="8273804"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lock 001 · kanan"/>
            <p:cNvSpPr/>
            <p:nvPr/>
          </p:nvSpPr>
          <p:spPr>
            <a:xfrm>
              <a:off x="8778240"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lock 001 · atas"/>
            <p:cNvSpPr/>
            <p:nvPr/>
          </p:nvSpPr>
          <p:spPr>
            <a:xfrm>
              <a:off x="8273804"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lock 010 · kiri"/>
            <p:cNvSpPr/>
            <p:nvPr/>
          </p:nvSpPr>
          <p:spPr>
            <a:xfrm>
              <a:off x="7719478" y="36406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lock 010 · kanan"/>
            <p:cNvSpPr/>
            <p:nvPr/>
          </p:nvSpPr>
          <p:spPr>
            <a:xfrm>
              <a:off x="8223914" y="364068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lock 010 · atas"/>
            <p:cNvSpPr/>
            <p:nvPr/>
          </p:nvSpPr>
          <p:spPr>
            <a:xfrm>
              <a:off x="7719478" y="334944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lock 100 · kiri"/>
            <p:cNvSpPr/>
            <p:nvPr/>
          </p:nvSpPr>
          <p:spPr>
            <a:xfrm>
              <a:off x="8828129" y="364068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lock 100 · kanan"/>
            <p:cNvSpPr/>
            <p:nvPr/>
          </p:nvSpPr>
          <p:spPr>
            <a:xfrm>
              <a:off x="9332566" y="36406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lock 100 · atas"/>
            <p:cNvSpPr/>
            <p:nvPr/>
          </p:nvSpPr>
          <p:spPr>
            <a:xfrm>
              <a:off x="8828129" y="334944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loating panel · kiri"/>
            <p:cNvSpPr/>
            <p:nvPr/>
          </p:nvSpPr>
          <p:spPr>
            <a:xfrm>
              <a:off x="6450073" y="1531620"/>
              <a:ext cx="831488" cy="640080"/>
            </a:xfrm>
            <a:custGeom>
              <a:avLst/>
              <a:gdLst/>
              <a:ahLst/>
              <a:cxnLst/>
              <a:rect l="l" t="t" r="r" b="b"/>
              <a:pathLst>
                <a:path w="831488" h="640080">
                  <a:moveTo>
                    <a:pt x="0" y="160020"/>
                  </a:moveTo>
                  <a:lnTo>
                    <a:pt x="831488" y="640080"/>
                  </a:lnTo>
                  <a:lnTo>
                    <a:pt x="831488" y="48006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loating panel · kanan"/>
            <p:cNvSpPr/>
            <p:nvPr/>
          </p:nvSpPr>
          <p:spPr>
            <a:xfrm>
              <a:off x="7281561" y="1371600"/>
              <a:ext cx="1108651" cy="800100"/>
            </a:xfrm>
            <a:custGeom>
              <a:avLst/>
              <a:gdLst/>
              <a:ahLst/>
              <a:cxnLst/>
              <a:rect l="l" t="t" r="r" b="b"/>
              <a:pathLst>
                <a:path w="1108651" h="800100">
                  <a:moveTo>
                    <a:pt x="1108651" y="160020"/>
                  </a:moveTo>
                  <a:lnTo>
                    <a:pt x="0" y="800100"/>
                  </a:lnTo>
                  <a:lnTo>
                    <a:pt x="0" y="640080"/>
                  </a:lnTo>
                  <a:lnTo>
                    <a:pt x="1108651"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loating panel · atas"/>
            <p:cNvSpPr/>
            <p:nvPr/>
          </p:nvSpPr>
          <p:spPr>
            <a:xfrm>
              <a:off x="6450073" y="891540"/>
              <a:ext cx="1940139" cy="1120140"/>
            </a:xfrm>
            <a:custGeom>
              <a:avLst/>
              <a:gdLst/>
              <a:ahLst/>
              <a:cxnLst/>
              <a:rect l="l" t="t" r="r" b="b"/>
              <a:pathLst>
                <a:path w="1940139" h="1120140">
                  <a:moveTo>
                    <a:pt x="1108651" y="0"/>
                  </a:moveTo>
                  <a:lnTo>
                    <a:pt x="1940139" y="480060"/>
                  </a:lnTo>
                  <a:lnTo>
                    <a:pt x="831488" y="1120140"/>
                  </a:lnTo>
                  <a:lnTo>
                    <a:pt x="0" y="640080"/>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lock 002 · kiri"/>
            <p:cNvSpPr/>
            <p:nvPr/>
          </p:nvSpPr>
          <p:spPr>
            <a:xfrm>
              <a:off x="8273804" y="20404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lock 002 · kanan"/>
            <p:cNvSpPr/>
            <p:nvPr/>
          </p:nvSpPr>
          <p:spPr>
            <a:xfrm>
              <a:off x="8778240" y="20404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lock 002 · atas"/>
            <p:cNvSpPr/>
            <p:nvPr/>
          </p:nvSpPr>
          <p:spPr>
            <a:xfrm>
              <a:off x="8273804" y="174924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lock 011 · kiri"/>
            <p:cNvSpPr/>
            <p:nvPr/>
          </p:nvSpPr>
          <p:spPr>
            <a:xfrm>
              <a:off x="7719478" y="300060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lock 011 · kanan"/>
            <p:cNvSpPr/>
            <p:nvPr/>
          </p:nvSpPr>
          <p:spPr>
            <a:xfrm>
              <a:off x="8223914" y="300060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lock 011 · atas"/>
            <p:cNvSpPr/>
            <p:nvPr/>
          </p:nvSpPr>
          <p:spPr>
            <a:xfrm>
              <a:off x="7719478" y="270936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lock 020 · kiri"/>
            <p:cNvSpPr/>
            <p:nvPr/>
          </p:nvSpPr>
          <p:spPr>
            <a:xfrm>
              <a:off x="7165153"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lock 020 · kanan"/>
            <p:cNvSpPr/>
            <p:nvPr/>
          </p:nvSpPr>
          <p:spPr>
            <a:xfrm>
              <a:off x="7669589"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lock 020 · atas"/>
            <p:cNvSpPr/>
            <p:nvPr/>
          </p:nvSpPr>
          <p:spPr>
            <a:xfrm>
              <a:off x="7165153"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lock 101 · kiri"/>
            <p:cNvSpPr/>
            <p:nvPr/>
          </p:nvSpPr>
          <p:spPr>
            <a:xfrm>
              <a:off x="8828129" y="300060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lock 101 · kanan"/>
            <p:cNvSpPr/>
            <p:nvPr/>
          </p:nvSpPr>
          <p:spPr>
            <a:xfrm>
              <a:off x="9332566" y="300060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lock 101 · atas"/>
            <p:cNvSpPr/>
            <p:nvPr/>
          </p:nvSpPr>
          <p:spPr>
            <a:xfrm>
              <a:off x="8828129" y="270936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lock 110 · kiri"/>
            <p:cNvSpPr/>
            <p:nvPr/>
          </p:nvSpPr>
          <p:spPr>
            <a:xfrm>
              <a:off x="8273804"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lock 110 · kanan"/>
            <p:cNvSpPr/>
            <p:nvPr/>
          </p:nvSpPr>
          <p:spPr>
            <a:xfrm>
              <a:off x="8778240"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lock 110 · atas"/>
            <p:cNvSpPr/>
            <p:nvPr/>
          </p:nvSpPr>
          <p:spPr>
            <a:xfrm>
              <a:off x="8273804"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lock 200 · kiri"/>
            <p:cNvSpPr/>
            <p:nvPr/>
          </p:nvSpPr>
          <p:spPr>
            <a:xfrm>
              <a:off x="9382455"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lock 200 · kanan"/>
            <p:cNvSpPr/>
            <p:nvPr/>
          </p:nvSpPr>
          <p:spPr>
            <a:xfrm>
              <a:off x="9886891"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lock 200 · atas"/>
            <p:cNvSpPr/>
            <p:nvPr/>
          </p:nvSpPr>
          <p:spPr>
            <a:xfrm>
              <a:off x="9382455"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lock 012 · kiri"/>
            <p:cNvSpPr/>
            <p:nvPr/>
          </p:nvSpPr>
          <p:spPr>
            <a:xfrm>
              <a:off x="7719478" y="23605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lock 012 · kanan"/>
            <p:cNvSpPr/>
            <p:nvPr/>
          </p:nvSpPr>
          <p:spPr>
            <a:xfrm>
              <a:off x="8223914" y="236052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lock 012 · atas"/>
            <p:cNvSpPr/>
            <p:nvPr/>
          </p:nvSpPr>
          <p:spPr>
            <a:xfrm>
              <a:off x="7719478" y="206928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lock 021 · kiri"/>
            <p:cNvSpPr/>
            <p:nvPr/>
          </p:nvSpPr>
          <p:spPr>
            <a:xfrm>
              <a:off x="7165153"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lock 021 · kanan"/>
            <p:cNvSpPr/>
            <p:nvPr/>
          </p:nvSpPr>
          <p:spPr>
            <a:xfrm>
              <a:off x="7669589"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lock 021 · atas"/>
            <p:cNvSpPr/>
            <p:nvPr/>
          </p:nvSpPr>
          <p:spPr>
            <a:xfrm>
              <a:off x="7165153"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lock 102 · kiri"/>
            <p:cNvSpPr/>
            <p:nvPr/>
          </p:nvSpPr>
          <p:spPr>
            <a:xfrm>
              <a:off x="8828129" y="236052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lock 102 · kanan"/>
            <p:cNvSpPr/>
            <p:nvPr/>
          </p:nvSpPr>
          <p:spPr>
            <a:xfrm>
              <a:off x="9332566" y="23605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lock 102 · atas"/>
            <p:cNvSpPr/>
            <p:nvPr/>
          </p:nvSpPr>
          <p:spPr>
            <a:xfrm>
              <a:off x="8828129" y="206928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lock 111 · kiri"/>
            <p:cNvSpPr/>
            <p:nvPr/>
          </p:nvSpPr>
          <p:spPr>
            <a:xfrm>
              <a:off x="8273804"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lock 111 · kanan"/>
            <p:cNvSpPr/>
            <p:nvPr/>
          </p:nvSpPr>
          <p:spPr>
            <a:xfrm>
              <a:off x="8778240"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lock 111 · atas"/>
            <p:cNvSpPr/>
            <p:nvPr/>
          </p:nvSpPr>
          <p:spPr>
            <a:xfrm>
              <a:off x="8273804"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lock 120 · kiri"/>
            <p:cNvSpPr/>
            <p:nvPr/>
          </p:nvSpPr>
          <p:spPr>
            <a:xfrm>
              <a:off x="7719478" y="42807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lock 120 · kanan"/>
            <p:cNvSpPr/>
            <p:nvPr/>
          </p:nvSpPr>
          <p:spPr>
            <a:xfrm>
              <a:off x="8223914" y="428076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lock 120 · atas"/>
            <p:cNvSpPr/>
            <p:nvPr/>
          </p:nvSpPr>
          <p:spPr>
            <a:xfrm>
              <a:off x="7719478" y="398952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lock 201 · kiri"/>
            <p:cNvSpPr/>
            <p:nvPr/>
          </p:nvSpPr>
          <p:spPr>
            <a:xfrm>
              <a:off x="9382455"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lock 201 · kanan"/>
            <p:cNvSpPr/>
            <p:nvPr/>
          </p:nvSpPr>
          <p:spPr>
            <a:xfrm>
              <a:off x="9886891"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lock 201 · atas"/>
            <p:cNvSpPr/>
            <p:nvPr/>
          </p:nvSpPr>
          <p:spPr>
            <a:xfrm>
              <a:off x="9382455"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lock 210 · kiri"/>
            <p:cNvSpPr/>
            <p:nvPr/>
          </p:nvSpPr>
          <p:spPr>
            <a:xfrm>
              <a:off x="8828129" y="428076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lock 210 · kanan"/>
            <p:cNvSpPr/>
            <p:nvPr/>
          </p:nvSpPr>
          <p:spPr>
            <a:xfrm>
              <a:off x="9332566" y="42807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lock 210 · atas"/>
            <p:cNvSpPr/>
            <p:nvPr/>
          </p:nvSpPr>
          <p:spPr>
            <a:xfrm>
              <a:off x="8828129" y="398952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loating panel 2 · kiri"/>
            <p:cNvSpPr/>
            <p:nvPr/>
          </p:nvSpPr>
          <p:spPr>
            <a:xfrm>
              <a:off x="11660733" y="4392778"/>
              <a:ext cx="886921" cy="691286"/>
            </a:xfrm>
            <a:custGeom>
              <a:avLst/>
              <a:gdLst/>
              <a:ahLst/>
              <a:cxnLst/>
              <a:rect l="l" t="t" r="r" b="b"/>
              <a:pathLst>
                <a:path w="886921" h="691286">
                  <a:moveTo>
                    <a:pt x="0" y="179222"/>
                  </a:moveTo>
                  <a:lnTo>
                    <a:pt x="886921" y="691286"/>
                  </a:lnTo>
                  <a:lnTo>
                    <a:pt x="886921" y="512064"/>
                  </a:lnTo>
                  <a:lnTo>
                    <a:pt x="0" y="0"/>
                  </a:lnTo>
                  <a:close/>
                </a:path>
              </a:pathLst>
            </a:custGeom>
            <a:solidFill>
              <a:srgbClr val="121022"/>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loating panel 2 · kanan"/>
            <p:cNvSpPr/>
            <p:nvPr/>
          </p:nvSpPr>
          <p:spPr>
            <a:xfrm>
              <a:off x="12547654" y="4488790"/>
              <a:ext cx="720623" cy="595274"/>
            </a:xfrm>
            <a:custGeom>
              <a:avLst/>
              <a:gdLst/>
              <a:ahLst/>
              <a:cxnLst/>
              <a:rect l="l" t="t" r="r" b="b"/>
              <a:pathLst>
                <a:path w="720623" h="595274">
                  <a:moveTo>
                    <a:pt x="720623" y="179222"/>
                  </a:moveTo>
                  <a:lnTo>
                    <a:pt x="0" y="595274"/>
                  </a:lnTo>
                  <a:lnTo>
                    <a:pt x="0" y="416052"/>
                  </a:lnTo>
                  <a:lnTo>
                    <a:pt x="720623" y="0"/>
                  </a:lnTo>
                  <a:close/>
                </a:path>
              </a:pathLst>
            </a:custGeom>
            <a:solidFill>
              <a:srgbClr val="1B1830"/>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loating panel 2 · atas"/>
            <p:cNvSpPr/>
            <p:nvPr/>
          </p:nvSpPr>
          <p:spPr>
            <a:xfrm>
              <a:off x="11660733" y="3976726"/>
              <a:ext cx="1607544" cy="928116"/>
            </a:xfrm>
            <a:custGeom>
              <a:avLst/>
              <a:gdLst/>
              <a:ahLst/>
              <a:cxnLst/>
              <a:rect l="l" t="t" r="r" b="b"/>
              <a:pathLst>
                <a:path w="1607544" h="928116">
                  <a:moveTo>
                    <a:pt x="720623" y="0"/>
                  </a:moveTo>
                  <a:lnTo>
                    <a:pt x="1607544" y="512064"/>
                  </a:lnTo>
                  <a:lnTo>
                    <a:pt x="886921" y="928116"/>
                  </a:lnTo>
                  <a:lnTo>
                    <a:pt x="0" y="416052"/>
                  </a:lnTo>
                  <a:close/>
                </a:path>
              </a:pathLst>
            </a:custGeom>
            <a:solidFill>
              <a:srgbClr val="2E2A48"/>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lock 022 · kiri"/>
            <p:cNvSpPr/>
            <p:nvPr/>
          </p:nvSpPr>
          <p:spPr>
            <a:xfrm>
              <a:off x="7165153"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lock 022 · kanan"/>
            <p:cNvSpPr/>
            <p:nvPr/>
          </p:nvSpPr>
          <p:spPr>
            <a:xfrm>
              <a:off x="7669589"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lock 022 · atas"/>
            <p:cNvSpPr/>
            <p:nvPr/>
          </p:nvSpPr>
          <p:spPr>
            <a:xfrm>
              <a:off x="7165153"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lock 112 · kiri"/>
            <p:cNvSpPr/>
            <p:nvPr/>
          </p:nvSpPr>
          <p:spPr>
            <a:xfrm>
              <a:off x="8273804"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lock 112 · kanan"/>
            <p:cNvSpPr/>
            <p:nvPr/>
          </p:nvSpPr>
          <p:spPr>
            <a:xfrm>
              <a:off x="8778240"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lock 112 · atas"/>
            <p:cNvSpPr/>
            <p:nvPr/>
          </p:nvSpPr>
          <p:spPr>
            <a:xfrm>
              <a:off x="8273804"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lock 121 · kiri"/>
            <p:cNvSpPr/>
            <p:nvPr/>
          </p:nvSpPr>
          <p:spPr>
            <a:xfrm>
              <a:off x="7719478" y="36406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lock 121 · kanan"/>
            <p:cNvSpPr/>
            <p:nvPr/>
          </p:nvSpPr>
          <p:spPr>
            <a:xfrm>
              <a:off x="8223914" y="364068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lock 121 · atas"/>
            <p:cNvSpPr/>
            <p:nvPr/>
          </p:nvSpPr>
          <p:spPr>
            <a:xfrm>
              <a:off x="7719478" y="334944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lock 202 · kiri"/>
            <p:cNvSpPr/>
            <p:nvPr/>
          </p:nvSpPr>
          <p:spPr>
            <a:xfrm>
              <a:off x="9382455"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lock 202 · kanan"/>
            <p:cNvSpPr/>
            <p:nvPr/>
          </p:nvSpPr>
          <p:spPr>
            <a:xfrm>
              <a:off x="9886891"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lock 202 · atas"/>
            <p:cNvSpPr/>
            <p:nvPr/>
          </p:nvSpPr>
          <p:spPr>
            <a:xfrm>
              <a:off x="9382455"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lock 211 · kiri"/>
            <p:cNvSpPr/>
            <p:nvPr/>
          </p:nvSpPr>
          <p:spPr>
            <a:xfrm>
              <a:off x="8828129" y="364068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lock 211 · kanan"/>
            <p:cNvSpPr/>
            <p:nvPr/>
          </p:nvSpPr>
          <p:spPr>
            <a:xfrm>
              <a:off x="9332566" y="36406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lock 211 · atas"/>
            <p:cNvSpPr/>
            <p:nvPr/>
          </p:nvSpPr>
          <p:spPr>
            <a:xfrm>
              <a:off x="8828129" y="334944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lock 220 · kiri"/>
            <p:cNvSpPr/>
            <p:nvPr/>
          </p:nvSpPr>
          <p:spPr>
            <a:xfrm>
              <a:off x="8273804" y="460080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lock 220 · kanan"/>
            <p:cNvSpPr/>
            <p:nvPr/>
          </p:nvSpPr>
          <p:spPr>
            <a:xfrm>
              <a:off x="8778240" y="460080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lock 220 · atas"/>
            <p:cNvSpPr/>
            <p:nvPr/>
          </p:nvSpPr>
          <p:spPr>
            <a:xfrm>
              <a:off x="8273804" y="430956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lock 221 · kiri"/>
            <p:cNvSpPr/>
            <p:nvPr/>
          </p:nvSpPr>
          <p:spPr>
            <a:xfrm>
              <a:off x="8273804"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lock 221 · kanan"/>
            <p:cNvSpPr/>
            <p:nvPr/>
          </p:nvSpPr>
          <p:spPr>
            <a:xfrm>
              <a:off x="8778240"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lock 221 · atas"/>
            <p:cNvSpPr/>
            <p:nvPr/>
          </p:nvSpPr>
          <p:spPr>
            <a:xfrm>
              <a:off x="8273804"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loating block · sealed · kiri"/>
            <p:cNvSpPr/>
            <p:nvPr/>
          </p:nvSpPr>
          <p:spPr>
            <a:xfrm>
              <a:off x="10108621" y="3931920"/>
              <a:ext cx="498893" cy="864108"/>
            </a:xfrm>
            <a:custGeom>
              <a:avLst/>
              <a:gdLst/>
              <a:ahLst/>
              <a:cxnLst/>
              <a:rect l="l" t="t" r="r" b="b"/>
              <a:pathLst>
                <a:path w="498893" h="864108">
                  <a:moveTo>
                    <a:pt x="0" y="576072"/>
                  </a:moveTo>
                  <a:lnTo>
                    <a:pt x="498893" y="864108"/>
                  </a:lnTo>
                  <a:lnTo>
                    <a:pt x="498893" y="2880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loating block · sealed · kanan"/>
            <p:cNvSpPr/>
            <p:nvPr/>
          </p:nvSpPr>
          <p:spPr>
            <a:xfrm>
              <a:off x="10607514" y="3931920"/>
              <a:ext cx="498893" cy="864108"/>
            </a:xfrm>
            <a:custGeom>
              <a:avLst/>
              <a:gdLst/>
              <a:ahLst/>
              <a:cxnLst/>
              <a:rect l="l" t="t" r="r" b="b"/>
              <a:pathLst>
                <a:path w="498893" h="864108">
                  <a:moveTo>
                    <a:pt x="498893" y="576072"/>
                  </a:moveTo>
                  <a:lnTo>
                    <a:pt x="0" y="864108"/>
                  </a:lnTo>
                  <a:lnTo>
                    <a:pt x="0" y="288036"/>
                  </a:lnTo>
                  <a:lnTo>
                    <a:pt x="498893"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loating block · sealed · atas"/>
            <p:cNvSpPr/>
            <p:nvPr/>
          </p:nvSpPr>
          <p:spPr>
            <a:xfrm>
              <a:off x="10108621" y="3643884"/>
              <a:ext cx="997786" cy="576072"/>
            </a:xfrm>
            <a:custGeom>
              <a:avLst/>
              <a:gdLst/>
              <a:ahLst/>
              <a:cxnLst/>
              <a:rect l="l" t="t" r="r" b="b"/>
              <a:pathLst>
                <a:path w="997786" h="576072">
                  <a:moveTo>
                    <a:pt x="498893" y="0"/>
                  </a:moveTo>
                  <a:lnTo>
                    <a:pt x="997786" y="288036"/>
                  </a:lnTo>
                  <a:lnTo>
                    <a:pt x="498893" y="576072"/>
                  </a:lnTo>
                  <a:lnTo>
                    <a:pt x="0" y="288036"/>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loating block · opened · kiri"/>
            <p:cNvSpPr/>
            <p:nvPr/>
          </p:nvSpPr>
          <p:spPr>
            <a:xfrm>
              <a:off x="8279347" y="1371600"/>
              <a:ext cx="498893" cy="864108"/>
            </a:xfrm>
            <a:custGeom>
              <a:avLst/>
              <a:gdLst/>
              <a:ahLst/>
              <a:cxnLst/>
              <a:rect l="l" t="t" r="r" b="b"/>
              <a:pathLst>
                <a:path w="498893" h="864108">
                  <a:moveTo>
                    <a:pt x="0" y="576072"/>
                  </a:moveTo>
                  <a:lnTo>
                    <a:pt x="498893" y="864108"/>
                  </a:lnTo>
                  <a:lnTo>
                    <a:pt x="498893" y="2880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loating block · opened · kanan"/>
            <p:cNvSpPr/>
            <p:nvPr/>
          </p:nvSpPr>
          <p:spPr>
            <a:xfrm>
              <a:off x="8778240" y="1371600"/>
              <a:ext cx="498893" cy="864108"/>
            </a:xfrm>
            <a:custGeom>
              <a:avLst/>
              <a:gdLst/>
              <a:ahLst/>
              <a:cxnLst/>
              <a:rect l="l" t="t" r="r" b="b"/>
              <a:pathLst>
                <a:path w="498893" h="864108">
                  <a:moveTo>
                    <a:pt x="498893" y="576072"/>
                  </a:moveTo>
                  <a:lnTo>
                    <a:pt x="0" y="864108"/>
                  </a:lnTo>
                  <a:lnTo>
                    <a:pt x="0" y="288036"/>
                  </a:lnTo>
                  <a:lnTo>
                    <a:pt x="498893"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loating block · opened · atas"/>
            <p:cNvSpPr/>
            <p:nvPr/>
          </p:nvSpPr>
          <p:spPr>
            <a:xfrm>
              <a:off x="8279347" y="1083564"/>
              <a:ext cx="997786" cy="576072"/>
            </a:xfrm>
            <a:custGeom>
              <a:avLst/>
              <a:gdLst/>
              <a:ahLst/>
              <a:cxnLst/>
              <a:rect l="l" t="t" r="r" b="b"/>
              <a:pathLst>
                <a:path w="997786" h="576072">
                  <a:moveTo>
                    <a:pt x="498893" y="0"/>
                  </a:moveTo>
                  <a:lnTo>
                    <a:pt x="997786" y="288036"/>
                  </a:lnTo>
                  <a:lnTo>
                    <a:pt x="498893" y="576072"/>
                  </a:lnTo>
                  <a:lnTo>
                    <a:pt x="0" y="2880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rbit"/>
            <p:cNvSpPr/>
            <p:nvPr/>
          </p:nvSpPr>
          <p:spPr>
            <a:xfrm>
              <a:off x="5172140" y="2842061"/>
              <a:ext cx="7212200" cy="4163966"/>
            </a:xfrm>
            <a:custGeom>
              <a:avLst/>
              <a:gdLst/>
              <a:ahLst/>
              <a:cxnLst/>
              <a:rect l="l" t="t" r="r" b="b"/>
              <a:pathLst>
                <a:path w="7212200" h="4163966">
                  <a:moveTo>
                    <a:pt x="6155997" y="3554167"/>
                  </a:moveTo>
                  <a:lnTo>
                    <a:pt x="5924056" y="3676874"/>
                  </a:lnTo>
                  <a:lnTo>
                    <a:pt x="5674474" y="3787443"/>
                  </a:lnTo>
                  <a:lnTo>
                    <a:pt x="5409150" y="3885033"/>
                  </a:lnTo>
                  <a:lnTo>
                    <a:pt x="5130104" y="3968900"/>
                  </a:lnTo>
                  <a:lnTo>
                    <a:pt x="4839459" y="4038407"/>
                  </a:lnTo>
                  <a:lnTo>
                    <a:pt x="4539427" y="4093024"/>
                  </a:lnTo>
                  <a:lnTo>
                    <a:pt x="4232293" y="4132336"/>
                  </a:lnTo>
                  <a:lnTo>
                    <a:pt x="3920392" y="4156043"/>
                  </a:lnTo>
                  <a:lnTo>
                    <a:pt x="3606100" y="4163966"/>
                  </a:lnTo>
                  <a:lnTo>
                    <a:pt x="3291808" y="4156043"/>
                  </a:lnTo>
                  <a:lnTo>
                    <a:pt x="2979907" y="4132336"/>
                  </a:lnTo>
                  <a:lnTo>
                    <a:pt x="2672773" y="4093024"/>
                  </a:lnTo>
                  <a:lnTo>
                    <a:pt x="2372741" y="4038407"/>
                  </a:lnTo>
                  <a:lnTo>
                    <a:pt x="2082096" y="3968900"/>
                  </a:lnTo>
                  <a:lnTo>
                    <a:pt x="1803050" y="3885033"/>
                  </a:lnTo>
                  <a:lnTo>
                    <a:pt x="1537726" y="3787443"/>
                  </a:lnTo>
                  <a:lnTo>
                    <a:pt x="1288144" y="3676874"/>
                  </a:lnTo>
                  <a:lnTo>
                    <a:pt x="1056203" y="3554167"/>
                  </a:lnTo>
                  <a:lnTo>
                    <a:pt x="843667" y="3420256"/>
                  </a:lnTo>
                  <a:lnTo>
                    <a:pt x="652156" y="3276159"/>
                  </a:lnTo>
                  <a:lnTo>
                    <a:pt x="483126" y="3122974"/>
                  </a:lnTo>
                  <a:lnTo>
                    <a:pt x="337864" y="2961867"/>
                  </a:lnTo>
                  <a:lnTo>
                    <a:pt x="217475" y="2794063"/>
                  </a:lnTo>
                  <a:lnTo>
                    <a:pt x="122875" y="2620840"/>
                  </a:lnTo>
                  <a:lnTo>
                    <a:pt x="54785" y="2443515"/>
                  </a:lnTo>
                  <a:lnTo>
                    <a:pt x="13723" y="2263440"/>
                  </a:lnTo>
                  <a:lnTo>
                    <a:pt x="0" y="2081983"/>
                  </a:lnTo>
                  <a:lnTo>
                    <a:pt x="13723" y="1900526"/>
                  </a:lnTo>
                  <a:lnTo>
                    <a:pt x="54785" y="1720451"/>
                  </a:lnTo>
                  <a:lnTo>
                    <a:pt x="122875" y="1543126"/>
                  </a:lnTo>
                  <a:lnTo>
                    <a:pt x="217475" y="1369903"/>
                  </a:lnTo>
                  <a:lnTo>
                    <a:pt x="337864" y="1202099"/>
                  </a:lnTo>
                  <a:lnTo>
                    <a:pt x="483126" y="1040992"/>
                  </a:lnTo>
                  <a:lnTo>
                    <a:pt x="652156" y="887807"/>
                  </a:lnTo>
                  <a:lnTo>
                    <a:pt x="843667" y="743710"/>
                  </a:lnTo>
                  <a:lnTo>
                    <a:pt x="1056203" y="609799"/>
                  </a:lnTo>
                  <a:lnTo>
                    <a:pt x="1288144" y="487092"/>
                  </a:lnTo>
                  <a:lnTo>
                    <a:pt x="1537726" y="376523"/>
                  </a:lnTo>
                  <a:lnTo>
                    <a:pt x="1803050" y="278933"/>
                  </a:lnTo>
                  <a:lnTo>
                    <a:pt x="2082096" y="195066"/>
                  </a:lnTo>
                  <a:lnTo>
                    <a:pt x="2372741" y="125559"/>
                  </a:lnTo>
                  <a:lnTo>
                    <a:pt x="2672773" y="70942"/>
                  </a:lnTo>
                  <a:lnTo>
                    <a:pt x="2979907" y="31630"/>
                  </a:lnTo>
                  <a:lnTo>
                    <a:pt x="3291808" y="7923"/>
                  </a:lnTo>
                  <a:lnTo>
                    <a:pt x="3606100" y="0"/>
                  </a:lnTo>
                  <a:lnTo>
                    <a:pt x="3920392" y="7923"/>
                  </a:lnTo>
                  <a:lnTo>
                    <a:pt x="4232293" y="31630"/>
                  </a:lnTo>
                  <a:lnTo>
                    <a:pt x="4539427" y="70942"/>
                  </a:lnTo>
                  <a:lnTo>
                    <a:pt x="4839459" y="125559"/>
                  </a:lnTo>
                  <a:lnTo>
                    <a:pt x="5130104" y="195066"/>
                  </a:lnTo>
                  <a:lnTo>
                    <a:pt x="5409150" y="278933"/>
                  </a:lnTo>
                  <a:lnTo>
                    <a:pt x="5674474" y="376523"/>
                  </a:lnTo>
                  <a:lnTo>
                    <a:pt x="5924056" y="487092"/>
                  </a:lnTo>
                  <a:lnTo>
                    <a:pt x="6155997" y="609799"/>
                  </a:lnTo>
                  <a:lnTo>
                    <a:pt x="6368533" y="743710"/>
                  </a:lnTo>
                  <a:lnTo>
                    <a:pt x="6560044" y="887807"/>
                  </a:lnTo>
                  <a:lnTo>
                    <a:pt x="6729074" y="1040992"/>
                  </a:lnTo>
                  <a:lnTo>
                    <a:pt x="6874336" y="1202099"/>
                  </a:lnTo>
                  <a:lnTo>
                    <a:pt x="6994725" y="1369903"/>
                  </a:lnTo>
                  <a:lnTo>
                    <a:pt x="7089325" y="1543126"/>
                  </a:lnTo>
                  <a:lnTo>
                    <a:pt x="7157415" y="1720451"/>
                  </a:lnTo>
                  <a:lnTo>
                    <a:pt x="7198477" y="1900526"/>
                  </a:lnTo>
                  <a:lnTo>
                    <a:pt x="7212200" y="2081983"/>
                  </a:lnTo>
                  <a:lnTo>
                    <a:pt x="7198477" y="2263440"/>
                  </a:lnTo>
                  <a:lnTo>
                    <a:pt x="7157415" y="2443515"/>
                  </a:lnTo>
                  <a:lnTo>
                    <a:pt x="7089325" y="2620840"/>
                  </a:lnTo>
                  <a:lnTo>
                    <a:pt x="6994725" y="2794063"/>
                  </a:lnTo>
                  <a:lnTo>
                    <a:pt x="6874336" y="2961867"/>
                  </a:lnTo>
                  <a:lnTo>
                    <a:pt x="6729074" y="3122974"/>
                  </a:lnTo>
                  <a:lnTo>
                    <a:pt x="6560044" y="3276159"/>
                  </a:lnTo>
                  <a:lnTo>
                    <a:pt x="6368533" y="3420256"/>
                  </a:lnTo>
                  <a:close/>
                </a:path>
              </a:pathLst>
            </a:custGeom>
            <a:noFill/>
            <a:ln w="11430" cap="rnd">
              <a:solidFill>
                <a:srgbClr val="9D86FF">
                  <a:alpha val="4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rbit outer"/>
            <p:cNvSpPr/>
            <p:nvPr/>
          </p:nvSpPr>
          <p:spPr>
            <a:xfrm>
              <a:off x="4388206" y="2389457"/>
              <a:ext cx="8780068" cy="5069174"/>
            </a:xfrm>
            <a:custGeom>
              <a:avLst/>
              <a:gdLst/>
              <a:ahLst/>
              <a:cxnLst/>
              <a:rect l="l" t="t" r="r" b="b"/>
              <a:pathLst>
                <a:path w="8780068" h="5069174">
                  <a:moveTo>
                    <a:pt x="7494257" y="4326811"/>
                  </a:moveTo>
                  <a:lnTo>
                    <a:pt x="7211894" y="4476194"/>
                  </a:lnTo>
                  <a:lnTo>
                    <a:pt x="6908054" y="4610800"/>
                  </a:lnTo>
                  <a:lnTo>
                    <a:pt x="6585051" y="4729604"/>
                  </a:lnTo>
                  <a:lnTo>
                    <a:pt x="6245343" y="4831703"/>
                  </a:lnTo>
                  <a:lnTo>
                    <a:pt x="5891514" y="4916320"/>
                  </a:lnTo>
                  <a:lnTo>
                    <a:pt x="5526258" y="4982811"/>
                  </a:lnTo>
                  <a:lnTo>
                    <a:pt x="5152355" y="5030668"/>
                  </a:lnTo>
                  <a:lnTo>
                    <a:pt x="4772651" y="5059530"/>
                  </a:lnTo>
                  <a:lnTo>
                    <a:pt x="4390034" y="5069174"/>
                  </a:lnTo>
                  <a:lnTo>
                    <a:pt x="4007417" y="5059530"/>
                  </a:lnTo>
                  <a:lnTo>
                    <a:pt x="3627713" y="5030668"/>
                  </a:lnTo>
                  <a:lnTo>
                    <a:pt x="3253810" y="4982811"/>
                  </a:lnTo>
                  <a:lnTo>
                    <a:pt x="2888554" y="4916320"/>
                  </a:lnTo>
                  <a:lnTo>
                    <a:pt x="2534725" y="4831703"/>
                  </a:lnTo>
                  <a:lnTo>
                    <a:pt x="2195017" y="4729604"/>
                  </a:lnTo>
                  <a:lnTo>
                    <a:pt x="1872014" y="4610800"/>
                  </a:lnTo>
                  <a:lnTo>
                    <a:pt x="1568174" y="4476194"/>
                  </a:lnTo>
                  <a:lnTo>
                    <a:pt x="1285811" y="4326811"/>
                  </a:lnTo>
                  <a:lnTo>
                    <a:pt x="1027073" y="4163788"/>
                  </a:lnTo>
                  <a:lnTo>
                    <a:pt x="793928" y="3988367"/>
                  </a:lnTo>
                  <a:lnTo>
                    <a:pt x="588153" y="3801881"/>
                  </a:lnTo>
                  <a:lnTo>
                    <a:pt x="411312" y="3605750"/>
                  </a:lnTo>
                  <a:lnTo>
                    <a:pt x="264751" y="3401467"/>
                  </a:lnTo>
                  <a:lnTo>
                    <a:pt x="149586" y="3190587"/>
                  </a:lnTo>
                  <a:lnTo>
                    <a:pt x="66694" y="2974713"/>
                  </a:lnTo>
                  <a:lnTo>
                    <a:pt x="16705" y="2755491"/>
                  </a:lnTo>
                  <a:lnTo>
                    <a:pt x="0" y="2534587"/>
                  </a:lnTo>
                  <a:lnTo>
                    <a:pt x="16705" y="2313683"/>
                  </a:lnTo>
                  <a:lnTo>
                    <a:pt x="66694" y="2094461"/>
                  </a:lnTo>
                  <a:lnTo>
                    <a:pt x="149586" y="1878587"/>
                  </a:lnTo>
                  <a:lnTo>
                    <a:pt x="264751" y="1667707"/>
                  </a:lnTo>
                  <a:lnTo>
                    <a:pt x="411312" y="1463424"/>
                  </a:lnTo>
                  <a:lnTo>
                    <a:pt x="588153" y="1267293"/>
                  </a:lnTo>
                  <a:lnTo>
                    <a:pt x="793928" y="1080807"/>
                  </a:lnTo>
                  <a:lnTo>
                    <a:pt x="1027073" y="905386"/>
                  </a:lnTo>
                  <a:lnTo>
                    <a:pt x="1285811" y="742363"/>
                  </a:lnTo>
                  <a:lnTo>
                    <a:pt x="1568174" y="592980"/>
                  </a:lnTo>
                  <a:lnTo>
                    <a:pt x="1872014" y="458374"/>
                  </a:lnTo>
                  <a:lnTo>
                    <a:pt x="2195017" y="339570"/>
                  </a:lnTo>
                  <a:lnTo>
                    <a:pt x="2534725" y="237471"/>
                  </a:lnTo>
                  <a:lnTo>
                    <a:pt x="2888554" y="152854"/>
                  </a:lnTo>
                  <a:lnTo>
                    <a:pt x="3253810" y="86363"/>
                  </a:lnTo>
                  <a:lnTo>
                    <a:pt x="3627713" y="38506"/>
                  </a:lnTo>
                  <a:lnTo>
                    <a:pt x="4007417" y="9644"/>
                  </a:lnTo>
                  <a:lnTo>
                    <a:pt x="4390034" y="0"/>
                  </a:lnTo>
                  <a:lnTo>
                    <a:pt x="4772651" y="9644"/>
                  </a:lnTo>
                  <a:lnTo>
                    <a:pt x="5152355" y="38506"/>
                  </a:lnTo>
                  <a:lnTo>
                    <a:pt x="5526258" y="86363"/>
                  </a:lnTo>
                  <a:lnTo>
                    <a:pt x="5891514" y="152854"/>
                  </a:lnTo>
                  <a:lnTo>
                    <a:pt x="6245343" y="237471"/>
                  </a:lnTo>
                  <a:lnTo>
                    <a:pt x="6585051" y="339570"/>
                  </a:lnTo>
                  <a:lnTo>
                    <a:pt x="6908054" y="458374"/>
                  </a:lnTo>
                  <a:lnTo>
                    <a:pt x="7211894" y="592980"/>
                  </a:lnTo>
                  <a:lnTo>
                    <a:pt x="7494257" y="742363"/>
                  </a:lnTo>
                  <a:lnTo>
                    <a:pt x="7752995" y="905386"/>
                  </a:lnTo>
                  <a:lnTo>
                    <a:pt x="7986140" y="1080807"/>
                  </a:lnTo>
                  <a:lnTo>
                    <a:pt x="8191915" y="1267293"/>
                  </a:lnTo>
                  <a:lnTo>
                    <a:pt x="8368756" y="1463424"/>
                  </a:lnTo>
                  <a:lnTo>
                    <a:pt x="8515317" y="1667707"/>
                  </a:lnTo>
                  <a:lnTo>
                    <a:pt x="8630482" y="1878587"/>
                  </a:lnTo>
                  <a:lnTo>
                    <a:pt x="8713374" y="2094461"/>
                  </a:lnTo>
                  <a:lnTo>
                    <a:pt x="8763363" y="2313683"/>
                  </a:lnTo>
                  <a:lnTo>
                    <a:pt x="8780068" y="2534587"/>
                  </a:lnTo>
                  <a:lnTo>
                    <a:pt x="8763363" y="2755491"/>
                  </a:lnTo>
                  <a:lnTo>
                    <a:pt x="8713374" y="2974713"/>
                  </a:lnTo>
                  <a:lnTo>
                    <a:pt x="8630482" y="3190587"/>
                  </a:lnTo>
                  <a:lnTo>
                    <a:pt x="8515317" y="3401467"/>
                  </a:lnTo>
                  <a:lnTo>
                    <a:pt x="8368756" y="3605750"/>
                  </a:lnTo>
                  <a:lnTo>
                    <a:pt x="8191915" y="3801881"/>
                  </a:lnTo>
                  <a:lnTo>
                    <a:pt x="7986140" y="3988367"/>
                  </a:lnTo>
                  <a:lnTo>
                    <a:pt x="7752995" y="4163788"/>
                  </a:lnTo>
                  <a:close/>
                </a:path>
              </a:pathLst>
            </a:custGeom>
            <a:noFill/>
            <a:ln w="9525" cap="rnd">
              <a:solidFill>
                <a:srgbClr val="C9BDF2">
                  <a:alpha val="18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Spark"/>
            <p:cNvSpPr/>
            <p:nvPr/>
          </p:nvSpPr>
          <p:spPr>
            <a:xfrm>
              <a:off x="6041012" y="2913259"/>
              <a:ext cx="41148" cy="41148"/>
            </a:xfrm>
            <a:prstGeom prst="ellipse">
              <a:avLst/>
            </a:prstGeom>
            <a:solidFill>
              <a:srgbClr val="C9BDF2">
                <a:alpha val="6195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park"/>
            <p:cNvSpPr/>
            <p:nvPr/>
          </p:nvSpPr>
          <p:spPr>
            <a:xfrm>
              <a:off x="9505372" y="3627871"/>
              <a:ext cx="41148" cy="41148"/>
            </a:xfrm>
            <a:prstGeom prst="ellipse">
              <a:avLst/>
            </a:prstGeom>
            <a:solidFill>
              <a:srgbClr val="C9BDF2">
                <a:alpha val="2668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Spark"/>
            <p:cNvSpPr/>
            <p:nvPr/>
          </p:nvSpPr>
          <p:spPr>
            <a:xfrm>
              <a:off x="6257347" y="3907976"/>
              <a:ext cx="54864" cy="54864"/>
            </a:xfrm>
            <a:prstGeom prst="ellipse">
              <a:avLst/>
            </a:prstGeom>
            <a:solidFill>
              <a:srgbClr val="C9BDF2">
                <a:alpha val="2766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park"/>
            <p:cNvSpPr/>
            <p:nvPr/>
          </p:nvSpPr>
          <p:spPr>
            <a:xfrm>
              <a:off x="7031065" y="-74755"/>
              <a:ext cx="32004" cy="32004"/>
            </a:xfrm>
            <a:prstGeom prst="ellipse">
              <a:avLst/>
            </a:prstGeom>
            <a:solidFill>
              <a:srgbClr val="C9BDF2">
                <a:alpha val="6764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Spark"/>
            <p:cNvSpPr/>
            <p:nvPr/>
          </p:nvSpPr>
          <p:spPr>
            <a:xfrm>
              <a:off x="7737522" y="-714508"/>
              <a:ext cx="41148" cy="41148"/>
            </a:xfrm>
            <a:prstGeom prst="ellipse">
              <a:avLst/>
            </a:prstGeom>
            <a:solidFill>
              <a:srgbClr val="C9BDF2">
                <a:alpha val="5005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park"/>
            <p:cNvSpPr/>
            <p:nvPr/>
          </p:nvSpPr>
          <p:spPr>
            <a:xfrm>
              <a:off x="8582835" y="4819541"/>
              <a:ext cx="32004" cy="32004"/>
            </a:xfrm>
            <a:prstGeom prst="ellipse">
              <a:avLst/>
            </a:prstGeom>
            <a:solidFill>
              <a:srgbClr val="C9BDF2">
                <a:alpha val="38882"/>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Spark"/>
            <p:cNvSpPr/>
            <p:nvPr/>
          </p:nvSpPr>
          <p:spPr>
            <a:xfrm>
              <a:off x="11497427" y="2040518"/>
              <a:ext cx="32004" cy="32004"/>
            </a:xfrm>
            <a:prstGeom prst="ellipse">
              <a:avLst/>
            </a:prstGeom>
            <a:solidFill>
              <a:srgbClr val="C9BDF2">
                <a:alpha val="33454"/>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park"/>
            <p:cNvSpPr/>
            <p:nvPr/>
          </p:nvSpPr>
          <p:spPr>
            <a:xfrm>
              <a:off x="9483273" y="5095937"/>
              <a:ext cx="32004" cy="32004"/>
            </a:xfrm>
            <a:prstGeom prst="ellipse">
              <a:avLst/>
            </a:prstGeom>
            <a:solidFill>
              <a:srgbClr val="C9BDF2">
                <a:alpha val="34268"/>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Spark"/>
            <p:cNvSpPr/>
            <p:nvPr/>
          </p:nvSpPr>
          <p:spPr>
            <a:xfrm>
              <a:off x="9960938" y="1738525"/>
              <a:ext cx="32004" cy="32004"/>
            </a:xfrm>
            <a:prstGeom prst="ellipse">
              <a:avLst/>
            </a:prstGeom>
            <a:solidFill>
              <a:srgbClr val="C9BDF2">
                <a:alpha val="6655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park"/>
            <p:cNvSpPr/>
            <p:nvPr/>
          </p:nvSpPr>
          <p:spPr>
            <a:xfrm>
              <a:off x="5675809" y="4290443"/>
              <a:ext cx="41148" cy="41148"/>
            </a:xfrm>
            <a:prstGeom prst="ellipse">
              <a:avLst/>
            </a:prstGeom>
            <a:solidFill>
              <a:srgbClr val="C9BDF2">
                <a:alpha val="28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Spark"/>
            <p:cNvSpPr/>
            <p:nvPr/>
          </p:nvSpPr>
          <p:spPr>
            <a:xfrm>
              <a:off x="5475528" y="4485238"/>
              <a:ext cx="54864" cy="54864"/>
            </a:xfrm>
            <a:prstGeom prst="ellipse">
              <a:avLst/>
            </a:prstGeom>
            <a:solidFill>
              <a:srgbClr val="C9BDF2">
                <a:alpha val="3795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park"/>
            <p:cNvSpPr/>
            <p:nvPr/>
          </p:nvSpPr>
          <p:spPr>
            <a:xfrm>
              <a:off x="10950507" y="4235681"/>
              <a:ext cx="54864" cy="54864"/>
            </a:xfrm>
            <a:prstGeom prst="ellipse">
              <a:avLst/>
            </a:prstGeom>
            <a:solidFill>
              <a:srgbClr val="C9BDF2">
                <a:alpha val="3183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Spark"/>
            <p:cNvSpPr/>
            <p:nvPr/>
          </p:nvSpPr>
          <p:spPr>
            <a:xfrm>
              <a:off x="6800186" y="1345655"/>
              <a:ext cx="32004" cy="32004"/>
            </a:xfrm>
            <a:prstGeom prst="ellipse">
              <a:avLst/>
            </a:prstGeom>
            <a:solidFill>
              <a:srgbClr val="C9BDF2">
                <a:alpha val="50786"/>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park"/>
            <p:cNvSpPr/>
            <p:nvPr/>
          </p:nvSpPr>
          <p:spPr>
            <a:xfrm>
              <a:off x="12008687" y="2236398"/>
              <a:ext cx="32004" cy="32004"/>
            </a:xfrm>
            <a:prstGeom prst="ellipse">
              <a:avLst/>
            </a:prstGeom>
            <a:solidFill>
              <a:srgbClr val="C9BDF2">
                <a:alpha val="4735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5" name="Kicker"/>
          <p:cNvSpPr txBox="1"/>
          <p:nvPr/>
        </p:nvSpPr>
        <p:spPr>
          <a:xfrm>
            <a:off x="594360" y="640080"/>
            <a:ext cx="5760720" cy="256032"/>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BNB CHAIN · TESTNET · PAPER ONLY</a:t>
            </a:r>
          </a:p>
        </p:txBody>
      </p:sp>
      <p:sp>
        <p:nvSpPr>
          <p:cNvPr id="136" name="Hook"/>
          <p:cNvSpPr txBox="1"/>
          <p:nvPr/>
        </p:nvSpPr>
        <p:spPr>
          <a:xfrm>
            <a:off x="594360" y="2697480"/>
            <a:ext cx="5760720" cy="1188720"/>
          </a:xfrm>
          <a:prstGeom prst="rect">
            <a:avLst/>
          </a:prstGeom>
          <a:noFill/>
        </p:spPr>
        <p:txBody>
          <a:bodyPr wrap="square" lIns="0" rIns="0" tIns="0" bIns="0" anchor="t">
            <a:noAutofit/>
          </a:bodyPr>
          <a:lstStyle/>
          <a:p>
            <a:pPr algn="l">
              <a:lnSpc>
                <a:spcPct val="105000"/>
              </a:lnSpc>
              <a:spcBef>
                <a:spcPts val="0"/>
              </a:spcBef>
              <a:spcAft>
                <a:spcPts val="0"/>
              </a:spcAft>
            </a:pPr>
            <a:r>
              <a:rPr sz="3400" b="0" i="0" lang="en-US">
                <a:solidFill>
                  <a:srgbClr val="ECE8FA"/>
                </a:solidFill>
                <a:latin typeface="Archivo" pitchFamily="34" charset="0"/>
              </a:rPr>
              <a:t>Signals sealed</a:t>
            </a:r>
            <a:br>
              <a:rPr sz="3400"/>
            </a:br>
            <a:r>
              <a:rPr sz="3400" b="1" i="1" lang="en-US">
                <a:solidFill>
                  <a:srgbClr val="9D86FF"/>
                </a:solidFill>
                <a:latin typeface="Archivo" pitchFamily="34" charset="0"/>
              </a:rPr>
              <a:t>before the outcome.</a:t>
            </a:r>
          </a:p>
        </p:txBody>
      </p:sp>
      <p:sp>
        <p:nvSpPr>
          <p:cNvPr id="137" name="Tagline"/>
          <p:cNvSpPr txBox="1"/>
          <p:nvPr/>
        </p:nvSpPr>
        <p:spPr>
          <a:xfrm>
            <a:off x="594360" y="4023360"/>
            <a:ext cx="5486400" cy="1097280"/>
          </a:xfrm>
          <a:prstGeom prst="rect">
            <a:avLst/>
          </a:prstGeom>
          <a:noFill/>
        </p:spPr>
        <p:txBody>
          <a:bodyPr wrap="square" lIns="0" rIns="0" tIns="0" bIns="0" anchor="t">
            <a:noAutofit/>
          </a:bodyPr>
          <a:lstStyle/>
          <a:p>
            <a:pPr algn="l">
              <a:lnSpc>
                <a:spcPct val="130000"/>
              </a:lnSpc>
              <a:spcBef>
                <a:spcPts val="0"/>
              </a:spcBef>
              <a:spcAft>
                <a:spcPts val="0"/>
              </a:spcAft>
            </a:pPr>
            <a:r>
              <a:rPr sz="1800" b="0" i="0" lang="en-US">
                <a:solidFill>
                  <a:srgbClr val="C9BDF2"/>
                </a:solidFill>
                <a:latin typeface="Inter" pitchFamily="34" charset="0"/>
              </a:rPr>
              <a:t>Plug in your bot or agent, prove every call</a:t>
            </a:r>
            <a:br>
              <a:rPr sz="1800"/>
            </a:br>
            <a:r>
              <a:rPr sz="1800" b="0" i="0" lang="en-US">
                <a:solidFill>
                  <a:srgbClr val="C9BDF2"/>
                </a:solidFill>
                <a:latin typeface="Inter" pitchFamily="34" charset="0"/>
              </a:rPr>
              <a:t>on-chain, sell it to humans and AI via x402 + MCP.</a:t>
            </a:r>
          </a:p>
        </p:txBody>
      </p:sp>
      <p:sp>
        <p:nvSpPr>
          <p:cNvPr id="138" name="Chip · Live on BNB testnet"/>
          <p:cNvSpPr/>
          <p:nvPr/>
        </p:nvSpPr>
        <p:spPr>
          <a:xfrm>
            <a:off x="594360" y="5349240"/>
            <a:ext cx="2344166"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hip dot"/>
          <p:cNvSpPr/>
          <p:nvPr/>
        </p:nvSpPr>
        <p:spPr>
          <a:xfrm>
            <a:off x="731520" y="5442966"/>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Chip text"/>
          <p:cNvSpPr txBox="1"/>
          <p:nvPr/>
        </p:nvSpPr>
        <p:spPr>
          <a:xfrm>
            <a:off x="914400" y="5349240"/>
            <a:ext cx="1886966"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FFFFFF"/>
                </a:solidFill>
                <a:latin typeface="JetBrains Mono" pitchFamily="49" charset="0"/>
              </a:rPr>
              <a:t>LIVE ON BNB TESTNET</a:t>
            </a:r>
          </a:p>
        </p:txBody>
      </p:sp>
      <p:sp>
        <p:nvSpPr>
          <p:cNvPr id="141" name="Chip · Paper money, no real funds"/>
          <p:cNvSpPr/>
          <p:nvPr/>
        </p:nvSpPr>
        <p:spPr>
          <a:xfrm>
            <a:off x="3048254" y="5349240"/>
            <a:ext cx="303936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Chip dot"/>
          <p:cNvSpPr/>
          <p:nvPr/>
        </p:nvSpPr>
        <p:spPr>
          <a:xfrm>
            <a:off x="3185414" y="544296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hip text"/>
          <p:cNvSpPr txBox="1"/>
          <p:nvPr/>
        </p:nvSpPr>
        <p:spPr>
          <a:xfrm>
            <a:off x="3368294" y="5349240"/>
            <a:ext cx="2582164"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ECE8FA"/>
                </a:solidFill>
                <a:latin typeface="JetBrains Mono" pitchFamily="49" charset="0"/>
              </a:rPr>
              <a:t>PAPER MONEY, NO REAL FUNDS</a:t>
            </a:r>
          </a:p>
        </p:txBody>
      </p:sp>
      <p:sp>
        <p:nvSpPr>
          <p:cNvPr id="144" name="Chip · Verify: no key, no gas"/>
          <p:cNvSpPr/>
          <p:nvPr/>
        </p:nvSpPr>
        <p:spPr>
          <a:xfrm>
            <a:off x="6197346" y="5349240"/>
            <a:ext cx="2642108"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Chip dot"/>
          <p:cNvSpPr/>
          <p:nvPr/>
        </p:nvSpPr>
        <p:spPr>
          <a:xfrm>
            <a:off x="6334506" y="544296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Chip text"/>
          <p:cNvSpPr txBox="1"/>
          <p:nvPr/>
        </p:nvSpPr>
        <p:spPr>
          <a:xfrm>
            <a:off x="6517386" y="5349240"/>
            <a:ext cx="2184908"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ECE8FA"/>
                </a:solidFill>
                <a:latin typeface="JetBrains Mono" pitchFamily="49" charset="0"/>
              </a:rPr>
              <a:t>VERIFY: NO KEY, NO GAS</a:t>
            </a:r>
          </a:p>
        </p:txBody>
      </p:sp>
      <p:sp>
        <p:nvSpPr>
          <p:cNvPr id="147" name="URL"/>
          <p:cNvSpPr txBox="1"/>
          <p:nvPr/>
        </p:nvSpPr>
        <p:spPr>
          <a:xfrm>
            <a:off x="594360" y="5833872"/>
            <a:ext cx="5486400" cy="237744"/>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8B86A6"/>
                </a:solidFill>
                <a:latin typeface="JetBrains Mono" pitchFamily="49" charset="0"/>
              </a:rPr>
              <a:t>fabius-one.vercel.app</a:t>
            </a:r>
          </a:p>
        </p:txBody>
      </p:sp>
      <p:sp>
        <p:nvSpPr>
          <p:cNvPr id="148" name="Live line"/>
          <p:cNvSpPr txBox="1"/>
          <p:nvPr/>
        </p:nvSpPr>
        <p:spPr>
          <a:xfrm>
            <a:off x="6400800" y="5833872"/>
            <a:ext cx="5212080" cy="237744"/>
          </a:xfrm>
          <a:prstGeom prst="rect">
            <a:avLst/>
          </a:prstGeom>
          <a:noFill/>
        </p:spPr>
        <p:txBody>
          <a:bodyPr wrap="square" lIns="0" rIns="0" tIns="0" bIns="0" anchor="t">
            <a:noAutofit/>
          </a:bodyPr>
          <a:lstStyle/>
          <a:p>
            <a:pPr algn="r">
              <a:lnSpc>
                <a:spcPct val="120000"/>
              </a:lnSpc>
              <a:spcBef>
                <a:spcPts val="0"/>
              </a:spcBef>
              <a:spcAft>
                <a:spcPts val="0"/>
              </a:spcAft>
            </a:pPr>
            <a:r>
              <a:rPr sz="1100" b="0" i="0" lang="en-US" spc="120">
                <a:solidFill>
                  <a:srgbClr val="8B86A6"/>
                </a:solidFill>
                <a:latin typeface="JetBrains Mono" pitchFamily="49" charset="0"/>
              </a:rPr>
              <a:t>LIVE FROM CHAIN 97 · #135,379,370</a:t>
            </a:r>
          </a:p>
        </p:txBody>
      </p:sp>
      <p:sp>
        <p:nvSpPr>
          <p:cNvPr id="149"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50"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ECE8FA"/>
            </a:gs>
            <a:gs pos="100000">
              <a:srgbClr val="F6F4FD"/>
            </a:gs>
          </a:gsLst>
          <a:lin ang="5400000" scaled="0"/>
        </a:gradFill>
        <a:effectLst/>
      </p:bgPr>
    </p:bg>
    <p:spTree>
      <p:nvGrpSpPr>
        <p:cNvPr id="1" name=""/>
        <p:cNvGrpSpPr/>
        <p:nvPr/>
      </p:nvGrpSpPr>
      <p:grpSpPr/>
      <p:sp>
        <p:nvSpPr>
          <p:cNvPr id="2" name="Title"/>
          <p:cNvSpPr>
            <a:spLocks noGrp="1"/>
          </p:cNvSpPr>
          <p:nvPr>
            <p:ph type="title"/>
          </p:nvPr>
        </p:nvSpPr>
        <p:spPr>
          <a:xfrm>
            <a:off x="594360" y="960120"/>
            <a:ext cx="5257800" cy="2011680"/>
          </a:xfrm>
        </p:spPr>
        <p:txBody>
          <a:bodyPr wrap="square" lIns="0" rIns="0" tIns="0" bIns="0" anchor="t">
            <a:noAutofit/>
          </a:bodyPr>
          <a:lstStyle/>
          <a:p>
            <a:pPr algn="l">
              <a:lnSpc>
                <a:spcPct val="102000"/>
              </a:lnSpc>
              <a:spcBef>
                <a:spcPts val="0"/>
              </a:spcBef>
              <a:spcAft>
                <a:spcPts val="0"/>
              </a:spcAft>
            </a:pPr>
            <a:r>
              <a:rPr sz="4200" b="0" i="0" lang="en-US">
                <a:solidFill>
                  <a:srgbClr val="15122B"/>
                </a:solidFill>
                <a:latin typeface="Archivo" pitchFamily="34" charset="0"/>
              </a:rPr>
              <a:t>Every track record is written </a:t>
            </a:r>
            <a:r>
              <a:rPr sz="4200" b="1" i="1" lang="en-US">
                <a:solidFill>
                  <a:srgbClr val="6E4BFF"/>
                </a:solidFill>
                <a:latin typeface="Archivo" pitchFamily="34" charset="0"/>
              </a:rPr>
              <a:t>after</a:t>
            </a:r>
            <a:r>
              <a:rPr sz="4200" b="0" i="0" lang="en-US">
                <a:solidFill>
                  <a:srgbClr val="15122B"/>
                </a:solidFill>
                <a:latin typeface="Archivo" pitchFamily="34" charset="0"/>
              </a:rPr>
              <a:t> the move</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6E4BFF"/>
                </a:solidFill>
                <a:latin typeface="JetBrains Mono" pitchFamily="49" charset="0"/>
              </a:rPr>
              <a:t>01 — THE PROBLEM</a:t>
            </a:r>
          </a:p>
        </p:txBody>
      </p:sp>
      <p:sp>
        <p:nvSpPr>
          <p:cNvPr id="7" name="Lead"/>
          <p:cNvSpPr txBox="1"/>
          <p:nvPr/>
        </p:nvSpPr>
        <p:spPr>
          <a:xfrm>
            <a:off x="594360" y="3108960"/>
            <a:ext cx="4800600" cy="2286000"/>
          </a:xfrm>
          <a:prstGeom prst="rect">
            <a:avLst/>
          </a:prstGeom>
          <a:noFill/>
        </p:spPr>
        <p:txBody>
          <a:bodyPr wrap="square" lIns="0" rIns="0" tIns="0" bIns="0" anchor="t">
            <a:noAutofit/>
          </a:bodyPr>
          <a:lstStyle/>
          <a:p>
            <a:pPr algn="l">
              <a:lnSpc>
                <a:spcPct val="130000"/>
              </a:lnSpc>
              <a:spcBef>
                <a:spcPts val="0"/>
              </a:spcBef>
              <a:spcAft>
                <a:spcPts val="1000"/>
              </a:spcAft>
            </a:pPr>
            <a:r>
              <a:rPr sz="1800" b="0" i="0" lang="en-US">
                <a:solidFill>
                  <a:srgbClr val="5B5680"/>
                </a:solidFill>
                <a:latin typeface="Inter" pitchFamily="34" charset="0"/>
              </a:rPr>
              <a:t>A screenshot of profit. A curated history. A backtest with no costs.</a:t>
            </a:r>
          </a:p>
          <a:p>
            <a:pPr algn="l">
              <a:lnSpc>
                <a:spcPct val="130000"/>
              </a:lnSpc>
              <a:spcBef>
                <a:spcPts val="0"/>
              </a:spcBef>
              <a:spcAft>
                <a:spcPts val="0"/>
              </a:spcAft>
            </a:pPr>
            <a:r>
              <a:rPr sz="1800" b="0" i="0" lang="en-US">
                <a:solidFill>
                  <a:srgbClr val="5B5680"/>
                </a:solidFill>
                <a:latin typeface="Inter" pitchFamily="34" charset="0"/>
              </a:rPr>
              <a:t>Bots and signal sellers show you the result once the market has already answered.</a:t>
            </a:r>
          </a:p>
        </p:txBody>
      </p:sp>
      <p:sp>
        <p:nvSpPr>
          <p:cNvPr id="8" name="Closing"/>
          <p:cNvSpPr txBox="1"/>
          <p:nvPr/>
        </p:nvSpPr>
        <p:spPr>
          <a:xfrm>
            <a:off x="594360" y="5349240"/>
            <a:ext cx="4937760" cy="822960"/>
          </a:xfrm>
          <a:prstGeom prst="rect">
            <a:avLst/>
          </a:prstGeom>
          <a:noFill/>
        </p:spPr>
        <p:txBody>
          <a:bodyPr wrap="square" lIns="0" rIns="0" tIns="0" bIns="0" anchor="t">
            <a:noAutofit/>
          </a:bodyPr>
          <a:lstStyle/>
          <a:p>
            <a:pPr algn="l">
              <a:lnSpc>
                <a:spcPct val="120000"/>
              </a:lnSpc>
              <a:spcBef>
                <a:spcPts val="0"/>
              </a:spcBef>
              <a:spcAft>
                <a:spcPts val="0"/>
              </a:spcAft>
            </a:pPr>
            <a:r>
              <a:rPr sz="1900" b="1" i="0" lang="en-US">
                <a:solidFill>
                  <a:srgbClr val="15122B"/>
                </a:solidFill>
                <a:latin typeface="Archivo" pitchFamily="34" charset="0"/>
              </a:rPr>
              <a:t>A buyer can check none of it. </a:t>
            </a:r>
            <a:r>
              <a:rPr sz="1900" b="1" i="1" lang="en-US">
                <a:solidFill>
                  <a:srgbClr val="6E4BFF"/>
                </a:solidFill>
                <a:latin typeface="Archivo" pitchFamily="34" charset="0"/>
              </a:rPr>
              <a:t>Trust is the whole product.</a:t>
            </a:r>
          </a:p>
        </p:txBody>
      </p:sp>
      <p:sp>
        <p:nvSpPr>
          <p:cNvPr id="9" name="Screenshot card"/>
          <p:cNvSpPr/>
          <p:nvPr/>
        </p:nvSpPr>
        <p:spPr>
          <a:xfrm>
            <a:off x="5989320" y="868680"/>
            <a:ext cx="5577840" cy="2514600"/>
          </a:xfrm>
          <a:prstGeom prst="roundRect">
            <a:avLst>
              <a:gd name="adj" fmla="val 10181"/>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hown label"/>
          <p:cNvSpPr txBox="1"/>
          <p:nvPr/>
        </p:nvSpPr>
        <p:spPr>
          <a:xfrm>
            <a:off x="6263640" y="1088136"/>
            <a:ext cx="3657600"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WHAT YOU ARE SHOWN</a:t>
            </a:r>
          </a:p>
        </p:txBody>
      </p:sp>
      <p:sp>
        <p:nvSpPr>
          <p:cNvPr id="11" name="Chip · AFTER THE MOVE"/>
          <p:cNvSpPr/>
          <p:nvPr/>
        </p:nvSpPr>
        <p:spPr>
          <a:xfrm>
            <a:off x="9875520" y="1051560"/>
            <a:ext cx="1554480" cy="256032"/>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ip text"/>
          <p:cNvSpPr txBox="1"/>
          <p:nvPr/>
        </p:nvSpPr>
        <p:spPr>
          <a:xfrm>
            <a:off x="10012680" y="1051560"/>
            <a:ext cx="12801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5B5680"/>
                </a:solidFill>
                <a:latin typeface="JetBrains Mono" pitchFamily="49" charset="0"/>
              </a:rPr>
              <a:t>AFTER THE MOVE</a:t>
            </a:r>
          </a:p>
        </p:txBody>
      </p:sp>
      <p:sp>
        <p:nvSpPr>
          <p:cNvPr id="13" name="Grid"/>
          <p:cNvSpPr/>
          <p:nvPr/>
        </p:nvSpPr>
        <p:spPr>
          <a:xfrm>
            <a:off x="6309360" y="1801368"/>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rid"/>
          <p:cNvSpPr/>
          <p:nvPr/>
        </p:nvSpPr>
        <p:spPr>
          <a:xfrm>
            <a:off x="6309360" y="2171700"/>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rid"/>
          <p:cNvSpPr/>
          <p:nvPr/>
        </p:nvSpPr>
        <p:spPr>
          <a:xfrm>
            <a:off x="6309360" y="2542032"/>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quity curve (stylised)"/>
          <p:cNvSpPr/>
          <p:nvPr/>
        </p:nvSpPr>
        <p:spPr>
          <a:xfrm>
            <a:off x="6309360" y="1675742"/>
            <a:ext cx="4937760" cy="972205"/>
          </a:xfrm>
          <a:custGeom>
            <a:avLst/>
            <a:gdLst/>
            <a:ahLst/>
            <a:cxnLst/>
            <a:rect l="l" t="t" r="r" b="b"/>
            <a:pathLst>
              <a:path w="4937760" h="972205">
                <a:moveTo>
                  <a:pt x="0" y="960930"/>
                </a:moveTo>
                <a:lnTo>
                  <a:pt x="182880" y="958901"/>
                </a:lnTo>
                <a:lnTo>
                  <a:pt x="365760" y="972205"/>
                </a:lnTo>
                <a:lnTo>
                  <a:pt x="548640" y="912592"/>
                </a:lnTo>
                <a:lnTo>
                  <a:pt x="731520" y="892578"/>
                </a:lnTo>
                <a:lnTo>
                  <a:pt x="914400" y="873359"/>
                </a:lnTo>
                <a:lnTo>
                  <a:pt x="1097280" y="813219"/>
                </a:lnTo>
                <a:lnTo>
                  <a:pt x="1280160" y="810360"/>
                </a:lnTo>
                <a:lnTo>
                  <a:pt x="1463040" y="788893"/>
                </a:lnTo>
                <a:lnTo>
                  <a:pt x="1645920" y="769330"/>
                </a:lnTo>
                <a:lnTo>
                  <a:pt x="1828800" y="681973"/>
                </a:lnTo>
                <a:lnTo>
                  <a:pt x="2011680" y="663647"/>
                </a:lnTo>
                <a:lnTo>
                  <a:pt x="2194560" y="612196"/>
                </a:lnTo>
                <a:lnTo>
                  <a:pt x="2377440" y="628976"/>
                </a:lnTo>
                <a:lnTo>
                  <a:pt x="2560320" y="582429"/>
                </a:lnTo>
                <a:lnTo>
                  <a:pt x="2743200" y="496598"/>
                </a:lnTo>
                <a:lnTo>
                  <a:pt x="2926080" y="524204"/>
                </a:lnTo>
                <a:lnTo>
                  <a:pt x="3108960" y="482000"/>
                </a:lnTo>
                <a:lnTo>
                  <a:pt x="3291840" y="418703"/>
                </a:lnTo>
                <a:lnTo>
                  <a:pt x="3474720" y="373766"/>
                </a:lnTo>
                <a:lnTo>
                  <a:pt x="3657600" y="299909"/>
                </a:lnTo>
                <a:lnTo>
                  <a:pt x="3840480" y="247080"/>
                </a:lnTo>
                <a:lnTo>
                  <a:pt x="4023360" y="236610"/>
                </a:lnTo>
                <a:lnTo>
                  <a:pt x="4206240" y="161258"/>
                </a:lnTo>
                <a:lnTo>
                  <a:pt x="4389120" y="124101"/>
                </a:lnTo>
                <a:lnTo>
                  <a:pt x="4572000" y="81095"/>
                </a:lnTo>
                <a:lnTo>
                  <a:pt x="4754880" y="21135"/>
                </a:lnTo>
                <a:lnTo>
                  <a:pt x="4937760" y="0"/>
                </a:lnTo>
              </a:path>
            </a:pathLst>
          </a:custGeom>
          <a:noFill/>
          <a:ln w="31750" cap="rnd">
            <a:solidFill>
              <a:srgbClr val="6E4BFF">
                <a:alpha val="95000"/>
              </a:srgbClr>
            </a:solidFill>
            <a:round/>
          </a:ln>
          <a:effectLst>
            <a:glow rad="63500">
              <a:srgbClr val="6E4B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urve end"/>
          <p:cNvSpPr/>
          <p:nvPr/>
        </p:nvSpPr>
        <p:spPr>
          <a:xfrm>
            <a:off x="11169396" y="1598018"/>
            <a:ext cx="155448" cy="155448"/>
          </a:xfrm>
          <a:prstGeom prst="ellipse">
            <a:avLst/>
          </a:prstGeom>
          <a:solidFill>
            <a:srgbClr val="6E4BFF"/>
          </a:solidFill>
          <a:ln w="9525" cap="rnd">
            <a:noFill/>
          </a:ln>
          <a:effectLst>
            <a:glow rad="1016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own caption"/>
          <p:cNvSpPr txBox="1"/>
          <p:nvPr/>
        </p:nvSpPr>
        <p:spPr>
          <a:xfrm>
            <a:off x="6263640" y="2962656"/>
            <a:ext cx="5029200" cy="256032"/>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5B5680"/>
                </a:solidFill>
                <a:latin typeface="JetBrains Mono" pitchFamily="49" charset="0"/>
              </a:rPr>
              <a:t>screenshot · posted after the fact</a:t>
            </a:r>
          </a:p>
        </p:txBody>
      </p:sp>
      <p:sp>
        <p:nvSpPr>
          <p:cNvPr id="19" name="Hole card 1"/>
          <p:cNvSpPr/>
          <p:nvPr/>
        </p:nvSpPr>
        <p:spPr>
          <a:xfrm>
            <a:off x="5989320" y="36576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Hole icon 1"/>
          <p:cNvGrpSpPr/>
          <p:nvPr/>
        </p:nvGrpSpPr>
        <p:grpSpPr>
          <a:xfrm>
            <a:off x="0" y="0"/>
            <a:ext cx="0" cy="0"/>
            <a:chOff x="0" y="0"/>
            <a:chExt cx="0" cy="0"/>
          </a:xfrm>
        </p:grpSpPr>
        <p:sp>
          <p:nvSpPr>
            <p:cNvPr id="21" name="Missing block · kiri"/>
            <p:cNvSpPr/>
            <p:nvPr/>
          </p:nvSpPr>
          <p:spPr>
            <a:xfrm>
              <a:off x="6342437" y="39410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issing block · kanan"/>
            <p:cNvSpPr/>
            <p:nvPr/>
          </p:nvSpPr>
          <p:spPr>
            <a:xfrm>
              <a:off x="6556248" y="39410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issing block · atas"/>
            <p:cNvSpPr/>
            <p:nvPr/>
          </p:nvSpPr>
          <p:spPr>
            <a:xfrm>
              <a:off x="6342437" y="38176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rack"/>
            <p:cNvSpPr/>
            <p:nvPr/>
          </p:nvSpPr>
          <p:spPr>
            <a:xfrm>
              <a:off x="6443291" y="38916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5" name="Hole title 1"/>
          <p:cNvSpPr txBox="1"/>
          <p:nvPr/>
        </p:nvSpPr>
        <p:spPr>
          <a:xfrm>
            <a:off x="7040880" y="37673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Deleted signals</a:t>
            </a:r>
          </a:p>
        </p:txBody>
      </p:sp>
      <p:sp>
        <p:nvSpPr>
          <p:cNvPr id="26" name="Hole text 1"/>
          <p:cNvSpPr txBox="1"/>
          <p:nvPr/>
        </p:nvSpPr>
        <p:spPr>
          <a:xfrm>
            <a:off x="7040880" y="40690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The losing calls quietly disappear.</a:t>
            </a:r>
          </a:p>
        </p:txBody>
      </p:sp>
      <p:sp>
        <p:nvSpPr>
          <p:cNvPr id="27" name="Hole card 2"/>
          <p:cNvSpPr/>
          <p:nvPr/>
        </p:nvSpPr>
        <p:spPr>
          <a:xfrm>
            <a:off x="5989320" y="45720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Hole icon 2"/>
          <p:cNvGrpSpPr/>
          <p:nvPr/>
        </p:nvGrpSpPr>
        <p:grpSpPr>
          <a:xfrm>
            <a:off x="0" y="0"/>
            <a:ext cx="0" cy="0"/>
            <a:chOff x="0" y="0"/>
            <a:chExt cx="0" cy="0"/>
          </a:xfrm>
        </p:grpSpPr>
        <p:sp>
          <p:nvSpPr>
            <p:cNvPr id="29" name="Missing block · kiri"/>
            <p:cNvSpPr/>
            <p:nvPr/>
          </p:nvSpPr>
          <p:spPr>
            <a:xfrm>
              <a:off x="6342437" y="48554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issing block · kanan"/>
            <p:cNvSpPr/>
            <p:nvPr/>
          </p:nvSpPr>
          <p:spPr>
            <a:xfrm>
              <a:off x="6556248" y="48554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issing block · atas"/>
            <p:cNvSpPr/>
            <p:nvPr/>
          </p:nvSpPr>
          <p:spPr>
            <a:xfrm>
              <a:off x="6342437" y="47320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rack"/>
            <p:cNvSpPr/>
            <p:nvPr/>
          </p:nvSpPr>
          <p:spPr>
            <a:xfrm>
              <a:off x="6443291" y="48060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3" name="Hole title 2"/>
          <p:cNvSpPr txBox="1"/>
          <p:nvPr/>
        </p:nvSpPr>
        <p:spPr>
          <a:xfrm>
            <a:off x="7040880" y="46817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Edited rules</a:t>
            </a:r>
          </a:p>
        </p:txBody>
      </p:sp>
      <p:sp>
        <p:nvSpPr>
          <p:cNvPr id="34" name="Hole text 2"/>
          <p:cNvSpPr txBox="1"/>
          <p:nvPr/>
        </p:nvSpPr>
        <p:spPr>
          <a:xfrm>
            <a:off x="7040880" y="49834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The strategy is fitted to the data afterwards.</a:t>
            </a:r>
          </a:p>
        </p:txBody>
      </p:sp>
      <p:sp>
        <p:nvSpPr>
          <p:cNvPr id="35" name="Hole card 3"/>
          <p:cNvSpPr/>
          <p:nvPr/>
        </p:nvSpPr>
        <p:spPr>
          <a:xfrm>
            <a:off x="5989320" y="54864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6" name="Hole icon 3"/>
          <p:cNvGrpSpPr/>
          <p:nvPr/>
        </p:nvGrpSpPr>
        <p:grpSpPr>
          <a:xfrm>
            <a:off x="0" y="0"/>
            <a:ext cx="0" cy="0"/>
            <a:chOff x="0" y="0"/>
            <a:chExt cx="0" cy="0"/>
          </a:xfrm>
        </p:grpSpPr>
        <p:sp>
          <p:nvSpPr>
            <p:cNvPr id="37" name="Missing block · kiri"/>
            <p:cNvSpPr/>
            <p:nvPr/>
          </p:nvSpPr>
          <p:spPr>
            <a:xfrm>
              <a:off x="6342437" y="57698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Missing block · kanan"/>
            <p:cNvSpPr/>
            <p:nvPr/>
          </p:nvSpPr>
          <p:spPr>
            <a:xfrm>
              <a:off x="6556248" y="57698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Missing block · atas"/>
            <p:cNvSpPr/>
            <p:nvPr/>
          </p:nvSpPr>
          <p:spPr>
            <a:xfrm>
              <a:off x="6342437" y="56464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rack"/>
            <p:cNvSpPr/>
            <p:nvPr/>
          </p:nvSpPr>
          <p:spPr>
            <a:xfrm>
              <a:off x="6443291" y="57204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1" name="Hole title 3"/>
          <p:cNvSpPr txBox="1"/>
          <p:nvPr/>
        </p:nvSpPr>
        <p:spPr>
          <a:xfrm>
            <a:off x="7040880" y="55961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Back-dated calls</a:t>
            </a:r>
          </a:p>
        </p:txBody>
      </p:sp>
      <p:sp>
        <p:nvSpPr>
          <p:cNvPr id="42" name="Hole text 3"/>
          <p:cNvSpPr txBox="1"/>
          <p:nvPr/>
        </p:nvSpPr>
        <p:spPr>
          <a:xfrm>
            <a:off x="7040880" y="58978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Decided after the candle closed.</a:t>
            </a:r>
          </a:p>
        </p:txBody>
      </p:sp>
      <p:sp>
        <p:nvSpPr>
          <p:cNvPr id="43"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44"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ECE8FA"/>
            </a:gs>
            <a:gs pos="100000">
              <a:srgbClr val="F6F4FD"/>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241280" cy="1463040"/>
          </a:xfrm>
        </p:spPr>
        <p:txBody>
          <a:bodyPr wrap="square" lIns="0" rIns="0" tIns="0" bIns="0" anchor="t">
            <a:noAutofit/>
          </a:bodyPr>
          <a:lstStyle/>
          <a:p>
            <a:pPr algn="l">
              <a:lnSpc>
                <a:spcPct val="102000"/>
              </a:lnSpc>
              <a:spcBef>
                <a:spcPts val="0"/>
              </a:spcBef>
              <a:spcAft>
                <a:spcPts val="0"/>
              </a:spcAft>
            </a:pPr>
            <a:r>
              <a:rPr sz="3800" b="0" i="0" lang="en-US">
                <a:solidFill>
                  <a:srgbClr val="15122B"/>
                </a:solidFill>
                <a:latin typeface="Archivo" pitchFamily="34" charset="0"/>
              </a:rPr>
              <a:t>Agents can already pay each other.</a:t>
            </a:r>
            <a:br>
              <a:rPr sz="3800"/>
            </a:br>
            <a:r>
              <a:rPr sz="3800" b="1" i="1" lang="en-US">
                <a:solidFill>
                  <a:srgbClr val="6E4BFF"/>
                </a:solidFill>
                <a:latin typeface="Archivo" pitchFamily="34" charset="0"/>
              </a:rPr>
              <a:t>Money moves. Proof doesn't.</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6E4BFF"/>
                </a:solidFill>
                <a:latin typeface="JetBrains Mono" pitchFamily="49" charset="0"/>
              </a:rPr>
              <a:t>02 — THE GAP</a:t>
            </a:r>
          </a:p>
        </p:txBody>
      </p:sp>
      <p:grpSp>
        <p:nvGrpSpPr>
          <p:cNvPr id="7" name="Scene · broken bridge"/>
          <p:cNvGrpSpPr/>
          <p:nvPr/>
        </p:nvGrpSpPr>
        <p:grpSpPr>
          <a:xfrm>
            <a:off x="878832" y="2350008"/>
            <a:ext cx="10434031" cy="1987906"/>
            <a:chOff x="878832" y="2350008"/>
            <a:chExt cx="10434031" cy="1987906"/>
          </a:xfrm>
        </p:grpSpPr>
        <p:sp>
          <p:nvSpPr>
            <p:cNvPr id="8" name="Tower · agent A · kiri"/>
            <p:cNvSpPr/>
            <p:nvPr/>
          </p:nvSpPr>
          <p:spPr>
            <a:xfrm>
              <a:off x="878832" y="3054096"/>
              <a:ext cx="538488" cy="1152144"/>
            </a:xfrm>
            <a:custGeom>
              <a:avLst/>
              <a:gdLst/>
              <a:ahLst/>
              <a:cxnLst/>
              <a:rect l="l" t="t" r="r" b="b"/>
              <a:pathLst>
                <a:path w="538488" h="1152144">
                  <a:moveTo>
                    <a:pt x="0" y="841248"/>
                  </a:moveTo>
                  <a:lnTo>
                    <a:pt x="538488" y="1152144"/>
                  </a:lnTo>
                  <a:lnTo>
                    <a:pt x="538488" y="310896"/>
                  </a:lnTo>
                  <a:lnTo>
                    <a:pt x="0" y="0"/>
                  </a:lnTo>
                  <a:close/>
                </a:path>
              </a:pathLst>
            </a:custGeom>
            <a:solidFill>
              <a:srgbClr val="15122B"/>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ower · agent A · kanan"/>
            <p:cNvSpPr/>
            <p:nvPr/>
          </p:nvSpPr>
          <p:spPr>
            <a:xfrm>
              <a:off x="1417320" y="3054096"/>
              <a:ext cx="538488" cy="1152144"/>
            </a:xfrm>
            <a:custGeom>
              <a:avLst/>
              <a:gdLst/>
              <a:ahLst/>
              <a:cxnLst/>
              <a:rect l="l" t="t" r="r" b="b"/>
              <a:pathLst>
                <a:path w="538488" h="1152144">
                  <a:moveTo>
                    <a:pt x="538488" y="841248"/>
                  </a:moveTo>
                  <a:lnTo>
                    <a:pt x="0" y="1152144"/>
                  </a:lnTo>
                  <a:lnTo>
                    <a:pt x="0" y="310896"/>
                  </a:lnTo>
                  <a:lnTo>
                    <a:pt x="538488" y="0"/>
                  </a:lnTo>
                  <a:close/>
                </a:path>
              </a:pathLst>
            </a:custGeom>
            <a:solidFill>
              <a:srgbClr val="261F52"/>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ower · agent A · atas"/>
            <p:cNvSpPr/>
            <p:nvPr/>
          </p:nvSpPr>
          <p:spPr>
            <a:xfrm>
              <a:off x="878832" y="2743200"/>
              <a:ext cx="1076976" cy="621792"/>
            </a:xfrm>
            <a:custGeom>
              <a:avLst/>
              <a:gdLst/>
              <a:ahLst/>
              <a:cxnLst/>
              <a:rect l="l" t="t" r="r" b="b"/>
              <a:pathLst>
                <a:path w="1076976" h="621792">
                  <a:moveTo>
                    <a:pt x="538488" y="0"/>
                  </a:moveTo>
                  <a:lnTo>
                    <a:pt x="1076976" y="310896"/>
                  </a:lnTo>
                  <a:lnTo>
                    <a:pt x="538488" y="621792"/>
                  </a:lnTo>
                  <a:lnTo>
                    <a:pt x="0" y="310896"/>
                  </a:lnTo>
                  <a:close/>
                </a:path>
              </a:pathLst>
            </a:custGeom>
            <a:solidFill>
              <a:srgbClr val="3A3270"/>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ower · agent B · kiri"/>
            <p:cNvSpPr/>
            <p:nvPr/>
          </p:nvSpPr>
          <p:spPr>
            <a:xfrm>
              <a:off x="10235888" y="3054096"/>
              <a:ext cx="538487" cy="1152144"/>
            </a:xfrm>
            <a:custGeom>
              <a:avLst/>
              <a:gdLst/>
              <a:ahLst/>
              <a:cxnLst/>
              <a:rect l="l" t="t" r="r" b="b"/>
              <a:pathLst>
                <a:path w="538487" h="1152144">
                  <a:moveTo>
                    <a:pt x="0" y="841248"/>
                  </a:moveTo>
                  <a:lnTo>
                    <a:pt x="538487" y="1152144"/>
                  </a:lnTo>
                  <a:lnTo>
                    <a:pt x="538487" y="310896"/>
                  </a:lnTo>
                  <a:lnTo>
                    <a:pt x="0" y="0"/>
                  </a:lnTo>
                  <a:close/>
                </a:path>
              </a:pathLst>
            </a:custGeom>
            <a:solidFill>
              <a:srgbClr val="15122B"/>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wer · agent B · kanan"/>
            <p:cNvSpPr/>
            <p:nvPr/>
          </p:nvSpPr>
          <p:spPr>
            <a:xfrm>
              <a:off x="10774375" y="3054096"/>
              <a:ext cx="538488" cy="1152144"/>
            </a:xfrm>
            <a:custGeom>
              <a:avLst/>
              <a:gdLst/>
              <a:ahLst/>
              <a:cxnLst/>
              <a:rect l="l" t="t" r="r" b="b"/>
              <a:pathLst>
                <a:path w="538488" h="1152144">
                  <a:moveTo>
                    <a:pt x="538488" y="841248"/>
                  </a:moveTo>
                  <a:lnTo>
                    <a:pt x="0" y="1152144"/>
                  </a:lnTo>
                  <a:lnTo>
                    <a:pt x="0" y="310896"/>
                  </a:lnTo>
                  <a:lnTo>
                    <a:pt x="538488" y="0"/>
                  </a:lnTo>
                  <a:close/>
                </a:path>
              </a:pathLst>
            </a:custGeom>
            <a:solidFill>
              <a:srgbClr val="261F52"/>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ower · agent B · atas"/>
            <p:cNvSpPr/>
            <p:nvPr/>
          </p:nvSpPr>
          <p:spPr>
            <a:xfrm>
              <a:off x="10235888" y="2743200"/>
              <a:ext cx="1076975" cy="621792"/>
            </a:xfrm>
            <a:custGeom>
              <a:avLst/>
              <a:gdLst/>
              <a:ahLst/>
              <a:cxnLst/>
              <a:rect l="l" t="t" r="r" b="b"/>
              <a:pathLst>
                <a:path w="1076975" h="621792">
                  <a:moveTo>
                    <a:pt x="538487" y="0"/>
                  </a:moveTo>
                  <a:lnTo>
                    <a:pt x="1076975" y="310896"/>
                  </a:lnTo>
                  <a:lnTo>
                    <a:pt x="538487" y="621792"/>
                  </a:lnTo>
                  <a:lnTo>
                    <a:pt x="0" y="310896"/>
                  </a:lnTo>
                  <a:close/>
                </a:path>
              </a:pathLst>
            </a:custGeom>
            <a:solidFill>
              <a:srgbClr val="3A3270"/>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pan 1 · kiri"/>
            <p:cNvSpPr/>
            <p:nvPr/>
          </p:nvSpPr>
          <p:spPr>
            <a:xfrm>
              <a:off x="2023626"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an 1 · kanan"/>
            <p:cNvSpPr/>
            <p:nvPr/>
          </p:nvSpPr>
          <p:spPr>
            <a:xfrm>
              <a:off x="2514600"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pan 1 · atas"/>
            <p:cNvSpPr/>
            <p:nvPr/>
          </p:nvSpPr>
          <p:spPr>
            <a:xfrm>
              <a:off x="2023626"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an 2 · kiri"/>
            <p:cNvSpPr/>
            <p:nvPr/>
          </p:nvSpPr>
          <p:spPr>
            <a:xfrm>
              <a:off x="3217375"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an 2 · kanan"/>
            <p:cNvSpPr/>
            <p:nvPr/>
          </p:nvSpPr>
          <p:spPr>
            <a:xfrm>
              <a:off x="3708349"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pan 2 · atas"/>
            <p:cNvSpPr/>
            <p:nvPr/>
          </p:nvSpPr>
          <p:spPr>
            <a:xfrm>
              <a:off x="3217375"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pan 3 · kiri"/>
            <p:cNvSpPr/>
            <p:nvPr/>
          </p:nvSpPr>
          <p:spPr>
            <a:xfrm>
              <a:off x="4411124"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pan 3 · kanan"/>
            <p:cNvSpPr/>
            <p:nvPr/>
          </p:nvSpPr>
          <p:spPr>
            <a:xfrm>
              <a:off x="4902098"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pan 3 · atas"/>
            <p:cNvSpPr/>
            <p:nvPr/>
          </p:nvSpPr>
          <p:spPr>
            <a:xfrm>
              <a:off x="4411124"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issing span · kiri"/>
            <p:cNvSpPr/>
            <p:nvPr/>
          </p:nvSpPr>
          <p:spPr>
            <a:xfrm>
              <a:off x="5604874"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issing span · kanan"/>
            <p:cNvSpPr/>
            <p:nvPr/>
          </p:nvSpPr>
          <p:spPr>
            <a:xfrm>
              <a:off x="6095848"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issing span · atas"/>
            <p:cNvSpPr/>
            <p:nvPr/>
          </p:nvSpPr>
          <p:spPr>
            <a:xfrm>
              <a:off x="5604874"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pan 5 · kiri"/>
            <p:cNvSpPr/>
            <p:nvPr/>
          </p:nvSpPr>
          <p:spPr>
            <a:xfrm>
              <a:off x="6798623"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pan 5 · kanan"/>
            <p:cNvSpPr/>
            <p:nvPr/>
          </p:nvSpPr>
          <p:spPr>
            <a:xfrm>
              <a:off x="7289597"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pan 5 · atas"/>
            <p:cNvSpPr/>
            <p:nvPr/>
          </p:nvSpPr>
          <p:spPr>
            <a:xfrm>
              <a:off x="6798623"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pan 6 · kiri"/>
            <p:cNvSpPr/>
            <p:nvPr/>
          </p:nvSpPr>
          <p:spPr>
            <a:xfrm>
              <a:off x="7992372"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pan 6 · kanan"/>
            <p:cNvSpPr/>
            <p:nvPr/>
          </p:nvSpPr>
          <p:spPr>
            <a:xfrm>
              <a:off x="8483346"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pan 6 · atas"/>
            <p:cNvSpPr/>
            <p:nvPr/>
          </p:nvSpPr>
          <p:spPr>
            <a:xfrm>
              <a:off x="7992372"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pan 7 · kiri"/>
            <p:cNvSpPr/>
            <p:nvPr/>
          </p:nvSpPr>
          <p:spPr>
            <a:xfrm>
              <a:off x="9186121"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pan 7 · kanan"/>
            <p:cNvSpPr/>
            <p:nvPr/>
          </p:nvSpPr>
          <p:spPr>
            <a:xfrm>
              <a:off x="9677095"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pan 7 · atas"/>
            <p:cNvSpPr/>
            <p:nvPr/>
          </p:nvSpPr>
          <p:spPr>
            <a:xfrm>
              <a:off x="9186121"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yment path"/>
            <p:cNvSpPr/>
            <p:nvPr/>
          </p:nvSpPr>
          <p:spPr>
            <a:xfrm>
              <a:off x="1600200" y="2350008"/>
              <a:ext cx="8991295" cy="457200"/>
            </a:xfrm>
            <a:custGeom>
              <a:avLst/>
              <a:gdLst/>
              <a:ahLst/>
              <a:cxnLst/>
              <a:rect l="l" t="t" r="r" b="b"/>
              <a:pathLst>
                <a:path w="8991295" h="457200">
                  <a:moveTo>
                    <a:pt x="0" y="457200"/>
                  </a:moveTo>
                  <a:lnTo>
                    <a:pt x="224782" y="412623"/>
                  </a:lnTo>
                  <a:lnTo>
                    <a:pt x="449565" y="370332"/>
                  </a:lnTo>
                  <a:lnTo>
                    <a:pt x="674347" y="330327"/>
                  </a:lnTo>
                  <a:lnTo>
                    <a:pt x="899130" y="292608"/>
                  </a:lnTo>
                  <a:lnTo>
                    <a:pt x="1123912" y="257175"/>
                  </a:lnTo>
                  <a:lnTo>
                    <a:pt x="1348694" y="224028"/>
                  </a:lnTo>
                  <a:lnTo>
                    <a:pt x="1573477" y="193167"/>
                  </a:lnTo>
                  <a:lnTo>
                    <a:pt x="1798259" y="164592"/>
                  </a:lnTo>
                  <a:lnTo>
                    <a:pt x="2023041" y="138303"/>
                  </a:lnTo>
                  <a:lnTo>
                    <a:pt x="2247824" y="114300"/>
                  </a:lnTo>
                  <a:lnTo>
                    <a:pt x="2472606" y="92583"/>
                  </a:lnTo>
                  <a:lnTo>
                    <a:pt x="2697389" y="73152"/>
                  </a:lnTo>
                  <a:lnTo>
                    <a:pt x="2922171" y="56007"/>
                  </a:lnTo>
                  <a:lnTo>
                    <a:pt x="3146953" y="41148"/>
                  </a:lnTo>
                  <a:lnTo>
                    <a:pt x="3371736" y="28575"/>
                  </a:lnTo>
                  <a:lnTo>
                    <a:pt x="3596518" y="18288"/>
                  </a:lnTo>
                  <a:lnTo>
                    <a:pt x="3821300" y="10287"/>
                  </a:lnTo>
                  <a:lnTo>
                    <a:pt x="4046083" y="4572"/>
                  </a:lnTo>
                  <a:lnTo>
                    <a:pt x="4270865" y="1143"/>
                  </a:lnTo>
                  <a:lnTo>
                    <a:pt x="4495648" y="0"/>
                  </a:lnTo>
                  <a:lnTo>
                    <a:pt x="4720430" y="1143"/>
                  </a:lnTo>
                  <a:lnTo>
                    <a:pt x="4945212" y="4572"/>
                  </a:lnTo>
                  <a:lnTo>
                    <a:pt x="5169995" y="10287"/>
                  </a:lnTo>
                  <a:lnTo>
                    <a:pt x="5394777" y="18288"/>
                  </a:lnTo>
                  <a:lnTo>
                    <a:pt x="5619559" y="28575"/>
                  </a:lnTo>
                  <a:lnTo>
                    <a:pt x="5844342" y="41148"/>
                  </a:lnTo>
                  <a:lnTo>
                    <a:pt x="6069124" y="56007"/>
                  </a:lnTo>
                  <a:lnTo>
                    <a:pt x="6293907" y="73152"/>
                  </a:lnTo>
                  <a:lnTo>
                    <a:pt x="6518689" y="92583"/>
                  </a:lnTo>
                  <a:lnTo>
                    <a:pt x="6743471" y="114300"/>
                  </a:lnTo>
                  <a:lnTo>
                    <a:pt x="6968254" y="138303"/>
                  </a:lnTo>
                  <a:lnTo>
                    <a:pt x="7193036" y="164592"/>
                  </a:lnTo>
                  <a:lnTo>
                    <a:pt x="7417819" y="193167"/>
                  </a:lnTo>
                  <a:lnTo>
                    <a:pt x="7642601" y="224028"/>
                  </a:lnTo>
                  <a:lnTo>
                    <a:pt x="7867383" y="257175"/>
                  </a:lnTo>
                  <a:lnTo>
                    <a:pt x="8092166" y="292608"/>
                  </a:lnTo>
                  <a:lnTo>
                    <a:pt x="8316948" y="330327"/>
                  </a:lnTo>
                  <a:lnTo>
                    <a:pt x="8541730" y="370332"/>
                  </a:lnTo>
                  <a:lnTo>
                    <a:pt x="8766513" y="412623"/>
                  </a:lnTo>
                  <a:lnTo>
                    <a:pt x="8991295" y="457200"/>
                  </a:lnTo>
                </a:path>
              </a:pathLst>
            </a:custGeom>
            <a:noFill/>
            <a:ln w="30480" cap="rnd">
              <a:solidFill>
                <a:srgbClr val="6E4BFF">
                  <a:alpha val="95000"/>
                </a:srgbClr>
              </a:solidFill>
              <a:round/>
              <a:tailEnd type="triangle" w="med" len="med"/>
            </a:ln>
            <a:effectLst>
              <a:glow rad="63500">
                <a:srgbClr val="6E4B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in"/>
            <p:cNvSpPr/>
            <p:nvPr/>
          </p:nvSpPr>
          <p:spPr>
            <a:xfrm>
              <a:off x="1399032" y="2606040"/>
              <a:ext cx="402336" cy="402336"/>
            </a:xfrm>
            <a:prstGeom prst="ellipse">
              <a:avLst/>
            </a:prstGeom>
            <a:solidFill>
              <a:srgbClr val="6E4BFF"/>
            </a:solidFill>
            <a:ln w="9525" cap="rnd">
              <a:noFill/>
            </a:ln>
            <a:effectLst>
              <a:glow rad="1016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of path (breaks)"/>
            <p:cNvSpPr/>
            <p:nvPr/>
          </p:nvSpPr>
          <p:spPr>
            <a:xfrm>
              <a:off x="2057400" y="3401568"/>
              <a:ext cx="4038448" cy="749808"/>
            </a:xfrm>
            <a:custGeom>
              <a:avLst/>
              <a:gdLst/>
              <a:ahLst/>
              <a:cxnLst/>
              <a:rect l="l" t="t" r="r" b="b"/>
              <a:pathLst>
                <a:path w="4038448" h="749808">
                  <a:moveTo>
                    <a:pt x="0" y="0"/>
                  </a:moveTo>
                  <a:lnTo>
                    <a:pt x="3489808" y="0"/>
                  </a:lnTo>
                  <a:lnTo>
                    <a:pt x="4038448" y="411480"/>
                  </a:lnTo>
                  <a:lnTo>
                    <a:pt x="4038448" y="749808"/>
                  </a:lnTo>
                </a:path>
              </a:pathLst>
            </a:custGeom>
            <a:noFill/>
            <a:ln w="21590" cap="rnd">
              <a:solidFill>
                <a:srgbClr val="FF5A6E">
                  <a:alpha val="9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7" name="Coin label"/>
          <p:cNvSpPr txBox="1"/>
          <p:nvPr/>
        </p:nvSpPr>
        <p:spPr>
          <a:xfrm>
            <a:off x="1325880" y="2670048"/>
            <a:ext cx="548640" cy="274320"/>
          </a:xfrm>
          <a:prstGeom prst="rect">
            <a:avLst/>
          </a:prstGeom>
          <a:noFill/>
        </p:spPr>
        <p:txBody>
          <a:bodyPr wrap="square" lIns="0" rIns="0" tIns="0" bIns="0" anchor="ctr">
            <a:noAutofit/>
          </a:bodyPr>
          <a:lstStyle/>
          <a:p>
            <a:pPr algn="ctr">
              <a:lnSpc>
                <a:spcPct val="100000"/>
              </a:lnSpc>
              <a:spcBef>
                <a:spcPts val="0"/>
              </a:spcBef>
              <a:spcAft>
                <a:spcPts val="0"/>
              </a:spcAft>
            </a:pPr>
            <a:r>
              <a:rPr sz="1200" b="1" i="0" lang="en-US">
                <a:solidFill>
                  <a:srgbClr val="FFFFFF"/>
                </a:solidFill>
                <a:latin typeface="JetBrains Mono" pitchFamily="49" charset="0"/>
              </a:rPr>
              <a:t>402</a:t>
            </a:r>
          </a:p>
        </p:txBody>
      </p:sp>
      <p:sp>
        <p:nvSpPr>
          <p:cNvPr id="38" name="Payment label"/>
          <p:cNvSpPr txBox="1"/>
          <p:nvPr/>
        </p:nvSpPr>
        <p:spPr>
          <a:xfrm>
            <a:off x="4632808" y="2029968"/>
            <a:ext cx="292608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6E4BFF"/>
                </a:solidFill>
                <a:latin typeface="JetBrains Mono" pitchFamily="49" charset="0"/>
              </a:rPr>
              <a:t>PAYMENT PASSES</a:t>
            </a:r>
          </a:p>
        </p:txBody>
      </p:sp>
      <p:sp>
        <p:nvSpPr>
          <p:cNvPr id="40" name="Break mark"/>
          <p:cNvSpPr txBox="1"/>
          <p:nvPr/>
        </p:nvSpPr>
        <p:spPr>
          <a:xfrm>
            <a:off x="5912968" y="4041648"/>
            <a:ext cx="365760"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lang="en-US">
                <a:solidFill>
                  <a:srgbClr val="FF5A6E"/>
                </a:solidFill>
                <a:latin typeface="Inter" pitchFamily="34" charset="0"/>
              </a:rPr>
              <a:t>✕</a:t>
            </a:r>
          </a:p>
        </p:txBody>
      </p:sp>
      <p:sp>
        <p:nvSpPr>
          <p:cNvPr id="41" name="Gap label"/>
          <p:cNvSpPr txBox="1"/>
          <p:nvPr/>
        </p:nvSpPr>
        <p:spPr>
          <a:xfrm>
            <a:off x="4632808" y="4480560"/>
            <a:ext cx="2926080" cy="457200"/>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5A6E"/>
                </a:solidFill>
                <a:latin typeface="JetBrains Mono" pitchFamily="49" charset="0"/>
              </a:rPr>
              <a:t>WHEN? · WHAT? · UNCHANGED?</a:t>
            </a:r>
          </a:p>
        </p:txBody>
      </p:sp>
      <p:sp>
        <p:nvSpPr>
          <p:cNvPr id="42" name="Proof label"/>
          <p:cNvSpPr txBox="1"/>
          <p:nvPr/>
        </p:nvSpPr>
        <p:spPr>
          <a:xfrm>
            <a:off x="2057400" y="3017520"/>
            <a:ext cx="2560320" cy="237744"/>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FF5A6E"/>
                </a:solidFill>
                <a:latin typeface="JetBrains Mono" pitchFamily="49" charset="0"/>
              </a:rPr>
              <a:t>proof falls through</a:t>
            </a:r>
          </a:p>
        </p:txBody>
      </p:sp>
      <p:sp>
        <p:nvSpPr>
          <p:cNvPr id="43" name="Point 1"/>
          <p:cNvSpPr/>
          <p:nvPr/>
        </p:nvSpPr>
        <p:spPr>
          <a:xfrm>
            <a:off x="594360"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oint 1 tag"/>
          <p:cNvSpPr txBox="1"/>
          <p:nvPr/>
        </p:nvSpPr>
        <p:spPr>
          <a:xfrm>
            <a:off x="795528"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SUPPLY</a:t>
            </a:r>
          </a:p>
        </p:txBody>
      </p:sp>
      <p:sp>
        <p:nvSpPr>
          <p:cNvPr id="45" name="Point 1 title"/>
          <p:cNvSpPr txBox="1"/>
          <p:nvPr/>
        </p:nvSpPr>
        <p:spPr>
          <a:xfrm>
            <a:off x="795528"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Bots are cheap to launch</a:t>
            </a:r>
          </a:p>
        </p:txBody>
      </p:sp>
      <p:sp>
        <p:nvSpPr>
          <p:cNvPr id="46" name="Point 1 text"/>
          <p:cNvSpPr txBox="1"/>
          <p:nvPr/>
        </p:nvSpPr>
        <p:spPr>
          <a:xfrm>
            <a:off x="795528"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Anyone can ship one in an afternoon. Nothing tells them apart.</a:t>
            </a:r>
          </a:p>
        </p:txBody>
      </p:sp>
      <p:sp>
        <p:nvSpPr>
          <p:cNvPr id="47" name="Point 2"/>
          <p:cNvSpPr/>
          <p:nvPr/>
        </p:nvSpPr>
        <p:spPr>
          <a:xfrm>
            <a:off x="4347362"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oint 2 tag"/>
          <p:cNvSpPr txBox="1"/>
          <p:nvPr/>
        </p:nvSpPr>
        <p:spPr>
          <a:xfrm>
            <a:off x="4548530"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HINDSIGHT</a:t>
            </a:r>
          </a:p>
        </p:txBody>
      </p:sp>
      <p:sp>
        <p:nvSpPr>
          <p:cNvPr id="49" name="Point 2 title"/>
          <p:cNvSpPr txBox="1"/>
          <p:nvPr/>
        </p:nvSpPr>
        <p:spPr>
          <a:xfrm>
            <a:off x="4548530"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Hindsight is free</a:t>
            </a:r>
          </a:p>
        </p:txBody>
      </p:sp>
      <p:sp>
        <p:nvSpPr>
          <p:cNvPr id="50" name="Point 2 text"/>
          <p:cNvSpPr txBox="1"/>
          <p:nvPr/>
        </p:nvSpPr>
        <p:spPr>
          <a:xfrm>
            <a:off x="4548530"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An LLM can justify any call after the fact. A reason is not a timestamp.</a:t>
            </a:r>
          </a:p>
        </p:txBody>
      </p:sp>
      <p:sp>
        <p:nvSpPr>
          <p:cNvPr id="51" name="Point 3"/>
          <p:cNvSpPr/>
          <p:nvPr/>
        </p:nvSpPr>
        <p:spPr>
          <a:xfrm>
            <a:off x="8100365"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oint 3 tag"/>
          <p:cNvSpPr txBox="1"/>
          <p:nvPr/>
        </p:nvSpPr>
        <p:spPr>
          <a:xfrm>
            <a:off x="8301533"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RAILS</a:t>
            </a:r>
          </a:p>
        </p:txBody>
      </p:sp>
      <p:sp>
        <p:nvSpPr>
          <p:cNvPr id="53" name="Point 3 title"/>
          <p:cNvSpPr txBox="1"/>
          <p:nvPr/>
        </p:nvSpPr>
        <p:spPr>
          <a:xfrm>
            <a:off x="8301533"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Payment rails are ready</a:t>
            </a:r>
          </a:p>
        </p:txBody>
      </p:sp>
      <p:sp>
        <p:nvSpPr>
          <p:cNvPr id="54" name="Point 3 text"/>
          <p:cNvSpPr txBox="1"/>
          <p:nvPr/>
        </p:nvSpPr>
        <p:spPr>
          <a:xfrm>
            <a:off x="8301533"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x402 moves the money. It cannot say when a signal was made.</a:t>
            </a:r>
          </a:p>
        </p:txBody>
      </p:sp>
      <p:sp>
        <p:nvSpPr>
          <p:cNvPr id="55"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56"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914400"/>
            <a:ext cx="5669280" cy="2011680"/>
          </a:xfrm>
        </p:spPr>
        <p:txBody>
          <a:bodyPr wrap="square" lIns="0" rIns="0" tIns="0" bIns="0" anchor="t">
            <a:noAutofit/>
          </a:bodyPr>
          <a:lstStyle/>
          <a:p>
            <a:pPr algn="l">
              <a:lnSpc>
                <a:spcPct val="98000"/>
              </a:lnSpc>
              <a:spcBef>
                <a:spcPts val="0"/>
              </a:spcBef>
              <a:spcAft>
                <a:spcPts val="0"/>
              </a:spcAft>
            </a:pPr>
            <a:r>
              <a:rPr sz="6400" b="0" i="0" lang="en-US">
                <a:solidFill>
                  <a:srgbClr val="ECE8FA"/>
                </a:solidFill>
                <a:latin typeface="Archivo" pitchFamily="34" charset="0"/>
              </a:rPr>
              <a:t>Commit first.</a:t>
            </a:r>
            <a:br>
              <a:rPr sz="6400"/>
            </a:br>
            <a:r>
              <a:rPr sz="6400" b="1" i="1" lang="en-US">
                <a:solidFill>
                  <a:srgbClr val="9D86FF"/>
                </a:solidFill>
                <a:latin typeface="Archivo" pitchFamily="34" charset="0"/>
              </a:rPr>
              <a:t>Prove later.</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03 — THE IDEA</a:t>
            </a:r>
          </a:p>
        </p:txBody>
      </p:sp>
      <p:sp>
        <p:nvSpPr>
          <p:cNvPr id="7" name="Sub"/>
          <p:cNvSpPr txBox="1"/>
          <p:nvPr/>
        </p:nvSpPr>
        <p:spPr>
          <a:xfrm>
            <a:off x="594360" y="3017520"/>
            <a:ext cx="5120640" cy="1188720"/>
          </a:xfrm>
          <a:prstGeom prst="rect">
            <a:avLst/>
          </a:prstGeom>
          <a:noFill/>
        </p:spPr>
        <p:txBody>
          <a:bodyPr wrap="square" lIns="0" rIns="0" tIns="0" bIns="0" anchor="t">
            <a:noAutofit/>
          </a:bodyPr>
          <a:lstStyle/>
          <a:p>
            <a:pPr algn="l">
              <a:lnSpc>
                <a:spcPct val="130000"/>
              </a:lnSpc>
              <a:spcBef>
                <a:spcPts val="0"/>
              </a:spcBef>
              <a:spcAft>
                <a:spcPts val="0"/>
              </a:spcAft>
            </a:pPr>
            <a:r>
              <a:rPr sz="1800" b="0" i="0" lang="en-US">
                <a:solidFill>
                  <a:srgbClr val="C9BDF2"/>
                </a:solidFill>
                <a:latin typeface="Inter" pitchFamily="34" charset="0"/>
              </a:rPr>
              <a:t>Fabius seals every decision on-chain before the market answers, so nobody has to take our word for the order.</a:t>
            </a:r>
          </a:p>
        </p:txBody>
      </p:sp>
      <p:grpSp>
        <p:nvGrpSpPr>
          <p:cNvPr id="8" name="Halo"/>
          <p:cNvGrpSpPr/>
          <p:nvPr/>
        </p:nvGrpSpPr>
        <p:grpSpPr>
          <a:xfrm>
            <a:off x="4937760" y="411480"/>
            <a:ext cx="7680960" cy="4572000"/>
            <a:chOff x="4937760" y="411480"/>
            <a:chExt cx="7680960" cy="4572000"/>
          </a:xfrm>
        </p:grpSpPr>
        <p:sp>
          <p:nvSpPr>
            <p:cNvPr id="9" name="Halo 1"/>
            <p:cNvSpPr/>
            <p:nvPr/>
          </p:nvSpPr>
          <p:spPr>
            <a:xfrm>
              <a:off x="4937760" y="411480"/>
              <a:ext cx="7680960" cy="457200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2"/>
            <p:cNvSpPr/>
            <p:nvPr/>
          </p:nvSpPr>
          <p:spPr>
            <a:xfrm>
              <a:off x="5068621" y="489373"/>
              <a:ext cx="7419238" cy="441621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3"/>
            <p:cNvSpPr/>
            <p:nvPr/>
          </p:nvSpPr>
          <p:spPr>
            <a:xfrm>
              <a:off x="5199482" y="567267"/>
              <a:ext cx="7157517" cy="426042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4"/>
            <p:cNvSpPr/>
            <p:nvPr/>
          </p:nvSpPr>
          <p:spPr>
            <a:xfrm>
              <a:off x="5330342" y="645160"/>
              <a:ext cx="6895795" cy="410464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5"/>
            <p:cNvSpPr/>
            <p:nvPr/>
          </p:nvSpPr>
          <p:spPr>
            <a:xfrm>
              <a:off x="5461203" y="723053"/>
              <a:ext cx="6634074" cy="394885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6"/>
            <p:cNvSpPr/>
            <p:nvPr/>
          </p:nvSpPr>
          <p:spPr>
            <a:xfrm>
              <a:off x="5592064" y="800947"/>
              <a:ext cx="6372352" cy="379306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7"/>
            <p:cNvSpPr/>
            <p:nvPr/>
          </p:nvSpPr>
          <p:spPr>
            <a:xfrm>
              <a:off x="5722925" y="878840"/>
              <a:ext cx="6110630" cy="363728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8"/>
            <p:cNvSpPr/>
            <p:nvPr/>
          </p:nvSpPr>
          <p:spPr>
            <a:xfrm>
              <a:off x="5853786" y="956733"/>
              <a:ext cx="5848909" cy="348149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9"/>
            <p:cNvSpPr/>
            <p:nvPr/>
          </p:nvSpPr>
          <p:spPr>
            <a:xfrm>
              <a:off x="5984646" y="1034627"/>
              <a:ext cx="5587187" cy="332570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0"/>
            <p:cNvSpPr/>
            <p:nvPr/>
          </p:nvSpPr>
          <p:spPr>
            <a:xfrm>
              <a:off x="6115507" y="1112520"/>
              <a:ext cx="5325466" cy="316992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1"/>
            <p:cNvSpPr/>
            <p:nvPr/>
          </p:nvSpPr>
          <p:spPr>
            <a:xfrm>
              <a:off x="6246368" y="1190413"/>
              <a:ext cx="5063744" cy="301413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2"/>
            <p:cNvSpPr/>
            <p:nvPr/>
          </p:nvSpPr>
          <p:spPr>
            <a:xfrm>
              <a:off x="6377229" y="1268307"/>
              <a:ext cx="4802022" cy="285834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3"/>
            <p:cNvSpPr/>
            <p:nvPr/>
          </p:nvSpPr>
          <p:spPr>
            <a:xfrm>
              <a:off x="6508090" y="1346200"/>
              <a:ext cx="4540301" cy="270256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4"/>
            <p:cNvSpPr/>
            <p:nvPr/>
          </p:nvSpPr>
          <p:spPr>
            <a:xfrm>
              <a:off x="6638950" y="1424093"/>
              <a:ext cx="4278579" cy="254677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5"/>
            <p:cNvSpPr/>
            <p:nvPr/>
          </p:nvSpPr>
          <p:spPr>
            <a:xfrm>
              <a:off x="6769811" y="1501987"/>
              <a:ext cx="4016858" cy="239098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6"/>
            <p:cNvSpPr/>
            <p:nvPr/>
          </p:nvSpPr>
          <p:spPr>
            <a:xfrm>
              <a:off x="6900672" y="1579880"/>
              <a:ext cx="3755136" cy="223520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7"/>
            <p:cNvSpPr/>
            <p:nvPr/>
          </p:nvSpPr>
          <p:spPr>
            <a:xfrm>
              <a:off x="7031533" y="1657773"/>
              <a:ext cx="3493414" cy="207941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8"/>
            <p:cNvSpPr/>
            <p:nvPr/>
          </p:nvSpPr>
          <p:spPr>
            <a:xfrm>
              <a:off x="7162394" y="1735667"/>
              <a:ext cx="3231693" cy="192362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9"/>
            <p:cNvSpPr/>
            <p:nvPr/>
          </p:nvSpPr>
          <p:spPr>
            <a:xfrm>
              <a:off x="7293254" y="1813560"/>
              <a:ext cx="2969971" cy="176784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0"/>
            <p:cNvSpPr/>
            <p:nvPr/>
          </p:nvSpPr>
          <p:spPr>
            <a:xfrm>
              <a:off x="7424115" y="1891453"/>
              <a:ext cx="2708250" cy="161205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1"/>
            <p:cNvSpPr/>
            <p:nvPr/>
          </p:nvSpPr>
          <p:spPr>
            <a:xfrm>
              <a:off x="7554976" y="1969347"/>
              <a:ext cx="2446528" cy="145626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2"/>
            <p:cNvSpPr/>
            <p:nvPr/>
          </p:nvSpPr>
          <p:spPr>
            <a:xfrm>
              <a:off x="7685837" y="2047240"/>
              <a:ext cx="2184806" cy="130048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3"/>
            <p:cNvSpPr/>
            <p:nvPr/>
          </p:nvSpPr>
          <p:spPr>
            <a:xfrm>
              <a:off x="7816698" y="2125133"/>
              <a:ext cx="1923085" cy="114469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4"/>
            <p:cNvSpPr/>
            <p:nvPr/>
          </p:nvSpPr>
          <p:spPr>
            <a:xfrm>
              <a:off x="7947558" y="2203027"/>
              <a:ext cx="1661363" cy="98890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25"/>
            <p:cNvSpPr/>
            <p:nvPr/>
          </p:nvSpPr>
          <p:spPr>
            <a:xfrm>
              <a:off x="8078419" y="2280920"/>
              <a:ext cx="1399642" cy="83312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alo 26"/>
            <p:cNvSpPr/>
            <p:nvPr/>
          </p:nvSpPr>
          <p:spPr>
            <a:xfrm>
              <a:off x="8209280" y="2358813"/>
              <a:ext cx="1137920" cy="67733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alo 27"/>
            <p:cNvSpPr/>
            <p:nvPr/>
          </p:nvSpPr>
          <p:spPr>
            <a:xfrm>
              <a:off x="8340141" y="2436707"/>
              <a:ext cx="876198" cy="52154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alo 28"/>
            <p:cNvSpPr/>
            <p:nvPr/>
          </p:nvSpPr>
          <p:spPr>
            <a:xfrm>
              <a:off x="8471002" y="2514600"/>
              <a:ext cx="614477" cy="36576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7" name="Scene · decision before outcome"/>
          <p:cNvGrpSpPr/>
          <p:nvPr/>
        </p:nvGrpSpPr>
        <p:grpSpPr>
          <a:xfrm>
            <a:off x="0" y="0"/>
            <a:ext cx="0" cy="0"/>
            <a:chOff x="0" y="0"/>
            <a:chExt cx="0" cy="0"/>
          </a:xfrm>
        </p:grpSpPr>
        <p:sp>
          <p:nvSpPr>
            <p:cNvPr id="42" name="Sealed decision · kiri"/>
            <p:cNvSpPr/>
            <p:nvPr/>
          </p:nvSpPr>
          <p:spPr>
            <a:xfrm>
              <a:off x="6211605" y="2206447"/>
              <a:ext cx="692115" cy="1198779"/>
            </a:xfrm>
            <a:custGeom>
              <a:avLst/>
              <a:gdLst/>
              <a:ahLst/>
              <a:cxnLst/>
              <a:rect l="l" t="t" r="r" b="b"/>
              <a:pathLst>
                <a:path w="692115" h="1198779">
                  <a:moveTo>
                    <a:pt x="0" y="799186"/>
                  </a:moveTo>
                  <a:lnTo>
                    <a:pt x="692115" y="1198779"/>
                  </a:lnTo>
                  <a:lnTo>
                    <a:pt x="692115" y="399593"/>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aled decision · kanan"/>
            <p:cNvSpPr/>
            <p:nvPr/>
          </p:nvSpPr>
          <p:spPr>
            <a:xfrm>
              <a:off x="6903720" y="2206447"/>
              <a:ext cx="692115" cy="1198779"/>
            </a:xfrm>
            <a:custGeom>
              <a:avLst/>
              <a:gdLst/>
              <a:ahLst/>
              <a:cxnLst/>
              <a:rect l="l" t="t" r="r" b="b"/>
              <a:pathLst>
                <a:path w="692115" h="1198779">
                  <a:moveTo>
                    <a:pt x="692115" y="799186"/>
                  </a:moveTo>
                  <a:lnTo>
                    <a:pt x="0" y="1198779"/>
                  </a:lnTo>
                  <a:lnTo>
                    <a:pt x="0" y="399593"/>
                  </a:lnTo>
                  <a:lnTo>
                    <a:pt x="6921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ealed decision · atas"/>
            <p:cNvSpPr/>
            <p:nvPr/>
          </p:nvSpPr>
          <p:spPr>
            <a:xfrm>
              <a:off x="6211605" y="1806854"/>
              <a:ext cx="1384230" cy="799186"/>
            </a:xfrm>
            <a:custGeom>
              <a:avLst/>
              <a:gdLst/>
              <a:ahLst/>
              <a:cxnLst/>
              <a:rect l="l" t="t" r="r" b="b"/>
              <a:pathLst>
                <a:path w="1384230" h="799186">
                  <a:moveTo>
                    <a:pt x="692115" y="0"/>
                  </a:moveTo>
                  <a:lnTo>
                    <a:pt x="1384230" y="399593"/>
                  </a:lnTo>
                  <a:lnTo>
                    <a:pt x="692115" y="799186"/>
                  </a:lnTo>
                  <a:lnTo>
                    <a:pt x="0" y="39959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al · kiri"/>
            <p:cNvSpPr/>
            <p:nvPr/>
          </p:nvSpPr>
          <p:spPr>
            <a:xfrm>
              <a:off x="6466595" y="1520830"/>
              <a:ext cx="437125" cy="319674"/>
            </a:xfrm>
            <a:custGeom>
              <a:avLst/>
              <a:gdLst/>
              <a:ahLst/>
              <a:cxnLst/>
              <a:rect l="l" t="t" r="r" b="b"/>
              <a:pathLst>
                <a:path w="437125" h="319674">
                  <a:moveTo>
                    <a:pt x="0" y="67300"/>
                  </a:moveTo>
                  <a:lnTo>
                    <a:pt x="437125" y="319674"/>
                  </a:lnTo>
                  <a:lnTo>
                    <a:pt x="437125" y="25237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eal · kanan"/>
            <p:cNvSpPr/>
            <p:nvPr/>
          </p:nvSpPr>
          <p:spPr>
            <a:xfrm>
              <a:off x="6903720" y="1520830"/>
              <a:ext cx="437125" cy="319674"/>
            </a:xfrm>
            <a:custGeom>
              <a:avLst/>
              <a:gdLst/>
              <a:ahLst/>
              <a:cxnLst/>
              <a:rect l="l" t="t" r="r" b="b"/>
              <a:pathLst>
                <a:path w="437125" h="319674">
                  <a:moveTo>
                    <a:pt x="437125" y="67300"/>
                  </a:moveTo>
                  <a:lnTo>
                    <a:pt x="0" y="319674"/>
                  </a:lnTo>
                  <a:lnTo>
                    <a:pt x="0" y="252374"/>
                  </a:lnTo>
                  <a:lnTo>
                    <a:pt x="43712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eal · atas"/>
            <p:cNvSpPr/>
            <p:nvPr/>
          </p:nvSpPr>
          <p:spPr>
            <a:xfrm>
              <a:off x="6466595" y="1268456"/>
              <a:ext cx="874250" cy="504748"/>
            </a:xfrm>
            <a:custGeom>
              <a:avLst/>
              <a:gdLst/>
              <a:ahLst/>
              <a:cxnLst/>
              <a:rect l="l" t="t" r="r" b="b"/>
              <a:pathLst>
                <a:path w="874250" h="504748">
                  <a:moveTo>
                    <a:pt x="437125" y="0"/>
                  </a:moveTo>
                  <a:lnTo>
                    <a:pt x="874250" y="252374"/>
                  </a:lnTo>
                  <a:lnTo>
                    <a:pt x="437125" y="504748"/>
                  </a:lnTo>
                  <a:lnTo>
                    <a:pt x="0" y="252374"/>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 close wall · kiri"/>
            <p:cNvSpPr/>
            <p:nvPr/>
          </p:nvSpPr>
          <p:spPr>
            <a:xfrm>
              <a:off x="8372264" y="1931030"/>
              <a:ext cx="101996" cy="1446946"/>
            </a:xfrm>
            <a:custGeom>
              <a:avLst/>
              <a:gdLst/>
              <a:ahLst/>
              <a:cxnLst/>
              <a:rect l="l" t="t" r="r" b="b"/>
              <a:pathLst>
                <a:path w="101996" h="1446946">
                  <a:moveTo>
                    <a:pt x="0" y="1388059"/>
                  </a:moveTo>
                  <a:lnTo>
                    <a:pt x="101996" y="1446946"/>
                  </a:lnTo>
                  <a:lnTo>
                    <a:pt x="101996" y="58887"/>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 close wall · kanan"/>
            <p:cNvSpPr/>
            <p:nvPr/>
          </p:nvSpPr>
          <p:spPr>
            <a:xfrm>
              <a:off x="8474260" y="1527231"/>
              <a:ext cx="801396" cy="1850745"/>
            </a:xfrm>
            <a:custGeom>
              <a:avLst/>
              <a:gdLst/>
              <a:ahLst/>
              <a:cxnLst/>
              <a:rect l="l" t="t" r="r" b="b"/>
              <a:pathLst>
                <a:path w="801396" h="1850745">
                  <a:moveTo>
                    <a:pt x="801396" y="1388059"/>
                  </a:moveTo>
                  <a:lnTo>
                    <a:pt x="0" y="1850745"/>
                  </a:lnTo>
                  <a:lnTo>
                    <a:pt x="0" y="462686"/>
                  </a:lnTo>
                  <a:lnTo>
                    <a:pt x="80139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 close wall · atas"/>
            <p:cNvSpPr/>
            <p:nvPr/>
          </p:nvSpPr>
          <p:spPr>
            <a:xfrm>
              <a:off x="8372264" y="1468344"/>
              <a:ext cx="903392" cy="521573"/>
            </a:xfrm>
            <a:custGeom>
              <a:avLst/>
              <a:gdLst/>
              <a:ahLst/>
              <a:cxnLst/>
              <a:rect l="l" t="t" r="r" b="b"/>
              <a:pathLst>
                <a:path w="903392" h="521573">
                  <a:moveTo>
                    <a:pt x="801396" y="0"/>
                  </a:moveTo>
                  <a:lnTo>
                    <a:pt x="903392" y="58887"/>
                  </a:lnTo>
                  <a:lnTo>
                    <a:pt x="101996" y="521573"/>
                  </a:lnTo>
                  <a:lnTo>
                    <a:pt x="0" y="46268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utcome (not yet) · kiri"/>
            <p:cNvSpPr/>
            <p:nvPr/>
          </p:nvSpPr>
          <p:spPr>
            <a:xfrm>
              <a:off x="10052085" y="2206447"/>
              <a:ext cx="692115" cy="1198779"/>
            </a:xfrm>
            <a:custGeom>
              <a:avLst/>
              <a:gdLst/>
              <a:ahLst/>
              <a:cxnLst/>
              <a:rect l="l" t="t" r="r" b="b"/>
              <a:pathLst>
                <a:path w="692115" h="1198779">
                  <a:moveTo>
                    <a:pt x="0" y="799186"/>
                  </a:moveTo>
                  <a:lnTo>
                    <a:pt x="692115" y="1198779"/>
                  </a:lnTo>
                  <a:lnTo>
                    <a:pt x="692115" y="399593"/>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utcome (not yet) · kanan"/>
            <p:cNvSpPr/>
            <p:nvPr/>
          </p:nvSpPr>
          <p:spPr>
            <a:xfrm>
              <a:off x="10744200" y="2206447"/>
              <a:ext cx="692115" cy="1198779"/>
            </a:xfrm>
            <a:custGeom>
              <a:avLst/>
              <a:gdLst/>
              <a:ahLst/>
              <a:cxnLst/>
              <a:rect l="l" t="t" r="r" b="b"/>
              <a:pathLst>
                <a:path w="692115" h="1198779">
                  <a:moveTo>
                    <a:pt x="692115" y="799186"/>
                  </a:moveTo>
                  <a:lnTo>
                    <a:pt x="0" y="1198779"/>
                  </a:lnTo>
                  <a:lnTo>
                    <a:pt x="0" y="399593"/>
                  </a:lnTo>
                  <a:lnTo>
                    <a:pt x="692115"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utcome (not yet) · atas"/>
            <p:cNvSpPr/>
            <p:nvPr/>
          </p:nvSpPr>
          <p:spPr>
            <a:xfrm>
              <a:off x="10052085" y="1806854"/>
              <a:ext cx="1384230" cy="799186"/>
            </a:xfrm>
            <a:custGeom>
              <a:avLst/>
              <a:gdLst/>
              <a:ahLst/>
              <a:cxnLst/>
              <a:rect l="l" t="t" r="r" b="b"/>
              <a:pathLst>
                <a:path w="1384230" h="799186">
                  <a:moveTo>
                    <a:pt x="692115" y="0"/>
                  </a:moveTo>
                  <a:lnTo>
                    <a:pt x="1384230" y="399593"/>
                  </a:lnTo>
                  <a:lnTo>
                    <a:pt x="692115" y="799186"/>
                  </a:lnTo>
                  <a:lnTo>
                    <a:pt x="0" y="399593"/>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8" name="Time axis"/>
          <p:cNvSpPr/>
          <p:nvPr/>
        </p:nvSpPr>
        <p:spPr>
          <a:xfrm>
            <a:off x="6172200" y="3913632"/>
            <a:ext cx="5303520" cy="0"/>
          </a:xfrm>
          <a:custGeom>
            <a:avLst/>
            <a:gdLst/>
            <a:ahLst/>
            <a:cxnLst/>
            <a:rect l="l" t="t" r="r" b="b"/>
            <a:pathLst>
              <a:path w="5303520" h="0">
                <a:moveTo>
                  <a:pt x="0" y="0"/>
                </a:moveTo>
                <a:lnTo>
                  <a:pt x="5303520" y="0"/>
                </a:lnTo>
              </a:path>
            </a:pathLst>
          </a:custGeom>
          <a:noFill/>
          <a:ln w="17780" cap="rnd">
            <a:solidFill>
              <a:srgbClr val="C9BDF2">
                <a:alpha val="55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xis node"/>
          <p:cNvSpPr/>
          <p:nvPr/>
        </p:nvSpPr>
        <p:spPr>
          <a:xfrm>
            <a:off x="684885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xis node"/>
          <p:cNvSpPr/>
          <p:nvPr/>
        </p:nvSpPr>
        <p:spPr>
          <a:xfrm>
            <a:off x="876909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xis node"/>
          <p:cNvSpPr/>
          <p:nvPr/>
        </p:nvSpPr>
        <p:spPr>
          <a:xfrm>
            <a:off x="1068933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tion 1"/>
          <p:cNvSpPr txBox="1"/>
          <p:nvPr/>
        </p:nvSpPr>
        <p:spPr>
          <a:xfrm>
            <a:off x="598932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DECISION</a:t>
            </a:r>
          </a:p>
        </p:txBody>
      </p:sp>
      <p:sp>
        <p:nvSpPr>
          <p:cNvPr id="55" name="Station 1 sub"/>
          <p:cNvSpPr txBox="1"/>
          <p:nvPr/>
        </p:nvSpPr>
        <p:spPr>
          <a:xfrm>
            <a:off x="598932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sealed on-chain</a:t>
            </a:r>
          </a:p>
        </p:txBody>
      </p:sp>
      <p:sp>
        <p:nvSpPr>
          <p:cNvPr id="56" name="Station 2"/>
          <p:cNvSpPr txBox="1"/>
          <p:nvPr/>
        </p:nvSpPr>
        <p:spPr>
          <a:xfrm>
            <a:off x="790956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BAR CLOSES</a:t>
            </a:r>
          </a:p>
        </p:txBody>
      </p:sp>
      <p:sp>
        <p:nvSpPr>
          <p:cNvPr id="57" name="Station 2 sub"/>
          <p:cNvSpPr txBox="1"/>
          <p:nvPr/>
        </p:nvSpPr>
        <p:spPr>
          <a:xfrm>
            <a:off x="790956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00:00 UTC</a:t>
            </a:r>
          </a:p>
        </p:txBody>
      </p:sp>
      <p:sp>
        <p:nvSpPr>
          <p:cNvPr id="58" name="Station 3"/>
          <p:cNvSpPr txBox="1"/>
          <p:nvPr/>
        </p:nvSpPr>
        <p:spPr>
          <a:xfrm>
            <a:off x="982980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OUTCOME</a:t>
            </a:r>
          </a:p>
        </p:txBody>
      </p:sp>
      <p:sp>
        <p:nvSpPr>
          <p:cNvPr id="59" name="Station 3 sub"/>
          <p:cNvSpPr txBox="1"/>
          <p:nvPr/>
        </p:nvSpPr>
        <p:spPr>
          <a:xfrm>
            <a:off x="982980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not known yet</a:t>
            </a:r>
          </a:p>
        </p:txBody>
      </p:sp>
      <p:sp>
        <p:nvSpPr>
          <p:cNvPr id="60" name="Principle 1"/>
          <p:cNvSpPr/>
          <p:nvPr/>
        </p:nvSpPr>
        <p:spPr>
          <a:xfrm>
            <a:off x="594360"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rinciple 1 title"/>
          <p:cNvSpPr txBox="1"/>
          <p:nvPr/>
        </p:nvSpPr>
        <p:spPr>
          <a:xfrm>
            <a:off x="795528"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Rules locked first</a:t>
            </a:r>
          </a:p>
        </p:txBody>
      </p:sp>
      <p:sp>
        <p:nvSpPr>
          <p:cNvPr id="62" name="Principle 1 text"/>
          <p:cNvSpPr txBox="1"/>
          <p:nvPr/>
        </p:nvSpPr>
        <p:spPr>
          <a:xfrm>
            <a:off x="795528"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bot's rule is locked on-chain before it may commit a signal.</a:t>
            </a:r>
          </a:p>
        </p:txBody>
      </p:sp>
      <p:sp>
        <p:nvSpPr>
          <p:cNvPr id="63" name="Principle 2"/>
          <p:cNvSpPr/>
          <p:nvPr/>
        </p:nvSpPr>
        <p:spPr>
          <a:xfrm>
            <a:off x="4338218"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rinciple 2 title"/>
          <p:cNvSpPr txBox="1"/>
          <p:nvPr/>
        </p:nvSpPr>
        <p:spPr>
          <a:xfrm>
            <a:off x="4539386"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Signals sealed</a:t>
            </a:r>
          </a:p>
        </p:txBody>
      </p:sp>
      <p:sp>
        <p:nvSpPr>
          <p:cNvPr id="65" name="Principle 2 text"/>
          <p:cNvSpPr txBox="1"/>
          <p:nvPr/>
        </p:nvSpPr>
        <p:spPr>
          <a:xfrm>
            <a:off x="4539386"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One Merkle root per bar. A signal cannot be swapped afterwards.</a:t>
            </a:r>
          </a:p>
        </p:txBody>
      </p:sp>
      <p:sp>
        <p:nvSpPr>
          <p:cNvPr id="66" name="Principle 3"/>
          <p:cNvSpPr/>
          <p:nvPr/>
        </p:nvSpPr>
        <p:spPr>
          <a:xfrm>
            <a:off x="8082077"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rinciple 3 title"/>
          <p:cNvSpPr txBox="1"/>
          <p:nvPr/>
        </p:nvSpPr>
        <p:spPr>
          <a:xfrm>
            <a:off x="8283245"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Block time is the alibi</a:t>
            </a:r>
          </a:p>
        </p:txBody>
      </p:sp>
      <p:sp>
        <p:nvSpPr>
          <p:cNvPr id="68" name="Principle 3 text"/>
          <p:cNvSpPr txBox="1"/>
          <p:nvPr/>
        </p:nvSpPr>
        <p:spPr>
          <a:xfrm>
            <a:off x="8283245"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The chain proves when. Anyone can recompute what.</a:t>
            </a:r>
          </a:p>
        </p:txBody>
      </p:sp>
      <p:sp>
        <p:nvSpPr>
          <p:cNvPr id="69" name="Closing"/>
          <p:cNvSpPr txBox="1"/>
          <p:nvPr/>
        </p:nvSpPr>
        <p:spPr>
          <a:xfrm>
            <a:off x="594360" y="5998464"/>
            <a:ext cx="11002975" cy="384048"/>
          </a:xfrm>
          <a:prstGeom prst="rect">
            <a:avLst/>
          </a:prstGeom>
          <a:noFill/>
        </p:spPr>
        <p:txBody>
          <a:bodyPr wrap="square" lIns="0" rIns="0" tIns="0" bIns="0" anchor="t">
            <a:noAutofit/>
          </a:bodyPr>
          <a:lstStyle/>
          <a:p>
            <a:pPr algn="l">
              <a:lnSpc>
                <a:spcPct val="130000"/>
              </a:lnSpc>
              <a:spcBef>
                <a:spcPts val="0"/>
              </a:spcBef>
              <a:spcAft>
                <a:spcPts val="0"/>
              </a:spcAft>
            </a:pPr>
            <a:r>
              <a:rPr sz="1900" b="0" i="0" lang="en-US">
                <a:solidFill>
                  <a:srgbClr val="ECE8FA"/>
                </a:solidFill>
                <a:latin typeface="Inter" pitchFamily="34" charset="0"/>
              </a:rPr>
              <a:t>The order is the product. </a:t>
            </a:r>
            <a:r>
              <a:rPr sz="1900" b="1" i="1" lang="en-US">
                <a:solidFill>
                  <a:srgbClr val="9D86FF"/>
                </a:solidFill>
                <a:latin typeface="Inter" pitchFamily="34" charset="0"/>
              </a:rPr>
              <a:t>Proof of timing, not of profit.</a:t>
            </a:r>
          </a:p>
        </p:txBody>
      </p:sp>
      <p:sp>
        <p:nvSpPr>
          <p:cNvPr id="70"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71"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68680"/>
            <a:ext cx="8229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From candle close to proof</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04 — HOW IT WORKS</a:t>
            </a:r>
          </a:p>
        </p:txBody>
      </p:sp>
      <p:sp>
        <p:nvSpPr>
          <p:cNvPr id="7" name="Sub"/>
          <p:cNvSpPr txBox="1"/>
          <p:nvPr/>
        </p:nvSpPr>
        <p:spPr>
          <a:xfrm>
            <a:off x="594360" y="1536192"/>
            <a:ext cx="11002975"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One signal, five stations. Every station is public and can be checked without us.</a:t>
            </a:r>
          </a:p>
        </p:txBody>
      </p:sp>
      <p:sp>
        <p:nvSpPr>
          <p:cNvPr id="8" name="Chip · Step 0 · rules locked on-chain first"/>
          <p:cNvSpPr/>
          <p:nvPr/>
        </p:nvSpPr>
        <p:spPr>
          <a:xfrm>
            <a:off x="594360" y="1938528"/>
            <a:ext cx="4032504" cy="310896"/>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ip dot"/>
          <p:cNvSpPr/>
          <p:nvPr/>
        </p:nvSpPr>
        <p:spPr>
          <a:xfrm>
            <a:off x="731520" y="2050542"/>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text"/>
          <p:cNvSpPr txBox="1"/>
          <p:nvPr/>
        </p:nvSpPr>
        <p:spPr>
          <a:xfrm>
            <a:off x="914400" y="1938528"/>
            <a:ext cx="3575304" cy="310896"/>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FFFFFF"/>
                </a:solidFill>
                <a:latin typeface="JetBrains Mono" pitchFamily="49" charset="0"/>
              </a:rPr>
              <a:t>STEP 0 · RULES LOCKED ON-CHAIN FIRST</a:t>
            </a:r>
          </a:p>
        </p:txBody>
      </p:sp>
      <p:grpSp>
        <p:nvGrpSpPr>
          <p:cNvPr id="11" name="Halo"/>
          <p:cNvGrpSpPr/>
          <p:nvPr/>
        </p:nvGrpSpPr>
        <p:grpSpPr>
          <a:xfrm>
            <a:off x="1158088" y="1691640"/>
            <a:ext cx="9875520" cy="2926080"/>
            <a:chOff x="1158088" y="1691640"/>
            <a:chExt cx="9875520" cy="2926080"/>
          </a:xfrm>
        </p:grpSpPr>
        <p:sp>
          <p:nvSpPr>
            <p:cNvPr id="12" name="Halo 1"/>
            <p:cNvSpPr/>
            <p:nvPr/>
          </p:nvSpPr>
          <p:spPr>
            <a:xfrm>
              <a:off x="1158088" y="1691640"/>
              <a:ext cx="9875520" cy="292608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2"/>
            <p:cNvSpPr/>
            <p:nvPr/>
          </p:nvSpPr>
          <p:spPr>
            <a:xfrm>
              <a:off x="1374409" y="1755735"/>
              <a:ext cx="9442878" cy="279789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3"/>
            <p:cNvSpPr/>
            <p:nvPr/>
          </p:nvSpPr>
          <p:spPr>
            <a:xfrm>
              <a:off x="1590729" y="1819830"/>
              <a:ext cx="9010236" cy="266970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4"/>
            <p:cNvSpPr/>
            <p:nvPr/>
          </p:nvSpPr>
          <p:spPr>
            <a:xfrm>
              <a:off x="1807050" y="1883925"/>
              <a:ext cx="8577595" cy="254150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5"/>
            <p:cNvSpPr/>
            <p:nvPr/>
          </p:nvSpPr>
          <p:spPr>
            <a:xfrm>
              <a:off x="2023371" y="1948020"/>
              <a:ext cx="8144953" cy="241331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6"/>
            <p:cNvSpPr/>
            <p:nvPr/>
          </p:nvSpPr>
          <p:spPr>
            <a:xfrm>
              <a:off x="2239692" y="2012115"/>
              <a:ext cx="7712311" cy="228512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7"/>
            <p:cNvSpPr/>
            <p:nvPr/>
          </p:nvSpPr>
          <p:spPr>
            <a:xfrm>
              <a:off x="2456013" y="2076211"/>
              <a:ext cx="7279669" cy="215693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8"/>
            <p:cNvSpPr/>
            <p:nvPr/>
          </p:nvSpPr>
          <p:spPr>
            <a:xfrm>
              <a:off x="2672334" y="2140306"/>
              <a:ext cx="6847027" cy="202874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9"/>
            <p:cNvSpPr/>
            <p:nvPr/>
          </p:nvSpPr>
          <p:spPr>
            <a:xfrm>
              <a:off x="2888655" y="2204401"/>
              <a:ext cx="6414385" cy="190055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0"/>
            <p:cNvSpPr/>
            <p:nvPr/>
          </p:nvSpPr>
          <p:spPr>
            <a:xfrm>
              <a:off x="3104976" y="2268496"/>
              <a:ext cx="5981744" cy="177236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1"/>
            <p:cNvSpPr/>
            <p:nvPr/>
          </p:nvSpPr>
          <p:spPr>
            <a:xfrm>
              <a:off x="3321297" y="2332591"/>
              <a:ext cx="5549102" cy="164417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2"/>
            <p:cNvSpPr/>
            <p:nvPr/>
          </p:nvSpPr>
          <p:spPr>
            <a:xfrm>
              <a:off x="3537618" y="2396686"/>
              <a:ext cx="5116460" cy="151598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3"/>
            <p:cNvSpPr/>
            <p:nvPr/>
          </p:nvSpPr>
          <p:spPr>
            <a:xfrm>
              <a:off x="3753939" y="2460781"/>
              <a:ext cx="4683818" cy="138779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4"/>
            <p:cNvSpPr/>
            <p:nvPr/>
          </p:nvSpPr>
          <p:spPr>
            <a:xfrm>
              <a:off x="3970259" y="2524876"/>
              <a:ext cx="4251176" cy="125960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5"/>
            <p:cNvSpPr/>
            <p:nvPr/>
          </p:nvSpPr>
          <p:spPr>
            <a:xfrm>
              <a:off x="4186580" y="2588971"/>
              <a:ext cx="3818534" cy="113141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6"/>
            <p:cNvSpPr/>
            <p:nvPr/>
          </p:nvSpPr>
          <p:spPr>
            <a:xfrm>
              <a:off x="4402901" y="2653066"/>
              <a:ext cx="3385893" cy="100322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17"/>
            <p:cNvSpPr/>
            <p:nvPr/>
          </p:nvSpPr>
          <p:spPr>
            <a:xfrm>
              <a:off x="4619222" y="2717161"/>
              <a:ext cx="2953251" cy="87503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18"/>
            <p:cNvSpPr/>
            <p:nvPr/>
          </p:nvSpPr>
          <p:spPr>
            <a:xfrm>
              <a:off x="4835543" y="2781256"/>
              <a:ext cx="2520609" cy="74684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19"/>
            <p:cNvSpPr/>
            <p:nvPr/>
          </p:nvSpPr>
          <p:spPr>
            <a:xfrm>
              <a:off x="5051864" y="2845352"/>
              <a:ext cx="2087967" cy="61865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0"/>
            <p:cNvSpPr/>
            <p:nvPr/>
          </p:nvSpPr>
          <p:spPr>
            <a:xfrm>
              <a:off x="5268185" y="2909447"/>
              <a:ext cx="1655325" cy="49046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1"/>
            <p:cNvSpPr/>
            <p:nvPr/>
          </p:nvSpPr>
          <p:spPr>
            <a:xfrm>
              <a:off x="5484506" y="2973542"/>
              <a:ext cx="1222683" cy="36227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22"/>
            <p:cNvSpPr/>
            <p:nvPr/>
          </p:nvSpPr>
          <p:spPr>
            <a:xfrm>
              <a:off x="5700827" y="3037637"/>
              <a:ext cx="790042" cy="234086"/>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4" name="Rail"/>
          <p:cNvSpPr/>
          <p:nvPr/>
        </p:nvSpPr>
        <p:spPr>
          <a:xfrm>
            <a:off x="1328898" y="3730752"/>
            <a:ext cx="9671060" cy="0"/>
          </a:xfrm>
          <a:custGeom>
            <a:avLst/>
            <a:gdLst/>
            <a:ahLst/>
            <a:cxnLst/>
            <a:rect l="l" t="t" r="r" b="b"/>
            <a:pathLst>
              <a:path w="9671060" h="0">
                <a:moveTo>
                  <a:pt x="0" y="0"/>
                </a:moveTo>
                <a:lnTo>
                  <a:pt x="9671060" y="0"/>
                </a:lnTo>
              </a:path>
            </a:pathLst>
          </a:custGeom>
          <a:noFill/>
          <a:ln w="27940" cap="rnd">
            <a:solidFill>
              <a:srgbClr val="C9BDF2">
                <a:alpha val="5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Scene · rail of blocks"/>
          <p:cNvGrpSpPr/>
          <p:nvPr/>
        </p:nvGrpSpPr>
        <p:grpSpPr>
          <a:xfrm>
            <a:off x="0" y="0"/>
            <a:ext cx="0" cy="0"/>
            <a:chOff x="0" y="0"/>
            <a:chExt cx="0" cy="0"/>
          </a:xfrm>
        </p:grpSpPr>
        <p:sp>
          <p:nvSpPr>
            <p:cNvPr id="36" name="Station 1 · empty bar · kiri"/>
            <p:cNvSpPr/>
            <p:nvPr/>
          </p:nvSpPr>
          <p:spPr>
            <a:xfrm>
              <a:off x="119697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on 1 · empty bar · kanan"/>
            <p:cNvSpPr/>
            <p:nvPr/>
          </p:nvSpPr>
          <p:spPr>
            <a:xfrm>
              <a:off x="160321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tion 1 · empty bar · atas"/>
            <p:cNvSpPr/>
            <p:nvPr/>
          </p:nvSpPr>
          <p:spPr>
            <a:xfrm>
              <a:off x="119697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ation 2 · sealed · kiri"/>
            <p:cNvSpPr/>
            <p:nvPr/>
          </p:nvSpPr>
          <p:spPr>
            <a:xfrm>
              <a:off x="3443291"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tion 2 · sealed · kanan"/>
            <p:cNvSpPr/>
            <p:nvPr/>
          </p:nvSpPr>
          <p:spPr>
            <a:xfrm>
              <a:off x="3849533"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ation 2 · sealed · atas"/>
            <p:cNvSpPr/>
            <p:nvPr/>
          </p:nvSpPr>
          <p:spPr>
            <a:xfrm>
              <a:off x="3443291"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tation 3 · sealed · kiri"/>
            <p:cNvSpPr/>
            <p:nvPr/>
          </p:nvSpPr>
          <p:spPr>
            <a:xfrm>
              <a:off x="568960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tation 3 · sealed · kanan"/>
            <p:cNvSpPr/>
            <p:nvPr/>
          </p:nvSpPr>
          <p:spPr>
            <a:xfrm>
              <a:off x="609584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tion 3 · sealed · atas"/>
            <p:cNvSpPr/>
            <p:nvPr/>
          </p:nvSpPr>
          <p:spPr>
            <a:xfrm>
              <a:off x="568960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tation 3 · seal · kiri"/>
            <p:cNvSpPr/>
            <p:nvPr/>
          </p:nvSpPr>
          <p:spPr>
            <a:xfrm>
              <a:off x="5825020" y="2334829"/>
              <a:ext cx="270828" cy="205008"/>
            </a:xfrm>
            <a:custGeom>
              <a:avLst/>
              <a:gdLst/>
              <a:ahLst/>
              <a:cxnLst/>
              <a:rect l="l" t="t" r="r" b="b"/>
              <a:pathLst>
                <a:path w="270828" h="205008">
                  <a:moveTo>
                    <a:pt x="0" y="48646"/>
                  </a:moveTo>
                  <a:lnTo>
                    <a:pt x="270828" y="205008"/>
                  </a:lnTo>
                  <a:lnTo>
                    <a:pt x="270828" y="156362"/>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tion 3 · seal · kanan"/>
            <p:cNvSpPr/>
            <p:nvPr/>
          </p:nvSpPr>
          <p:spPr>
            <a:xfrm>
              <a:off x="6095848" y="2334829"/>
              <a:ext cx="270827" cy="205008"/>
            </a:xfrm>
            <a:custGeom>
              <a:avLst/>
              <a:gdLst/>
              <a:ahLst/>
              <a:cxnLst/>
              <a:rect l="l" t="t" r="r" b="b"/>
              <a:pathLst>
                <a:path w="270827" h="205008">
                  <a:moveTo>
                    <a:pt x="270827" y="48646"/>
                  </a:moveTo>
                  <a:lnTo>
                    <a:pt x="0" y="205008"/>
                  </a:lnTo>
                  <a:lnTo>
                    <a:pt x="0" y="156362"/>
                  </a:lnTo>
                  <a:lnTo>
                    <a:pt x="27082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ation 3 · seal · atas"/>
            <p:cNvSpPr/>
            <p:nvPr/>
          </p:nvSpPr>
          <p:spPr>
            <a:xfrm>
              <a:off x="5825020" y="2178467"/>
              <a:ext cx="541655" cy="312724"/>
            </a:xfrm>
            <a:custGeom>
              <a:avLst/>
              <a:gdLst/>
              <a:ahLst/>
              <a:cxnLst/>
              <a:rect l="l" t="t" r="r" b="b"/>
              <a:pathLst>
                <a:path w="541655" h="312724">
                  <a:moveTo>
                    <a:pt x="270828" y="0"/>
                  </a:moveTo>
                  <a:lnTo>
                    <a:pt x="541655" y="156362"/>
                  </a:lnTo>
                  <a:lnTo>
                    <a:pt x="270828" y="312724"/>
                  </a:lnTo>
                  <a:lnTo>
                    <a:pt x="0" y="1563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ation 4 · chain · kiri"/>
            <p:cNvSpPr/>
            <p:nvPr/>
          </p:nvSpPr>
          <p:spPr>
            <a:xfrm>
              <a:off x="7860691" y="3198754"/>
              <a:ext cx="481472" cy="354422"/>
            </a:xfrm>
            <a:custGeom>
              <a:avLst/>
              <a:gdLst/>
              <a:ahLst/>
              <a:cxnLst/>
              <a:rect l="l" t="t" r="r" b="b"/>
              <a:pathLst>
                <a:path w="481472" h="354422">
                  <a:moveTo>
                    <a:pt x="0" y="76444"/>
                  </a:moveTo>
                  <a:lnTo>
                    <a:pt x="481472" y="354422"/>
                  </a:lnTo>
                  <a:lnTo>
                    <a:pt x="481472" y="277978"/>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ation 4 · chain · kanan"/>
            <p:cNvSpPr/>
            <p:nvPr/>
          </p:nvSpPr>
          <p:spPr>
            <a:xfrm>
              <a:off x="8342163" y="3198754"/>
              <a:ext cx="481471" cy="354422"/>
            </a:xfrm>
            <a:custGeom>
              <a:avLst/>
              <a:gdLst/>
              <a:ahLst/>
              <a:cxnLst/>
              <a:rect l="l" t="t" r="r" b="b"/>
              <a:pathLst>
                <a:path w="481471" h="354422">
                  <a:moveTo>
                    <a:pt x="481471" y="76444"/>
                  </a:moveTo>
                  <a:lnTo>
                    <a:pt x="0" y="354422"/>
                  </a:lnTo>
                  <a:lnTo>
                    <a:pt x="0" y="277978"/>
                  </a:lnTo>
                  <a:lnTo>
                    <a:pt x="481471"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ation 4 · chain · atas"/>
            <p:cNvSpPr/>
            <p:nvPr/>
          </p:nvSpPr>
          <p:spPr>
            <a:xfrm>
              <a:off x="7860691" y="2920776"/>
              <a:ext cx="962943" cy="555956"/>
            </a:xfrm>
            <a:custGeom>
              <a:avLst/>
              <a:gdLst/>
              <a:ahLst/>
              <a:cxnLst/>
              <a:rect l="l" t="t" r="r" b="b"/>
              <a:pathLst>
                <a:path w="962943" h="555956">
                  <a:moveTo>
                    <a:pt x="481472" y="0"/>
                  </a:moveTo>
                  <a:lnTo>
                    <a:pt x="962943" y="277978"/>
                  </a:lnTo>
                  <a:lnTo>
                    <a:pt x="481472" y="555956"/>
                  </a:lnTo>
                  <a:lnTo>
                    <a:pt x="0" y="277978"/>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ation 4 · chain · kiri"/>
            <p:cNvSpPr/>
            <p:nvPr/>
          </p:nvSpPr>
          <p:spPr>
            <a:xfrm>
              <a:off x="7860691" y="3006730"/>
              <a:ext cx="481472" cy="354422"/>
            </a:xfrm>
            <a:custGeom>
              <a:avLst/>
              <a:gdLst/>
              <a:ahLst/>
              <a:cxnLst/>
              <a:rect l="l" t="t" r="r" b="b"/>
              <a:pathLst>
                <a:path w="481472" h="354422">
                  <a:moveTo>
                    <a:pt x="0" y="76444"/>
                  </a:moveTo>
                  <a:lnTo>
                    <a:pt x="481472" y="354422"/>
                  </a:lnTo>
                  <a:lnTo>
                    <a:pt x="481472" y="277978"/>
                  </a:lnTo>
                  <a:lnTo>
                    <a:pt x="0" y="0"/>
                  </a:lnTo>
                  <a:close/>
                </a:path>
              </a:pathLst>
            </a:custGeom>
            <a:solidFill>
              <a:srgbClr val="121022"/>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Station 4 · chain · kanan"/>
            <p:cNvSpPr/>
            <p:nvPr/>
          </p:nvSpPr>
          <p:spPr>
            <a:xfrm>
              <a:off x="8342163" y="3006730"/>
              <a:ext cx="481471" cy="354422"/>
            </a:xfrm>
            <a:custGeom>
              <a:avLst/>
              <a:gdLst/>
              <a:ahLst/>
              <a:cxnLst/>
              <a:rect l="l" t="t" r="r" b="b"/>
              <a:pathLst>
                <a:path w="481471" h="354422">
                  <a:moveTo>
                    <a:pt x="481471" y="76444"/>
                  </a:moveTo>
                  <a:lnTo>
                    <a:pt x="0" y="354422"/>
                  </a:lnTo>
                  <a:lnTo>
                    <a:pt x="0" y="277978"/>
                  </a:lnTo>
                  <a:lnTo>
                    <a:pt x="481471" y="0"/>
                  </a:lnTo>
                  <a:close/>
                </a:path>
              </a:pathLst>
            </a:custGeom>
            <a:solidFill>
              <a:srgbClr val="1B1830"/>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tation 4 · chain · atas"/>
            <p:cNvSpPr/>
            <p:nvPr/>
          </p:nvSpPr>
          <p:spPr>
            <a:xfrm>
              <a:off x="7860691" y="2728752"/>
              <a:ext cx="962943" cy="555956"/>
            </a:xfrm>
            <a:custGeom>
              <a:avLst/>
              <a:gdLst/>
              <a:ahLst/>
              <a:cxnLst/>
              <a:rect l="l" t="t" r="r" b="b"/>
              <a:pathLst>
                <a:path w="962943" h="555956">
                  <a:moveTo>
                    <a:pt x="481472" y="0"/>
                  </a:moveTo>
                  <a:lnTo>
                    <a:pt x="962943" y="277978"/>
                  </a:lnTo>
                  <a:lnTo>
                    <a:pt x="481472" y="555956"/>
                  </a:lnTo>
                  <a:lnTo>
                    <a:pt x="0" y="277978"/>
                  </a:lnTo>
                  <a:close/>
                </a:path>
              </a:pathLst>
            </a:custGeom>
            <a:solidFill>
              <a:srgbClr val="2E2A48"/>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Station 4 · committed · kiri"/>
            <p:cNvSpPr/>
            <p:nvPr/>
          </p:nvSpPr>
          <p:spPr>
            <a:xfrm>
              <a:off x="7935921" y="2362352"/>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tation 4 · committed · kanan"/>
            <p:cNvSpPr/>
            <p:nvPr/>
          </p:nvSpPr>
          <p:spPr>
            <a:xfrm>
              <a:off x="8342163" y="2362352"/>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Station 4 · committed · atas"/>
            <p:cNvSpPr/>
            <p:nvPr/>
          </p:nvSpPr>
          <p:spPr>
            <a:xfrm>
              <a:off x="7935921" y="2127809"/>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tation 5 · opened · kiri"/>
            <p:cNvSpPr/>
            <p:nvPr/>
          </p:nvSpPr>
          <p:spPr>
            <a:xfrm>
              <a:off x="1018223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tation 5 · opened · kanan"/>
            <p:cNvSpPr/>
            <p:nvPr/>
          </p:nvSpPr>
          <p:spPr>
            <a:xfrm>
              <a:off x="1058847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Station 5 · opened · atas"/>
            <p:cNvSpPr/>
            <p:nvPr/>
          </p:nvSpPr>
          <p:spPr>
            <a:xfrm>
              <a:off x="1018223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9" name="Node 1"/>
          <p:cNvSpPr/>
          <p:nvPr/>
        </p:nvSpPr>
        <p:spPr>
          <a:xfrm>
            <a:off x="1530066"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ime 1"/>
          <p:cNvSpPr txBox="1"/>
          <p:nvPr/>
        </p:nvSpPr>
        <p:spPr>
          <a:xfrm>
            <a:off x="59436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00:00 UTC</a:t>
            </a:r>
          </a:p>
        </p:txBody>
      </p:sp>
      <p:sp>
        <p:nvSpPr>
          <p:cNvPr id="41" name="Title 1"/>
          <p:cNvSpPr txBox="1"/>
          <p:nvPr/>
        </p:nvSpPr>
        <p:spPr>
          <a:xfrm>
            <a:off x="64008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The bar closes</a:t>
            </a:r>
          </a:p>
        </p:txBody>
      </p:sp>
      <p:sp>
        <p:nvSpPr>
          <p:cNvPr id="42" name="Text 1"/>
          <p:cNvSpPr txBox="1"/>
          <p:nvPr/>
        </p:nvSpPr>
        <p:spPr>
          <a:xfrm>
            <a:off x="64008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The daily candle settles. Nothing later can enter the signal.</a:t>
            </a:r>
          </a:p>
        </p:txBody>
      </p:sp>
      <p:sp>
        <p:nvSpPr>
          <p:cNvPr id="43" name="Contract 1"/>
          <p:cNvSpPr txBox="1"/>
          <p:nvPr/>
        </p:nvSpPr>
        <p:spPr>
          <a:xfrm>
            <a:off x="59436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public market bars</a:t>
            </a:r>
          </a:p>
        </p:txBody>
      </p:sp>
      <p:sp>
        <p:nvSpPr>
          <p:cNvPr id="47" name="Node 2"/>
          <p:cNvSpPr/>
          <p:nvPr/>
        </p:nvSpPr>
        <p:spPr>
          <a:xfrm>
            <a:off x="3776381"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ime 2"/>
          <p:cNvSpPr txBox="1"/>
          <p:nvPr/>
        </p:nvSpPr>
        <p:spPr>
          <a:xfrm>
            <a:off x="2840675"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SECONDS</a:t>
            </a:r>
          </a:p>
        </p:txBody>
      </p:sp>
      <p:sp>
        <p:nvSpPr>
          <p:cNvPr id="49" name="Title 2"/>
          <p:cNvSpPr txBox="1"/>
          <p:nvPr/>
        </p:nvSpPr>
        <p:spPr>
          <a:xfrm>
            <a:off x="2886395"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The bot decides</a:t>
            </a:r>
          </a:p>
        </p:txBody>
      </p:sp>
      <p:sp>
        <p:nvSpPr>
          <p:cNvPr id="50" name="Text 2"/>
          <p:cNvSpPr txBox="1"/>
          <p:nvPr/>
        </p:nvSpPr>
        <p:spPr>
          <a:xfrm>
            <a:off x="2886395"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One locked method, one parameter: enter, exit or resize.</a:t>
            </a:r>
          </a:p>
        </p:txBody>
      </p:sp>
      <p:sp>
        <p:nvSpPr>
          <p:cNvPr id="51" name="Contract 2"/>
          <p:cNvSpPr txBox="1"/>
          <p:nvPr/>
        </p:nvSpPr>
        <p:spPr>
          <a:xfrm>
            <a:off x="2840675"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LockRegistry rule</a:t>
            </a:r>
          </a:p>
        </p:txBody>
      </p:sp>
      <p:sp>
        <p:nvSpPr>
          <p:cNvPr id="58" name="Node 3"/>
          <p:cNvSpPr/>
          <p:nvPr/>
        </p:nvSpPr>
        <p:spPr>
          <a:xfrm>
            <a:off x="6022696"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ime 3"/>
          <p:cNvSpPr txBox="1"/>
          <p:nvPr/>
        </p:nvSpPr>
        <p:spPr>
          <a:xfrm>
            <a:off x="508699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MINUTES</a:t>
            </a:r>
          </a:p>
        </p:txBody>
      </p:sp>
      <p:sp>
        <p:nvSpPr>
          <p:cNvPr id="60" name="Title 3"/>
          <p:cNvSpPr txBox="1"/>
          <p:nvPr/>
        </p:nvSpPr>
        <p:spPr>
          <a:xfrm>
            <a:off x="513271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Sealed</a:t>
            </a:r>
          </a:p>
        </p:txBody>
      </p:sp>
      <p:sp>
        <p:nvSpPr>
          <p:cNvPr id="61" name="Text 3"/>
          <p:cNvSpPr txBox="1"/>
          <p:nvPr/>
        </p:nvSpPr>
        <p:spPr>
          <a:xfrm>
            <a:off x="513271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Every signal is salted and folded into one Merkle root.</a:t>
            </a:r>
          </a:p>
        </p:txBody>
      </p:sp>
      <p:sp>
        <p:nvSpPr>
          <p:cNvPr id="62" name="Contract 3"/>
          <p:cNvSpPr txBox="1"/>
          <p:nvPr/>
        </p:nvSpPr>
        <p:spPr>
          <a:xfrm>
            <a:off x="508699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Merkle root</a:t>
            </a:r>
          </a:p>
        </p:txBody>
      </p:sp>
      <p:sp>
        <p:nvSpPr>
          <p:cNvPr id="72" name="Node 4"/>
          <p:cNvSpPr/>
          <p:nvPr/>
        </p:nvSpPr>
        <p:spPr>
          <a:xfrm>
            <a:off x="8269011"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ime 4"/>
          <p:cNvSpPr txBox="1"/>
          <p:nvPr/>
        </p:nvSpPr>
        <p:spPr>
          <a:xfrm>
            <a:off x="7333305"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12 H</a:t>
            </a:r>
          </a:p>
        </p:txBody>
      </p:sp>
      <p:sp>
        <p:nvSpPr>
          <p:cNvPr id="74" name="Title 4"/>
          <p:cNvSpPr txBox="1"/>
          <p:nvPr/>
        </p:nvSpPr>
        <p:spPr>
          <a:xfrm>
            <a:off x="7379025"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Committed on BNB Chain</a:t>
            </a:r>
          </a:p>
        </p:txBody>
      </p:sp>
      <p:sp>
        <p:nvSpPr>
          <p:cNvPr id="75" name="Text 4"/>
          <p:cNvSpPr txBox="1"/>
          <p:nvPr/>
        </p:nvSpPr>
        <p:spPr>
          <a:xfrm>
            <a:off x="7379025"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The root lands in SignalAnchor. The block time is the alibi.</a:t>
            </a:r>
          </a:p>
        </p:txBody>
      </p:sp>
      <p:sp>
        <p:nvSpPr>
          <p:cNvPr id="76" name="Contract 4"/>
          <p:cNvSpPr txBox="1"/>
          <p:nvPr/>
        </p:nvSpPr>
        <p:spPr>
          <a:xfrm>
            <a:off x="7333305"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SignalAnchor.commit</a:t>
            </a:r>
          </a:p>
        </p:txBody>
      </p:sp>
      <p:sp>
        <p:nvSpPr>
          <p:cNvPr id="80" name="Node 5"/>
          <p:cNvSpPr/>
          <p:nvPr/>
        </p:nvSpPr>
        <p:spPr>
          <a:xfrm>
            <a:off x="10515326" y="3657600"/>
            <a:ext cx="146304" cy="146304"/>
          </a:xfrm>
          <a:prstGeom prst="ellipse">
            <a:avLst/>
          </a:prstGeom>
          <a:solidFill>
            <a:srgbClr val="F6F2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ime 5"/>
          <p:cNvSpPr txBox="1"/>
          <p:nvPr/>
        </p:nvSpPr>
        <p:spPr>
          <a:xfrm>
            <a:off x="957962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AFTER</a:t>
            </a:r>
          </a:p>
        </p:txBody>
      </p:sp>
      <p:sp>
        <p:nvSpPr>
          <p:cNvPr id="82" name="Title 5"/>
          <p:cNvSpPr txBox="1"/>
          <p:nvPr/>
        </p:nvSpPr>
        <p:spPr>
          <a:xfrm>
            <a:off x="962534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Opened and checked</a:t>
            </a:r>
          </a:p>
        </p:txBody>
      </p:sp>
      <p:sp>
        <p:nvSpPr>
          <p:cNvPr id="83" name="Text 5"/>
          <p:cNvSpPr txBox="1"/>
          <p:nvPr/>
        </p:nvSpPr>
        <p:spPr>
          <a:xfrm>
            <a:off x="962534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Payloads are revealed. Anyone recomputes them from public bars.</a:t>
            </a:r>
          </a:p>
        </p:txBody>
      </p:sp>
      <p:sp>
        <p:nvSpPr>
          <p:cNvPr id="84" name="Contract 5"/>
          <p:cNvSpPr txBox="1"/>
          <p:nvPr/>
        </p:nvSpPr>
        <p:spPr>
          <a:xfrm>
            <a:off x="957962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reveal · verify</a:t>
            </a:r>
          </a:p>
        </p:txBody>
      </p:sp>
      <p:sp>
        <p:nvSpPr>
          <p:cNvPr id="85" name="Verify strip"/>
          <p:cNvSpPr/>
          <p:nvPr/>
        </p:nvSpPr>
        <p:spPr>
          <a:xfrm>
            <a:off x="594360" y="5971032"/>
            <a:ext cx="11002975" cy="38404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Verify command"/>
          <p:cNvSpPr txBox="1"/>
          <p:nvPr/>
        </p:nvSpPr>
        <p:spPr>
          <a:xfrm>
            <a:off x="822960" y="5971032"/>
            <a:ext cx="6583680" cy="384048"/>
          </a:xfrm>
          <a:prstGeom prst="rect">
            <a:avLst/>
          </a:prstGeom>
          <a:noFill/>
        </p:spPr>
        <p:txBody>
          <a:bodyPr wrap="square" lIns="0" rIns="0" tIns="0" bIns="0" anchor="ctr">
            <a:noAutofit/>
          </a:bodyPr>
          <a:lstStyle/>
          <a:p>
            <a:pPr algn="l">
              <a:lnSpc>
                <a:spcPct val="125000"/>
              </a:lnSpc>
              <a:spcBef>
                <a:spcPts val="0"/>
              </a:spcBef>
              <a:spcAft>
                <a:spcPts val="0"/>
              </a:spcAft>
            </a:pPr>
            <a:r>
              <a:rPr sz="1200" b="0" i="0" lang="en-US">
                <a:solidFill>
                  <a:srgbClr val="ECE8FA"/>
                </a:solidFill>
                <a:latin typeface="JetBrains Mono" pitchFamily="49" charset="0"/>
              </a:rPr>
              <a:t>python -X utf8 tools/verify_signals.py</a:t>
            </a:r>
          </a:p>
        </p:txBody>
      </p:sp>
      <p:sp>
        <p:nvSpPr>
          <p:cNvPr id="87" name="Chip · NO KEY"/>
          <p:cNvSpPr/>
          <p:nvPr/>
        </p:nvSpPr>
        <p:spPr>
          <a:xfrm>
            <a:off x="7116775" y="6035040"/>
            <a:ext cx="82296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hip text"/>
          <p:cNvSpPr txBox="1"/>
          <p:nvPr/>
        </p:nvSpPr>
        <p:spPr>
          <a:xfrm>
            <a:off x="7253935" y="6035040"/>
            <a:ext cx="54864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NO KEY</a:t>
            </a:r>
          </a:p>
        </p:txBody>
      </p:sp>
      <p:sp>
        <p:nvSpPr>
          <p:cNvPr id="89" name="Chip · NO GAS"/>
          <p:cNvSpPr/>
          <p:nvPr/>
        </p:nvSpPr>
        <p:spPr>
          <a:xfrm>
            <a:off x="8031175" y="6035040"/>
            <a:ext cx="82296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hip text"/>
          <p:cNvSpPr txBox="1"/>
          <p:nvPr/>
        </p:nvSpPr>
        <p:spPr>
          <a:xfrm>
            <a:off x="8168335" y="6035040"/>
            <a:ext cx="54864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NO GAS</a:t>
            </a:r>
          </a:p>
        </p:txBody>
      </p:sp>
      <p:sp>
        <p:nvSpPr>
          <p:cNvPr id="91" name="Chip · SAH = recomputes exactly"/>
          <p:cNvSpPr/>
          <p:nvPr/>
        </p:nvSpPr>
        <p:spPr>
          <a:xfrm>
            <a:off x="8945575" y="6035040"/>
            <a:ext cx="246888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hip text"/>
          <p:cNvSpPr txBox="1"/>
          <p:nvPr/>
        </p:nvSpPr>
        <p:spPr>
          <a:xfrm>
            <a:off x="9082735" y="6035040"/>
            <a:ext cx="21945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SAH = RECOMPUTES EXACTLY</a:t>
            </a:r>
          </a:p>
        </p:txBody>
      </p:sp>
      <p:sp>
        <p:nvSpPr>
          <p:cNvPr id="93"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94"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68680"/>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Bring your bot. </a:t>
            </a:r>
            <a:r>
              <a:rPr sz="4000" b="1" i="1" lang="en-US">
                <a:solidFill>
                  <a:srgbClr val="9D86FF"/>
                </a:solidFill>
                <a:latin typeface="Archivo" pitchFamily="34" charset="0"/>
              </a:rPr>
              <a:t>Bring your agent.</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05 — THE OPEN PLATFORM</a:t>
            </a:r>
          </a:p>
        </p:txBody>
      </p:sp>
      <p:sp>
        <p:nvSpPr>
          <p:cNvPr id="7" name="Sub"/>
          <p:cNvSpPr txBox="1"/>
          <p:nvPr/>
        </p:nvSpPr>
        <p:spPr>
          <a:xfrm>
            <a:off x="594360" y="1554480"/>
            <a:ext cx="11002975" cy="45720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The same public gates judge everyone, ours included. Open now, and the first outside seat is still yours.</a:t>
            </a:r>
          </a:p>
        </p:txBody>
      </p:sp>
      <p:sp>
        <p:nvSpPr>
          <p:cNvPr id="8" name="Door card 1"/>
          <p:cNvSpPr/>
          <p:nvPr/>
        </p:nvSpPr>
        <p:spPr>
          <a:xfrm>
            <a:off x="594360"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Portal 1 · RULE"/>
          <p:cNvGrpSpPr/>
          <p:nvPr/>
        </p:nvGrpSpPr>
        <p:grpSpPr>
          <a:xfrm>
            <a:off x="466344" y="2293315"/>
            <a:ext cx="1554480" cy="1554480"/>
            <a:chOff x="466344" y="2293315"/>
            <a:chExt cx="1554480" cy="1554480"/>
          </a:xfrm>
        </p:grpSpPr>
        <p:grpSp>
          <p:nvGrpSpPr>
            <p:cNvPr id="10" name="Portal glow"/>
            <p:cNvGrpSpPr/>
            <p:nvPr/>
          </p:nvGrpSpPr>
          <p:grpSpPr>
            <a:xfrm>
              <a:off x="466344" y="2293315"/>
              <a:ext cx="1554480" cy="1554480"/>
              <a:chOff x="466344" y="2293315"/>
              <a:chExt cx="1554480" cy="1554480"/>
            </a:xfrm>
          </p:grpSpPr>
          <p:sp>
            <p:nvSpPr>
              <p:cNvPr id="11" name="Portal glow 1"/>
              <p:cNvSpPr/>
              <p:nvPr/>
            </p:nvSpPr>
            <p:spPr>
              <a:xfrm>
                <a:off x="466344"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ortal glow 2"/>
              <p:cNvSpPr/>
              <p:nvPr/>
            </p:nvSpPr>
            <p:spPr>
              <a:xfrm>
                <a:off x="521349"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rtal glow 3"/>
              <p:cNvSpPr/>
              <p:nvPr/>
            </p:nvSpPr>
            <p:spPr>
              <a:xfrm>
                <a:off x="576353"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ortal glow 4"/>
              <p:cNvSpPr/>
              <p:nvPr/>
            </p:nvSpPr>
            <p:spPr>
              <a:xfrm>
                <a:off x="631358"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ortal glow 5"/>
              <p:cNvSpPr/>
              <p:nvPr/>
            </p:nvSpPr>
            <p:spPr>
              <a:xfrm>
                <a:off x="686363"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ortal glow 6"/>
              <p:cNvSpPr/>
              <p:nvPr/>
            </p:nvSpPr>
            <p:spPr>
              <a:xfrm>
                <a:off x="741367"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ortal glow 7"/>
              <p:cNvSpPr/>
              <p:nvPr/>
            </p:nvSpPr>
            <p:spPr>
              <a:xfrm>
                <a:off x="796372"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ortal glow 8"/>
              <p:cNvSpPr/>
              <p:nvPr/>
            </p:nvSpPr>
            <p:spPr>
              <a:xfrm>
                <a:off x="851377"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ortal glow 9"/>
              <p:cNvSpPr/>
              <p:nvPr/>
            </p:nvSpPr>
            <p:spPr>
              <a:xfrm>
                <a:off x="906381"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ortal glow 10"/>
              <p:cNvSpPr/>
              <p:nvPr/>
            </p:nvSpPr>
            <p:spPr>
              <a:xfrm>
                <a:off x="961386"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ortal glow 11"/>
              <p:cNvSpPr/>
              <p:nvPr/>
            </p:nvSpPr>
            <p:spPr>
              <a:xfrm>
                <a:off x="1016391"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rtal glow 12"/>
              <p:cNvSpPr/>
              <p:nvPr/>
            </p:nvSpPr>
            <p:spPr>
              <a:xfrm>
                <a:off x="1071395"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ortal glow 13"/>
              <p:cNvSpPr/>
              <p:nvPr/>
            </p:nvSpPr>
            <p:spPr>
              <a:xfrm>
                <a:off x="1126400"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ortal glow 14"/>
              <p:cNvSpPr/>
              <p:nvPr/>
            </p:nvSpPr>
            <p:spPr>
              <a:xfrm>
                <a:off x="1181405"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5" name="Portal"/>
            <p:cNvSpPr/>
            <p:nvPr/>
          </p:nvSpPr>
          <p:spPr>
            <a:xfrm>
              <a:off x="850392" y="2478024"/>
              <a:ext cx="786384" cy="987552"/>
            </a:xfrm>
            <a:custGeom>
              <a:avLst/>
              <a:gdLst/>
              <a:ahLst/>
              <a:cxnLst/>
              <a:rect l="l" t="t" r="r" b="b"/>
              <a:pathLst>
                <a:path w="786384" h="987552">
                  <a:moveTo>
                    <a:pt x="0" y="393192"/>
                  </a:moveTo>
                  <a:lnTo>
                    <a:pt x="3364" y="341870"/>
                  </a:lnTo>
                  <a:lnTo>
                    <a:pt x="13398" y="291426"/>
                  </a:lnTo>
                  <a:lnTo>
                    <a:pt x="29930" y="242724"/>
                  </a:lnTo>
                  <a:lnTo>
                    <a:pt x="52678" y="196596"/>
                  </a:lnTo>
                  <a:lnTo>
                    <a:pt x="81252" y="153832"/>
                  </a:lnTo>
                  <a:lnTo>
                    <a:pt x="115163" y="115163"/>
                  </a:lnTo>
                  <a:lnTo>
                    <a:pt x="153832" y="81252"/>
                  </a:lnTo>
                  <a:lnTo>
                    <a:pt x="196596" y="52678"/>
                  </a:lnTo>
                  <a:lnTo>
                    <a:pt x="242724" y="29930"/>
                  </a:lnTo>
                  <a:lnTo>
                    <a:pt x="291426" y="13398"/>
                  </a:lnTo>
                  <a:lnTo>
                    <a:pt x="341870" y="3364"/>
                  </a:lnTo>
                  <a:lnTo>
                    <a:pt x="393192" y="0"/>
                  </a:lnTo>
                  <a:lnTo>
                    <a:pt x="444514" y="3364"/>
                  </a:lnTo>
                  <a:lnTo>
                    <a:pt x="494958" y="13398"/>
                  </a:lnTo>
                  <a:lnTo>
                    <a:pt x="543660" y="29930"/>
                  </a:lnTo>
                  <a:lnTo>
                    <a:pt x="589788" y="52678"/>
                  </a:lnTo>
                  <a:lnTo>
                    <a:pt x="632552" y="81252"/>
                  </a:lnTo>
                  <a:lnTo>
                    <a:pt x="671221"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lock entering · kiri"/>
            <p:cNvSpPr/>
            <p:nvPr/>
          </p:nvSpPr>
          <p:spPr>
            <a:xfrm>
              <a:off x="974340"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lock entering · kanan"/>
            <p:cNvSpPr/>
            <p:nvPr/>
          </p:nvSpPr>
          <p:spPr>
            <a:xfrm>
              <a:off x="1243584"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entering · atas"/>
            <p:cNvSpPr/>
            <p:nvPr/>
          </p:nvSpPr>
          <p:spPr>
            <a:xfrm>
              <a:off x="974340" y="2788920"/>
              <a:ext cx="538488" cy="310896"/>
            </a:xfrm>
            <a:custGeom>
              <a:avLst/>
              <a:gdLst/>
              <a:ahLst/>
              <a:cxnLst/>
              <a:rect l="l" t="t" r="r" b="b"/>
              <a:pathLst>
                <a:path w="538488" h="310896">
                  <a:moveTo>
                    <a:pt x="269244" y="0"/>
                  </a:moveTo>
                  <a:lnTo>
                    <a:pt x="538488"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9" name="Chip · LIVE"/>
          <p:cNvSpPr/>
          <p:nvPr/>
        </p:nvSpPr>
        <p:spPr>
          <a:xfrm>
            <a:off x="1959788"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ip dot"/>
          <p:cNvSpPr/>
          <p:nvPr/>
        </p:nvSpPr>
        <p:spPr>
          <a:xfrm>
            <a:off x="2096948"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ip text"/>
          <p:cNvSpPr txBox="1"/>
          <p:nvPr/>
        </p:nvSpPr>
        <p:spPr>
          <a:xfrm>
            <a:off x="2279828"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32" name="Door kind 1"/>
          <p:cNvSpPr txBox="1"/>
          <p:nvPr/>
        </p:nvSpPr>
        <p:spPr>
          <a:xfrm>
            <a:off x="850392"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RULE</a:t>
            </a:r>
          </a:p>
        </p:txBody>
      </p:sp>
      <p:sp>
        <p:nvSpPr>
          <p:cNvPr id="33" name="Door title 1"/>
          <p:cNvSpPr txBox="1"/>
          <p:nvPr/>
        </p:nvSpPr>
        <p:spPr>
          <a:xfrm>
            <a:off x="850392"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Compose a rule</a:t>
            </a:r>
          </a:p>
        </p:txBody>
      </p:sp>
      <p:sp>
        <p:nvSpPr>
          <p:cNvPr id="34" name="Door text 1"/>
          <p:cNvSpPr txBox="1"/>
          <p:nvPr/>
        </p:nvSpPr>
        <p:spPr>
          <a:xfrm>
            <a:off x="850392"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Pick features, combine conditions, size positions. Our engine runs it and publishes it.</a:t>
            </a:r>
          </a:p>
        </p:txBody>
      </p:sp>
      <p:sp>
        <p:nvSpPr>
          <p:cNvPr id="35" name="Door card 2"/>
          <p:cNvSpPr/>
          <p:nvPr/>
        </p:nvSpPr>
        <p:spPr>
          <a:xfrm>
            <a:off x="3395396"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6" name="Portal 2 · FEED"/>
          <p:cNvGrpSpPr/>
          <p:nvPr/>
        </p:nvGrpSpPr>
        <p:grpSpPr>
          <a:xfrm>
            <a:off x="3267380" y="2293315"/>
            <a:ext cx="1554480" cy="1554480"/>
            <a:chOff x="3267380" y="2293315"/>
            <a:chExt cx="1554480" cy="1554480"/>
          </a:xfrm>
        </p:grpSpPr>
        <p:grpSp>
          <p:nvGrpSpPr>
            <p:cNvPr id="37" name="Portal glow"/>
            <p:cNvGrpSpPr/>
            <p:nvPr/>
          </p:nvGrpSpPr>
          <p:grpSpPr>
            <a:xfrm>
              <a:off x="3267380" y="2293315"/>
              <a:ext cx="1554480" cy="1554480"/>
              <a:chOff x="3267380" y="2293315"/>
              <a:chExt cx="1554480" cy="1554480"/>
            </a:xfrm>
          </p:grpSpPr>
          <p:sp>
            <p:nvSpPr>
              <p:cNvPr id="38" name="Portal glow 1"/>
              <p:cNvSpPr/>
              <p:nvPr/>
            </p:nvSpPr>
            <p:spPr>
              <a:xfrm>
                <a:off x="3267380"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ortal glow 2"/>
              <p:cNvSpPr/>
              <p:nvPr/>
            </p:nvSpPr>
            <p:spPr>
              <a:xfrm>
                <a:off x="3322384"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ortal glow 3"/>
              <p:cNvSpPr/>
              <p:nvPr/>
            </p:nvSpPr>
            <p:spPr>
              <a:xfrm>
                <a:off x="3377389"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ortal glow 4"/>
              <p:cNvSpPr/>
              <p:nvPr/>
            </p:nvSpPr>
            <p:spPr>
              <a:xfrm>
                <a:off x="3432394"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ortal glow 5"/>
              <p:cNvSpPr/>
              <p:nvPr/>
            </p:nvSpPr>
            <p:spPr>
              <a:xfrm>
                <a:off x="3487399"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ortal glow 6"/>
              <p:cNvSpPr/>
              <p:nvPr/>
            </p:nvSpPr>
            <p:spPr>
              <a:xfrm>
                <a:off x="3542403"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ortal glow 7"/>
              <p:cNvSpPr/>
              <p:nvPr/>
            </p:nvSpPr>
            <p:spPr>
              <a:xfrm>
                <a:off x="3597408"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ortal glow 8"/>
              <p:cNvSpPr/>
              <p:nvPr/>
            </p:nvSpPr>
            <p:spPr>
              <a:xfrm>
                <a:off x="3652413"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ortal glow 9"/>
              <p:cNvSpPr/>
              <p:nvPr/>
            </p:nvSpPr>
            <p:spPr>
              <a:xfrm>
                <a:off x="3707417"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ortal glow 10"/>
              <p:cNvSpPr/>
              <p:nvPr/>
            </p:nvSpPr>
            <p:spPr>
              <a:xfrm>
                <a:off x="3762422"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ortal glow 11"/>
              <p:cNvSpPr/>
              <p:nvPr/>
            </p:nvSpPr>
            <p:spPr>
              <a:xfrm>
                <a:off x="3817427"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ortal glow 12"/>
              <p:cNvSpPr/>
              <p:nvPr/>
            </p:nvSpPr>
            <p:spPr>
              <a:xfrm>
                <a:off x="3872431"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ortal glow 13"/>
              <p:cNvSpPr/>
              <p:nvPr/>
            </p:nvSpPr>
            <p:spPr>
              <a:xfrm>
                <a:off x="3927436"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ortal glow 14"/>
              <p:cNvSpPr/>
              <p:nvPr/>
            </p:nvSpPr>
            <p:spPr>
              <a:xfrm>
                <a:off x="3982441"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2" name="Portal"/>
            <p:cNvSpPr/>
            <p:nvPr/>
          </p:nvSpPr>
          <p:spPr>
            <a:xfrm>
              <a:off x="3651428" y="2478024"/>
              <a:ext cx="786384" cy="987552"/>
            </a:xfrm>
            <a:custGeom>
              <a:avLst/>
              <a:gdLst/>
              <a:ahLst/>
              <a:cxnLst/>
              <a:rect l="l" t="t" r="r" b="b"/>
              <a:pathLst>
                <a:path w="786384" h="987552">
                  <a:moveTo>
                    <a:pt x="0" y="393192"/>
                  </a:moveTo>
                  <a:lnTo>
                    <a:pt x="3364" y="341870"/>
                  </a:lnTo>
                  <a:lnTo>
                    <a:pt x="13397" y="291426"/>
                  </a:lnTo>
                  <a:lnTo>
                    <a:pt x="29930" y="242724"/>
                  </a:lnTo>
                  <a:lnTo>
                    <a:pt x="52678" y="196596"/>
                  </a:lnTo>
                  <a:lnTo>
                    <a:pt x="81252" y="153832"/>
                  </a:lnTo>
                  <a:lnTo>
                    <a:pt x="115163" y="115163"/>
                  </a:lnTo>
                  <a:lnTo>
                    <a:pt x="153832" y="81252"/>
                  </a:lnTo>
                  <a:lnTo>
                    <a:pt x="196596" y="52678"/>
                  </a:lnTo>
                  <a:lnTo>
                    <a:pt x="242724" y="29930"/>
                  </a:lnTo>
                  <a:lnTo>
                    <a:pt x="291426" y="13398"/>
                  </a:lnTo>
                  <a:lnTo>
                    <a:pt x="341870" y="3364"/>
                  </a:lnTo>
                  <a:lnTo>
                    <a:pt x="393192" y="0"/>
                  </a:lnTo>
                  <a:lnTo>
                    <a:pt x="444514" y="3364"/>
                  </a:lnTo>
                  <a:lnTo>
                    <a:pt x="494957" y="13398"/>
                  </a:lnTo>
                  <a:lnTo>
                    <a:pt x="543660" y="29930"/>
                  </a:lnTo>
                  <a:lnTo>
                    <a:pt x="589788" y="52678"/>
                  </a:lnTo>
                  <a:lnTo>
                    <a:pt x="632552" y="81252"/>
                  </a:lnTo>
                  <a:lnTo>
                    <a:pt x="671221"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lock entering · kiri"/>
            <p:cNvSpPr/>
            <p:nvPr/>
          </p:nvSpPr>
          <p:spPr>
            <a:xfrm>
              <a:off x="3775376"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lock entering · kanan"/>
            <p:cNvSpPr/>
            <p:nvPr/>
          </p:nvSpPr>
          <p:spPr>
            <a:xfrm>
              <a:off x="4044620"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lock entering · atas"/>
            <p:cNvSpPr/>
            <p:nvPr/>
          </p:nvSpPr>
          <p:spPr>
            <a:xfrm>
              <a:off x="3775376" y="2788920"/>
              <a:ext cx="538488" cy="310896"/>
            </a:xfrm>
            <a:custGeom>
              <a:avLst/>
              <a:gdLst/>
              <a:ahLst/>
              <a:cxnLst/>
              <a:rect l="l" t="t" r="r" b="b"/>
              <a:pathLst>
                <a:path w="538488" h="310896">
                  <a:moveTo>
                    <a:pt x="269244" y="0"/>
                  </a:moveTo>
                  <a:lnTo>
                    <a:pt x="538488"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6" name="Chip · LIVE"/>
          <p:cNvSpPr/>
          <p:nvPr/>
        </p:nvSpPr>
        <p:spPr>
          <a:xfrm>
            <a:off x="4760824"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ip dot"/>
          <p:cNvSpPr/>
          <p:nvPr/>
        </p:nvSpPr>
        <p:spPr>
          <a:xfrm>
            <a:off x="4897984"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ip text"/>
          <p:cNvSpPr txBox="1"/>
          <p:nvPr/>
        </p:nvSpPr>
        <p:spPr>
          <a:xfrm>
            <a:off x="5080864"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59" name="Door kind 2"/>
          <p:cNvSpPr txBox="1"/>
          <p:nvPr/>
        </p:nvSpPr>
        <p:spPr>
          <a:xfrm>
            <a:off x="3651428"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FEED</a:t>
            </a:r>
          </a:p>
        </p:txBody>
      </p:sp>
      <p:sp>
        <p:nvSpPr>
          <p:cNvPr id="60" name="Door title 2"/>
          <p:cNvSpPr txBox="1"/>
          <p:nvPr/>
        </p:nvSpPr>
        <p:spPr>
          <a:xfrm>
            <a:off x="3651428"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Run your own program</a:t>
            </a:r>
          </a:p>
        </p:txBody>
      </p:sp>
      <p:sp>
        <p:nvSpPr>
          <p:cNvPr id="61" name="Door text 2"/>
          <p:cNvSpPr txBox="1"/>
          <p:nvPr/>
        </p:nvSpPr>
        <p:spPr>
          <a:xfrm>
            <a:off x="3651428"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Commit signed target weights before each daily close. Judged on forward evidence only.</a:t>
            </a:r>
          </a:p>
        </p:txBody>
      </p:sp>
      <p:sp>
        <p:nvSpPr>
          <p:cNvPr id="62" name="Door card 3"/>
          <p:cNvSpPr/>
          <p:nvPr/>
        </p:nvSpPr>
        <p:spPr>
          <a:xfrm>
            <a:off x="6196432"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3" name="Portal 3 · AGENT"/>
          <p:cNvGrpSpPr/>
          <p:nvPr/>
        </p:nvGrpSpPr>
        <p:grpSpPr>
          <a:xfrm>
            <a:off x="6068416" y="2293315"/>
            <a:ext cx="1554480" cy="1554480"/>
            <a:chOff x="6068416" y="2293315"/>
            <a:chExt cx="1554480" cy="1554480"/>
          </a:xfrm>
        </p:grpSpPr>
        <p:grpSp>
          <p:nvGrpSpPr>
            <p:cNvPr id="64" name="Portal glow"/>
            <p:cNvGrpSpPr/>
            <p:nvPr/>
          </p:nvGrpSpPr>
          <p:grpSpPr>
            <a:xfrm>
              <a:off x="6068416" y="2293315"/>
              <a:ext cx="1554480" cy="1554480"/>
              <a:chOff x="6068416" y="2293315"/>
              <a:chExt cx="1554480" cy="1554480"/>
            </a:xfrm>
          </p:grpSpPr>
          <p:sp>
            <p:nvSpPr>
              <p:cNvPr id="65" name="Portal glow 1"/>
              <p:cNvSpPr/>
              <p:nvPr/>
            </p:nvSpPr>
            <p:spPr>
              <a:xfrm>
                <a:off x="6068416"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ortal glow 2"/>
              <p:cNvSpPr/>
              <p:nvPr/>
            </p:nvSpPr>
            <p:spPr>
              <a:xfrm>
                <a:off x="6123420"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ortal glow 3"/>
              <p:cNvSpPr/>
              <p:nvPr/>
            </p:nvSpPr>
            <p:spPr>
              <a:xfrm>
                <a:off x="6178425"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ortal glow 4"/>
              <p:cNvSpPr/>
              <p:nvPr/>
            </p:nvSpPr>
            <p:spPr>
              <a:xfrm>
                <a:off x="6233430"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ortal glow 5"/>
              <p:cNvSpPr/>
              <p:nvPr/>
            </p:nvSpPr>
            <p:spPr>
              <a:xfrm>
                <a:off x="6288434"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ortal glow 6"/>
              <p:cNvSpPr/>
              <p:nvPr/>
            </p:nvSpPr>
            <p:spPr>
              <a:xfrm>
                <a:off x="6343439"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ortal glow 7"/>
              <p:cNvSpPr/>
              <p:nvPr/>
            </p:nvSpPr>
            <p:spPr>
              <a:xfrm>
                <a:off x="6398444"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ortal glow 8"/>
              <p:cNvSpPr/>
              <p:nvPr/>
            </p:nvSpPr>
            <p:spPr>
              <a:xfrm>
                <a:off x="6453448"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ortal glow 9"/>
              <p:cNvSpPr/>
              <p:nvPr/>
            </p:nvSpPr>
            <p:spPr>
              <a:xfrm>
                <a:off x="6508453"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ortal glow 10"/>
              <p:cNvSpPr/>
              <p:nvPr/>
            </p:nvSpPr>
            <p:spPr>
              <a:xfrm>
                <a:off x="6563458"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ortal glow 11"/>
              <p:cNvSpPr/>
              <p:nvPr/>
            </p:nvSpPr>
            <p:spPr>
              <a:xfrm>
                <a:off x="6618462"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ortal glow 12"/>
              <p:cNvSpPr/>
              <p:nvPr/>
            </p:nvSpPr>
            <p:spPr>
              <a:xfrm>
                <a:off x="6673467"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ortal glow 13"/>
              <p:cNvSpPr/>
              <p:nvPr/>
            </p:nvSpPr>
            <p:spPr>
              <a:xfrm>
                <a:off x="6728472"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ortal glow 14"/>
              <p:cNvSpPr/>
              <p:nvPr/>
            </p:nvSpPr>
            <p:spPr>
              <a:xfrm>
                <a:off x="6783476"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79" name="Portal"/>
            <p:cNvSpPr/>
            <p:nvPr/>
          </p:nvSpPr>
          <p:spPr>
            <a:xfrm>
              <a:off x="6452464" y="2478024"/>
              <a:ext cx="786384" cy="987552"/>
            </a:xfrm>
            <a:custGeom>
              <a:avLst/>
              <a:gdLst/>
              <a:ahLst/>
              <a:cxnLst/>
              <a:rect l="l" t="t" r="r" b="b"/>
              <a:pathLst>
                <a:path w="786384" h="987552">
                  <a:moveTo>
                    <a:pt x="0" y="393192"/>
                  </a:moveTo>
                  <a:lnTo>
                    <a:pt x="3363" y="341870"/>
                  </a:lnTo>
                  <a:lnTo>
                    <a:pt x="13397" y="291426"/>
                  </a:lnTo>
                  <a:lnTo>
                    <a:pt x="29930" y="242724"/>
                  </a:lnTo>
                  <a:lnTo>
                    <a:pt x="52677" y="196596"/>
                  </a:lnTo>
                  <a:lnTo>
                    <a:pt x="81251" y="153832"/>
                  </a:lnTo>
                  <a:lnTo>
                    <a:pt x="115163" y="115163"/>
                  </a:lnTo>
                  <a:lnTo>
                    <a:pt x="153831" y="81252"/>
                  </a:lnTo>
                  <a:lnTo>
                    <a:pt x="196596" y="52678"/>
                  </a:lnTo>
                  <a:lnTo>
                    <a:pt x="242724" y="29930"/>
                  </a:lnTo>
                  <a:lnTo>
                    <a:pt x="291426" y="13398"/>
                  </a:lnTo>
                  <a:lnTo>
                    <a:pt x="341870" y="3364"/>
                  </a:lnTo>
                  <a:lnTo>
                    <a:pt x="393192" y="0"/>
                  </a:lnTo>
                  <a:lnTo>
                    <a:pt x="444513" y="3364"/>
                  </a:lnTo>
                  <a:lnTo>
                    <a:pt x="494957" y="13398"/>
                  </a:lnTo>
                  <a:lnTo>
                    <a:pt x="543660" y="29930"/>
                  </a:lnTo>
                  <a:lnTo>
                    <a:pt x="589788" y="52678"/>
                  </a:lnTo>
                  <a:lnTo>
                    <a:pt x="632552" y="81252"/>
                  </a:lnTo>
                  <a:lnTo>
                    <a:pt x="671220"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lock entering · kiri"/>
            <p:cNvSpPr/>
            <p:nvPr/>
          </p:nvSpPr>
          <p:spPr>
            <a:xfrm>
              <a:off x="6576412"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lock entering · kanan"/>
            <p:cNvSpPr/>
            <p:nvPr/>
          </p:nvSpPr>
          <p:spPr>
            <a:xfrm>
              <a:off x="6845656" y="2944368"/>
              <a:ext cx="269243" cy="466344"/>
            </a:xfrm>
            <a:custGeom>
              <a:avLst/>
              <a:gdLst/>
              <a:ahLst/>
              <a:cxnLst/>
              <a:rect l="l" t="t" r="r" b="b"/>
              <a:pathLst>
                <a:path w="269243" h="466344">
                  <a:moveTo>
                    <a:pt x="269243" y="310896"/>
                  </a:moveTo>
                  <a:lnTo>
                    <a:pt x="0" y="466344"/>
                  </a:lnTo>
                  <a:lnTo>
                    <a:pt x="0" y="155448"/>
                  </a:lnTo>
                  <a:lnTo>
                    <a:pt x="269243"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lock entering · atas"/>
            <p:cNvSpPr/>
            <p:nvPr/>
          </p:nvSpPr>
          <p:spPr>
            <a:xfrm>
              <a:off x="6576412" y="2788920"/>
              <a:ext cx="538487" cy="310896"/>
            </a:xfrm>
            <a:custGeom>
              <a:avLst/>
              <a:gdLst/>
              <a:ahLst/>
              <a:cxnLst/>
              <a:rect l="l" t="t" r="r" b="b"/>
              <a:pathLst>
                <a:path w="538487" h="310896">
                  <a:moveTo>
                    <a:pt x="269244" y="0"/>
                  </a:moveTo>
                  <a:lnTo>
                    <a:pt x="538487"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3" name="Chip · LIVE"/>
          <p:cNvSpPr/>
          <p:nvPr/>
        </p:nvSpPr>
        <p:spPr>
          <a:xfrm>
            <a:off x="7561859"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hip dot"/>
          <p:cNvSpPr/>
          <p:nvPr/>
        </p:nvSpPr>
        <p:spPr>
          <a:xfrm>
            <a:off x="7699019"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hip text"/>
          <p:cNvSpPr txBox="1"/>
          <p:nvPr/>
        </p:nvSpPr>
        <p:spPr>
          <a:xfrm>
            <a:off x="7881899"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86" name="Door kind 3"/>
          <p:cNvSpPr txBox="1"/>
          <p:nvPr/>
        </p:nvSpPr>
        <p:spPr>
          <a:xfrm>
            <a:off x="6452464"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AGENT</a:t>
            </a:r>
          </a:p>
        </p:txBody>
      </p:sp>
      <p:sp>
        <p:nvSpPr>
          <p:cNvPr id="87" name="Door title 3"/>
          <p:cNvSpPr txBox="1"/>
          <p:nvPr/>
        </p:nvSpPr>
        <p:spPr>
          <a:xfrm>
            <a:off x="6452464"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Seat an AI analyst</a:t>
            </a:r>
          </a:p>
        </p:txBody>
      </p:sp>
      <p:sp>
        <p:nvSpPr>
          <p:cNvPr id="88" name="Door text 3"/>
          <p:cNvSpPr txBox="1"/>
          <p:nvPr/>
        </p:nvSpPr>
        <p:spPr>
          <a:xfrm>
            <a:off x="6452464"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Register an ERC-8004 agent for the desk. It starts in a trial seat and earns its place.</a:t>
            </a:r>
          </a:p>
        </p:txBody>
      </p:sp>
      <p:sp>
        <p:nvSpPr>
          <p:cNvPr id="89" name="Door card 4"/>
          <p:cNvSpPr/>
          <p:nvPr/>
        </p:nvSpPr>
        <p:spPr>
          <a:xfrm>
            <a:off x="8997467"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0" name="Portal 4 · CODE"/>
          <p:cNvGrpSpPr/>
          <p:nvPr/>
        </p:nvGrpSpPr>
        <p:grpSpPr>
          <a:xfrm>
            <a:off x="0" y="0"/>
            <a:ext cx="0" cy="0"/>
            <a:chOff x="0" y="0"/>
            <a:chExt cx="0" cy="0"/>
          </a:xfrm>
        </p:grpSpPr>
        <p:sp>
          <p:nvSpPr>
            <p:cNvPr id="91" name="Portal"/>
            <p:cNvSpPr/>
            <p:nvPr/>
          </p:nvSpPr>
          <p:spPr>
            <a:xfrm>
              <a:off x="9253499" y="2478024"/>
              <a:ext cx="786384" cy="987552"/>
            </a:xfrm>
            <a:custGeom>
              <a:avLst/>
              <a:gdLst/>
              <a:ahLst/>
              <a:cxnLst/>
              <a:rect l="l" t="t" r="r" b="b"/>
              <a:pathLst>
                <a:path w="786384" h="987552">
                  <a:moveTo>
                    <a:pt x="0" y="393192"/>
                  </a:moveTo>
                  <a:lnTo>
                    <a:pt x="3364" y="341870"/>
                  </a:lnTo>
                  <a:lnTo>
                    <a:pt x="13398" y="291426"/>
                  </a:lnTo>
                  <a:lnTo>
                    <a:pt x="29930" y="242724"/>
                  </a:lnTo>
                  <a:lnTo>
                    <a:pt x="52678" y="196596"/>
                  </a:lnTo>
                  <a:lnTo>
                    <a:pt x="81252" y="153832"/>
                  </a:lnTo>
                  <a:lnTo>
                    <a:pt x="115164" y="115163"/>
                  </a:lnTo>
                  <a:lnTo>
                    <a:pt x="153832" y="81252"/>
                  </a:lnTo>
                  <a:lnTo>
                    <a:pt x="196596" y="52678"/>
                  </a:lnTo>
                  <a:lnTo>
                    <a:pt x="242724" y="29930"/>
                  </a:lnTo>
                  <a:lnTo>
                    <a:pt x="291427" y="13398"/>
                  </a:lnTo>
                  <a:lnTo>
                    <a:pt x="341871" y="3364"/>
                  </a:lnTo>
                  <a:lnTo>
                    <a:pt x="393192" y="0"/>
                  </a:lnTo>
                  <a:lnTo>
                    <a:pt x="444514" y="3364"/>
                  </a:lnTo>
                  <a:lnTo>
                    <a:pt x="494958" y="13398"/>
                  </a:lnTo>
                  <a:lnTo>
                    <a:pt x="543660" y="29930"/>
                  </a:lnTo>
                  <a:lnTo>
                    <a:pt x="589788" y="52678"/>
                  </a:lnTo>
                  <a:lnTo>
                    <a:pt x="632553" y="81252"/>
                  </a:lnTo>
                  <a:lnTo>
                    <a:pt x="671221" y="115163"/>
                  </a:lnTo>
                  <a:lnTo>
                    <a:pt x="705133" y="153832"/>
                  </a:lnTo>
                  <a:lnTo>
                    <a:pt x="733707" y="196596"/>
                  </a:lnTo>
                  <a:lnTo>
                    <a:pt x="756454" y="242724"/>
                  </a:lnTo>
                  <a:lnTo>
                    <a:pt x="772987" y="291426"/>
                  </a:lnTo>
                  <a:lnTo>
                    <a:pt x="783021" y="341870"/>
                  </a:lnTo>
                  <a:lnTo>
                    <a:pt x="786384" y="393192"/>
                  </a:lnTo>
                  <a:lnTo>
                    <a:pt x="786384" y="987552"/>
                  </a:lnTo>
                  <a:lnTo>
                    <a:pt x="0" y="987552"/>
                  </a:lnTo>
                  <a:close/>
                </a:path>
              </a:pathLst>
            </a:custGeom>
            <a:solidFill>
              <a:srgbClr val="FFFFFF">
                <a:alpha val="4000"/>
              </a:srgbClr>
            </a:solidFill>
            <a:ln w="20320" cap="rnd">
              <a:solidFill>
                <a:srgbClr val="8B86A6">
                  <a:alpha val="8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lock entering · kiri"/>
            <p:cNvSpPr/>
            <p:nvPr/>
          </p:nvSpPr>
          <p:spPr>
            <a:xfrm>
              <a:off x="9377448" y="2944368"/>
              <a:ext cx="269243" cy="466344"/>
            </a:xfrm>
            <a:custGeom>
              <a:avLst/>
              <a:gdLst/>
              <a:ahLst/>
              <a:cxnLst/>
              <a:rect l="l" t="t" r="r" b="b"/>
              <a:pathLst>
                <a:path w="269243" h="466344">
                  <a:moveTo>
                    <a:pt x="0" y="310896"/>
                  </a:moveTo>
                  <a:lnTo>
                    <a:pt x="269243" y="466344"/>
                  </a:lnTo>
                  <a:lnTo>
                    <a:pt x="269243" y="155448"/>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lock entering · kanan"/>
            <p:cNvSpPr/>
            <p:nvPr/>
          </p:nvSpPr>
          <p:spPr>
            <a:xfrm>
              <a:off x="9646691"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lock entering · atas"/>
            <p:cNvSpPr/>
            <p:nvPr/>
          </p:nvSpPr>
          <p:spPr>
            <a:xfrm>
              <a:off x="9377448" y="2788920"/>
              <a:ext cx="538487" cy="310896"/>
            </a:xfrm>
            <a:custGeom>
              <a:avLst/>
              <a:gdLst/>
              <a:ahLst/>
              <a:cxnLst/>
              <a:rect l="l" t="t" r="r" b="b"/>
              <a:pathLst>
                <a:path w="538487" h="310896">
                  <a:moveTo>
                    <a:pt x="269243" y="0"/>
                  </a:moveTo>
                  <a:lnTo>
                    <a:pt x="538487" y="155448"/>
                  </a:lnTo>
                  <a:lnTo>
                    <a:pt x="269243" y="310896"/>
                  </a:lnTo>
                  <a:lnTo>
                    <a:pt x="0" y="155448"/>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95" name="Chip · NEXT"/>
          <p:cNvSpPr/>
          <p:nvPr/>
        </p:nvSpPr>
        <p:spPr>
          <a:xfrm>
            <a:off x="10362895" y="2496312"/>
            <a:ext cx="822960" cy="256032"/>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hip dot"/>
          <p:cNvSpPr/>
          <p:nvPr/>
        </p:nvSpPr>
        <p:spPr>
          <a:xfrm>
            <a:off x="10500055" y="2580894"/>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hip text"/>
          <p:cNvSpPr txBox="1"/>
          <p:nvPr/>
        </p:nvSpPr>
        <p:spPr>
          <a:xfrm>
            <a:off x="10682935"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C9BDF2"/>
                </a:solidFill>
                <a:latin typeface="JetBrains Mono" pitchFamily="49" charset="0"/>
              </a:rPr>
              <a:t>NEXT</a:t>
            </a:r>
          </a:p>
        </p:txBody>
      </p:sp>
      <p:sp>
        <p:nvSpPr>
          <p:cNvPr id="98" name="Door kind 4"/>
          <p:cNvSpPr txBox="1"/>
          <p:nvPr/>
        </p:nvSpPr>
        <p:spPr>
          <a:xfrm>
            <a:off x="9253499"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CODE</a:t>
            </a:r>
          </a:p>
        </p:txBody>
      </p:sp>
      <p:sp>
        <p:nvSpPr>
          <p:cNvPr id="99" name="Door title 4"/>
          <p:cNvSpPr txBox="1"/>
          <p:nvPr/>
        </p:nvSpPr>
        <p:spPr>
          <a:xfrm>
            <a:off x="9253499"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Ship your own code</a:t>
            </a:r>
          </a:p>
        </p:txBody>
      </p:sp>
      <p:sp>
        <p:nvSpPr>
          <p:cNvPr id="100" name="Door text 4"/>
          <p:cNvSpPr txBox="1"/>
          <p:nvPr/>
        </p:nvSpPr>
        <p:spPr>
          <a:xfrm>
            <a:off x="9253499"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A sandboxed function kept private. It opens once the private runner is approved.</a:t>
            </a:r>
          </a:p>
        </p:txBody>
      </p:sp>
      <p:sp>
        <p:nvSpPr>
          <p:cNvPr id="101" name="Pipeline 1"/>
          <p:cNvSpPr/>
          <p:nvPr/>
        </p:nvSpPr>
        <p:spPr>
          <a:xfrm>
            <a:off x="594360"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tage 1"/>
          <p:cNvSpPr txBox="1"/>
          <p:nvPr/>
        </p:nvSpPr>
        <p:spPr>
          <a:xfrm>
            <a:off x="777240"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RECEIVED</a:t>
            </a:r>
          </a:p>
        </p:txBody>
      </p:sp>
      <p:sp>
        <p:nvSpPr>
          <p:cNvPr id="103" name="Stage sub 1"/>
          <p:cNvSpPr txBox="1"/>
          <p:nvPr/>
        </p:nvSpPr>
        <p:spPr>
          <a:xfrm>
            <a:off x="777240"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signed with your wallet</a:t>
            </a:r>
          </a:p>
        </p:txBody>
      </p:sp>
      <p:sp>
        <p:nvSpPr>
          <p:cNvPr id="104" name="Stage arrow"/>
          <p:cNvSpPr/>
          <p:nvPr/>
        </p:nvSpPr>
        <p:spPr>
          <a:xfrm>
            <a:off x="3201086"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ipeline 2"/>
          <p:cNvSpPr/>
          <p:nvPr/>
        </p:nvSpPr>
        <p:spPr>
          <a:xfrm>
            <a:off x="3402254"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tage 2"/>
          <p:cNvSpPr txBox="1"/>
          <p:nvPr/>
        </p:nvSpPr>
        <p:spPr>
          <a:xfrm>
            <a:off x="3585134"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GATES G1–G11</a:t>
            </a:r>
          </a:p>
        </p:txBody>
      </p:sp>
      <p:sp>
        <p:nvSpPr>
          <p:cNvPr id="107" name="Stage sub 2"/>
          <p:cNvSpPr txBox="1"/>
          <p:nvPr/>
        </p:nvSpPr>
        <p:spPr>
          <a:xfrm>
            <a:off x="3585134"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 KPIs, with reasons</a:t>
            </a:r>
          </a:p>
        </p:txBody>
      </p:sp>
      <p:sp>
        <p:nvSpPr>
          <p:cNvPr id="108" name="Stage arrow"/>
          <p:cNvSpPr/>
          <p:nvPr/>
        </p:nvSpPr>
        <p:spPr>
          <a:xfrm>
            <a:off x="6008980"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ipeline 3"/>
          <p:cNvSpPr/>
          <p:nvPr/>
        </p:nvSpPr>
        <p:spPr>
          <a:xfrm>
            <a:off x="6210148"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tage 3"/>
          <p:cNvSpPr txBox="1"/>
          <p:nvPr/>
        </p:nvSpPr>
        <p:spPr>
          <a:xfrm>
            <a:off x="6393028"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FORWARD SHADOW</a:t>
            </a:r>
          </a:p>
        </p:txBody>
      </p:sp>
      <p:sp>
        <p:nvSpPr>
          <p:cNvPr id="111" name="Stage sub 3"/>
          <p:cNvSpPr txBox="1"/>
          <p:nvPr/>
        </p:nvSpPr>
        <p:spPr>
          <a:xfrm>
            <a:off x="6393028"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60 days · feed 120</a:t>
            </a:r>
          </a:p>
        </p:txBody>
      </p:sp>
      <p:sp>
        <p:nvSpPr>
          <p:cNvPr id="112" name="Stage arrow"/>
          <p:cNvSpPr/>
          <p:nvPr/>
        </p:nvSpPr>
        <p:spPr>
          <a:xfrm>
            <a:off x="8816873"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ipeline 4"/>
          <p:cNvSpPr/>
          <p:nvPr/>
        </p:nvSpPr>
        <p:spPr>
          <a:xfrm>
            <a:off x="9018041"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tage 4"/>
          <p:cNvSpPr txBox="1"/>
          <p:nvPr/>
        </p:nvSpPr>
        <p:spPr>
          <a:xfrm>
            <a:off x="9200921"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SLOT</a:t>
            </a:r>
          </a:p>
        </p:txBody>
      </p:sp>
      <p:sp>
        <p:nvSpPr>
          <p:cNvPr id="115" name="Stage sub 4"/>
          <p:cNvSpPr txBox="1"/>
          <p:nvPr/>
        </p:nvSpPr>
        <p:spPr>
          <a:xfrm>
            <a:off x="9200921"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1 of 10 in the book</a:t>
            </a:r>
          </a:p>
        </p:txBody>
      </p:sp>
      <p:sp>
        <p:nvSpPr>
          <p:cNvPr id="116"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17"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5120640" cy="1737360"/>
          </a:xfrm>
        </p:spPr>
        <p:txBody>
          <a:bodyPr wrap="square" lIns="0" rIns="0" tIns="0" bIns="0" anchor="t">
            <a:noAutofit/>
          </a:bodyPr>
          <a:lstStyle/>
          <a:p>
            <a:pPr algn="l">
              <a:lnSpc>
                <a:spcPct val="102000"/>
              </a:lnSpc>
              <a:spcBef>
                <a:spcPts val="0"/>
              </a:spcBef>
              <a:spcAft>
                <a:spcPts val="0"/>
              </a:spcAft>
            </a:pPr>
            <a:r>
              <a:rPr sz="3800" b="0" i="0" lang="en-US">
                <a:solidFill>
                  <a:srgbClr val="ECE8FA"/>
                </a:solidFill>
                <a:latin typeface="Archivo" pitchFamily="34" charset="0"/>
              </a:rPr>
              <a:t>A desk of agents.</a:t>
            </a:r>
            <a:br>
              <a:rPr sz="3800"/>
            </a:br>
            <a:r>
              <a:rPr sz="3800" b="1" i="1" lang="en-US">
                <a:solidFill>
                  <a:srgbClr val="9D86FF"/>
                </a:solidFill>
                <a:latin typeface="Archivo" pitchFamily="34" charset="0"/>
              </a:rPr>
              <a:t>Sealed on the clock.</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06 — THE AI DESK</a:t>
            </a:r>
          </a:p>
        </p:txBody>
      </p:sp>
      <p:sp>
        <p:nvSpPr>
          <p:cNvPr id="7" name="Step 1 n"/>
          <p:cNvSpPr txBox="1"/>
          <p:nvPr/>
        </p:nvSpPr>
        <p:spPr>
          <a:xfrm>
            <a:off x="594360" y="2834640"/>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01</a:t>
            </a:r>
          </a:p>
        </p:txBody>
      </p:sp>
      <p:sp>
        <p:nvSpPr>
          <p:cNvPr id="8" name="Step 1 title"/>
          <p:cNvSpPr txBox="1"/>
          <p:nvPr/>
        </p:nvSpPr>
        <p:spPr>
          <a:xfrm>
            <a:off x="1097280" y="2816352"/>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Analysts score</a:t>
            </a:r>
          </a:p>
        </p:txBody>
      </p:sp>
      <p:sp>
        <p:nvSpPr>
          <p:cNvPr id="9" name="Step 1 text"/>
          <p:cNvSpPr txBox="1"/>
          <p:nvPr/>
        </p:nvSpPr>
        <p:spPr>
          <a:xfrm>
            <a:off x="1097280" y="3108960"/>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Each AI analyst reads the same data and scores the six locked bots. Direction is not its call.</a:t>
            </a:r>
          </a:p>
        </p:txBody>
      </p:sp>
      <p:sp>
        <p:nvSpPr>
          <p:cNvPr id="10" name="Step 2 n"/>
          <p:cNvSpPr txBox="1"/>
          <p:nvPr/>
        </p:nvSpPr>
        <p:spPr>
          <a:xfrm>
            <a:off x="594360" y="3822192"/>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02</a:t>
            </a:r>
          </a:p>
        </p:txBody>
      </p:sp>
      <p:sp>
        <p:nvSpPr>
          <p:cNvPr id="11" name="Step 2 title"/>
          <p:cNvSpPr txBox="1"/>
          <p:nvPr/>
        </p:nvSpPr>
        <p:spPr>
          <a:xfrm>
            <a:off x="1097280" y="3803904"/>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A fixed formula picks</a:t>
            </a:r>
          </a:p>
        </p:txBody>
      </p:sp>
      <p:sp>
        <p:nvSpPr>
          <p:cNvPr id="12" name="Step 2 text"/>
          <p:cNvSpPr txBox="1"/>
          <p:nvPr/>
        </p:nvSpPr>
        <p:spPr>
          <a:xfrm>
            <a:off x="1097280" y="4096512"/>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published formula (r4) picks one bot. Plain code applies its rule to one paper book.</a:t>
            </a:r>
          </a:p>
        </p:txBody>
      </p:sp>
      <p:sp>
        <p:nvSpPr>
          <p:cNvPr id="13" name="Step 3 n"/>
          <p:cNvSpPr txBox="1"/>
          <p:nvPr/>
        </p:nvSpPr>
        <p:spPr>
          <a:xfrm>
            <a:off x="594360" y="4809744"/>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03</a:t>
            </a:r>
          </a:p>
        </p:txBody>
      </p:sp>
      <p:sp>
        <p:nvSpPr>
          <p:cNvPr id="14" name="Step 3 title"/>
          <p:cNvSpPr txBox="1"/>
          <p:nvPr/>
        </p:nvSpPr>
        <p:spPr>
          <a:xfrm>
            <a:off x="1097280" y="4791456"/>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The cycle is sealed</a:t>
            </a:r>
          </a:p>
        </p:txBody>
      </p:sp>
      <p:sp>
        <p:nvSpPr>
          <p:cNvPr id="15" name="Step 3 text"/>
          <p:cNvSpPr txBox="1"/>
          <p:nvPr/>
        </p:nvSpPr>
        <p:spPr>
          <a:xfrm>
            <a:off x="1097280" y="5084064"/>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One Merkle root per 5-minute cycle goes to DeskAnchor, which refuses it once the cycle is over.</a:t>
            </a:r>
          </a:p>
        </p:txBody>
      </p:sp>
      <p:grpSp>
        <p:nvGrpSpPr>
          <p:cNvPr id="16" name="Halo"/>
          <p:cNvGrpSpPr/>
          <p:nvPr/>
        </p:nvGrpSpPr>
        <p:grpSpPr>
          <a:xfrm>
            <a:off x="5029200" y="1188720"/>
            <a:ext cx="7315200" cy="4937760"/>
            <a:chOff x="5029200" y="1188720"/>
            <a:chExt cx="7315200" cy="4937760"/>
          </a:xfrm>
        </p:grpSpPr>
        <p:sp>
          <p:nvSpPr>
            <p:cNvPr id="17" name="Halo 1"/>
            <p:cNvSpPr/>
            <p:nvPr/>
          </p:nvSpPr>
          <p:spPr>
            <a:xfrm>
              <a:off x="5029200" y="1188720"/>
              <a:ext cx="7315200" cy="4937760"/>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2"/>
            <p:cNvSpPr/>
            <p:nvPr/>
          </p:nvSpPr>
          <p:spPr>
            <a:xfrm>
              <a:off x="5175504" y="1287475"/>
              <a:ext cx="7022592" cy="4740250"/>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3"/>
            <p:cNvSpPr/>
            <p:nvPr/>
          </p:nvSpPr>
          <p:spPr>
            <a:xfrm>
              <a:off x="5321808" y="1386230"/>
              <a:ext cx="6729984" cy="4542739"/>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4"/>
            <p:cNvSpPr/>
            <p:nvPr/>
          </p:nvSpPr>
          <p:spPr>
            <a:xfrm>
              <a:off x="5468112" y="1484986"/>
              <a:ext cx="6437376" cy="4345229"/>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5"/>
            <p:cNvSpPr/>
            <p:nvPr/>
          </p:nvSpPr>
          <p:spPr>
            <a:xfrm>
              <a:off x="5614416" y="1583741"/>
              <a:ext cx="6144768" cy="414771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6"/>
            <p:cNvSpPr/>
            <p:nvPr/>
          </p:nvSpPr>
          <p:spPr>
            <a:xfrm>
              <a:off x="5760720" y="1682496"/>
              <a:ext cx="5852160" cy="395020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7"/>
            <p:cNvSpPr/>
            <p:nvPr/>
          </p:nvSpPr>
          <p:spPr>
            <a:xfrm>
              <a:off x="5907024" y="1781251"/>
              <a:ext cx="5559552" cy="375269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8"/>
            <p:cNvSpPr/>
            <p:nvPr/>
          </p:nvSpPr>
          <p:spPr>
            <a:xfrm>
              <a:off x="6053328" y="1880006"/>
              <a:ext cx="5266944" cy="3555187"/>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9"/>
            <p:cNvSpPr/>
            <p:nvPr/>
          </p:nvSpPr>
          <p:spPr>
            <a:xfrm>
              <a:off x="6199632" y="1978762"/>
              <a:ext cx="4974336" cy="3357677"/>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0"/>
            <p:cNvSpPr/>
            <p:nvPr/>
          </p:nvSpPr>
          <p:spPr>
            <a:xfrm>
              <a:off x="6345936" y="2077517"/>
              <a:ext cx="4681728" cy="316016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1"/>
            <p:cNvSpPr/>
            <p:nvPr/>
          </p:nvSpPr>
          <p:spPr>
            <a:xfrm>
              <a:off x="6492240" y="2176272"/>
              <a:ext cx="4389120" cy="296265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12"/>
            <p:cNvSpPr/>
            <p:nvPr/>
          </p:nvSpPr>
          <p:spPr>
            <a:xfrm>
              <a:off x="6638544" y="2275027"/>
              <a:ext cx="4096512" cy="276514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13"/>
            <p:cNvSpPr/>
            <p:nvPr/>
          </p:nvSpPr>
          <p:spPr>
            <a:xfrm>
              <a:off x="6784848" y="2373782"/>
              <a:ext cx="3803904" cy="2567635"/>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14"/>
            <p:cNvSpPr/>
            <p:nvPr/>
          </p:nvSpPr>
          <p:spPr>
            <a:xfrm>
              <a:off x="6931152" y="2472538"/>
              <a:ext cx="3511296" cy="2370125"/>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15"/>
            <p:cNvSpPr/>
            <p:nvPr/>
          </p:nvSpPr>
          <p:spPr>
            <a:xfrm>
              <a:off x="7077456" y="2571293"/>
              <a:ext cx="3218688" cy="217261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16"/>
            <p:cNvSpPr/>
            <p:nvPr/>
          </p:nvSpPr>
          <p:spPr>
            <a:xfrm>
              <a:off x="7223760" y="2670048"/>
              <a:ext cx="2926080" cy="197510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17"/>
            <p:cNvSpPr/>
            <p:nvPr/>
          </p:nvSpPr>
          <p:spPr>
            <a:xfrm>
              <a:off x="7370064" y="2768803"/>
              <a:ext cx="2633472" cy="177759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alo 18"/>
            <p:cNvSpPr/>
            <p:nvPr/>
          </p:nvSpPr>
          <p:spPr>
            <a:xfrm>
              <a:off x="7516368" y="2867558"/>
              <a:ext cx="2340864" cy="1580083"/>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alo 19"/>
            <p:cNvSpPr/>
            <p:nvPr/>
          </p:nvSpPr>
          <p:spPr>
            <a:xfrm>
              <a:off x="7662672" y="2966314"/>
              <a:ext cx="2048256" cy="1382573"/>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alo 20"/>
            <p:cNvSpPr/>
            <p:nvPr/>
          </p:nvSpPr>
          <p:spPr>
            <a:xfrm>
              <a:off x="7808976" y="3065069"/>
              <a:ext cx="1755648" cy="118506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alo 21"/>
            <p:cNvSpPr/>
            <p:nvPr/>
          </p:nvSpPr>
          <p:spPr>
            <a:xfrm>
              <a:off x="7955280" y="3163824"/>
              <a:ext cx="1463040" cy="98755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alo 22"/>
            <p:cNvSpPr/>
            <p:nvPr/>
          </p:nvSpPr>
          <p:spPr>
            <a:xfrm>
              <a:off x="8101584" y="3262579"/>
              <a:ext cx="1170432" cy="79004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Halo 23"/>
            <p:cNvSpPr/>
            <p:nvPr/>
          </p:nvSpPr>
          <p:spPr>
            <a:xfrm>
              <a:off x="8247888" y="3361334"/>
              <a:ext cx="877824" cy="592531"/>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alo 24"/>
            <p:cNvSpPr/>
            <p:nvPr/>
          </p:nvSpPr>
          <p:spPr>
            <a:xfrm>
              <a:off x="8394192" y="3460090"/>
              <a:ext cx="585216" cy="395021"/>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41" name="Scene · AI desk"/>
          <p:cNvGrpSpPr/>
          <p:nvPr/>
        </p:nvGrpSpPr>
        <p:grpSpPr>
          <a:xfrm>
            <a:off x="0" y="0"/>
            <a:ext cx="0" cy="0"/>
            <a:chOff x="0" y="0"/>
            <a:chExt cx="0" cy="0"/>
          </a:xfrm>
        </p:grpSpPr>
        <p:sp>
          <p:nvSpPr>
            <p:cNvPr id="45" name="Desk 1 · kiri"/>
            <p:cNvSpPr/>
            <p:nvPr/>
          </p:nvSpPr>
          <p:spPr>
            <a:xfrm>
              <a:off x="5792091" y="235183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esk 1 · kanan"/>
            <p:cNvSpPr/>
            <p:nvPr/>
          </p:nvSpPr>
          <p:spPr>
            <a:xfrm>
              <a:off x="6267227" y="246156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esk 1 · atas"/>
            <p:cNvSpPr/>
            <p:nvPr/>
          </p:nvSpPr>
          <p:spPr>
            <a:xfrm>
              <a:off x="5792091" y="218724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Monitor 1 · kiri"/>
            <p:cNvSpPr/>
            <p:nvPr/>
          </p:nvSpPr>
          <p:spPr>
            <a:xfrm>
              <a:off x="6075887" y="211135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Monitor 1 · kanan"/>
            <p:cNvSpPr/>
            <p:nvPr/>
          </p:nvSpPr>
          <p:spPr>
            <a:xfrm>
              <a:off x="6113898" y="195955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Monitor 1 · atas"/>
            <p:cNvSpPr/>
            <p:nvPr/>
          </p:nvSpPr>
          <p:spPr>
            <a:xfrm>
              <a:off x="6075887" y="193761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nalyst 1 · kiri"/>
            <p:cNvSpPr/>
            <p:nvPr/>
          </p:nvSpPr>
          <p:spPr>
            <a:xfrm>
              <a:off x="5598098" y="206654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nalyst 1 · kanan"/>
            <p:cNvSpPr/>
            <p:nvPr/>
          </p:nvSpPr>
          <p:spPr>
            <a:xfrm>
              <a:off x="5788152" y="206654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nalyst 1 · atas"/>
            <p:cNvSpPr/>
            <p:nvPr/>
          </p:nvSpPr>
          <p:spPr>
            <a:xfrm>
              <a:off x="5598098" y="195681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esk 2 · kiri"/>
            <p:cNvSpPr/>
            <p:nvPr/>
          </p:nvSpPr>
          <p:spPr>
            <a:xfrm>
              <a:off x="5792091" y="363199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Desk 2 · kanan"/>
            <p:cNvSpPr/>
            <p:nvPr/>
          </p:nvSpPr>
          <p:spPr>
            <a:xfrm>
              <a:off x="6267227" y="374172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Desk 2 · atas"/>
            <p:cNvSpPr/>
            <p:nvPr/>
          </p:nvSpPr>
          <p:spPr>
            <a:xfrm>
              <a:off x="5792091" y="346740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Monitor 2 · kiri"/>
            <p:cNvSpPr/>
            <p:nvPr/>
          </p:nvSpPr>
          <p:spPr>
            <a:xfrm>
              <a:off x="6075887" y="339151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onitor 2 · kanan"/>
            <p:cNvSpPr/>
            <p:nvPr/>
          </p:nvSpPr>
          <p:spPr>
            <a:xfrm>
              <a:off x="6113898" y="323971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Monitor 2 · atas"/>
            <p:cNvSpPr/>
            <p:nvPr/>
          </p:nvSpPr>
          <p:spPr>
            <a:xfrm>
              <a:off x="6075887" y="321777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nalyst 2 · kiri"/>
            <p:cNvSpPr/>
            <p:nvPr/>
          </p:nvSpPr>
          <p:spPr>
            <a:xfrm>
              <a:off x="5598098" y="334670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nalyst 2 · kanan"/>
            <p:cNvSpPr/>
            <p:nvPr/>
          </p:nvSpPr>
          <p:spPr>
            <a:xfrm>
              <a:off x="5788152" y="334670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nalyst 2 · atas"/>
            <p:cNvSpPr/>
            <p:nvPr/>
          </p:nvSpPr>
          <p:spPr>
            <a:xfrm>
              <a:off x="5598098" y="323697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esk 3 · kiri"/>
            <p:cNvSpPr/>
            <p:nvPr/>
          </p:nvSpPr>
          <p:spPr>
            <a:xfrm>
              <a:off x="5792091" y="491215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Desk 3 · kanan"/>
            <p:cNvSpPr/>
            <p:nvPr/>
          </p:nvSpPr>
          <p:spPr>
            <a:xfrm>
              <a:off x="6267227" y="502188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Desk 3 · atas"/>
            <p:cNvSpPr/>
            <p:nvPr/>
          </p:nvSpPr>
          <p:spPr>
            <a:xfrm>
              <a:off x="5792091" y="474756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Monitor 3 · kiri"/>
            <p:cNvSpPr/>
            <p:nvPr/>
          </p:nvSpPr>
          <p:spPr>
            <a:xfrm>
              <a:off x="6075887" y="467167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Monitor 3 · kanan"/>
            <p:cNvSpPr/>
            <p:nvPr/>
          </p:nvSpPr>
          <p:spPr>
            <a:xfrm>
              <a:off x="6113898" y="451987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Monitor 3 · atas"/>
            <p:cNvSpPr/>
            <p:nvPr/>
          </p:nvSpPr>
          <p:spPr>
            <a:xfrm>
              <a:off x="6075887" y="449793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nalyst 3 · kiri"/>
            <p:cNvSpPr/>
            <p:nvPr/>
          </p:nvSpPr>
          <p:spPr>
            <a:xfrm>
              <a:off x="5598098" y="462686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nalyst 3 · kanan"/>
            <p:cNvSpPr/>
            <p:nvPr/>
          </p:nvSpPr>
          <p:spPr>
            <a:xfrm>
              <a:off x="5788152" y="462686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nalyst 3 · atas"/>
            <p:cNvSpPr/>
            <p:nvPr/>
          </p:nvSpPr>
          <p:spPr>
            <a:xfrm>
              <a:off x="5598098" y="451713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Hub ring"/>
            <p:cNvSpPr/>
            <p:nvPr/>
          </p:nvSpPr>
          <p:spPr>
            <a:xfrm>
              <a:off x="7209308" y="3550235"/>
              <a:ext cx="2589224" cy="1494890"/>
            </a:xfrm>
            <a:custGeom>
              <a:avLst/>
              <a:gdLst/>
              <a:ahLst/>
              <a:cxnLst/>
              <a:rect l="l" t="t" r="r" b="b"/>
              <a:pathLst>
                <a:path w="2589224" h="1494890">
                  <a:moveTo>
                    <a:pt x="2210041" y="1275968"/>
                  </a:moveTo>
                  <a:lnTo>
                    <a:pt x="2126773" y="1320021"/>
                  </a:lnTo>
                  <a:lnTo>
                    <a:pt x="2037171" y="1359716"/>
                  </a:lnTo>
                  <a:lnTo>
                    <a:pt x="1941918" y="1394751"/>
                  </a:lnTo>
                  <a:lnTo>
                    <a:pt x="1841739" y="1424860"/>
                  </a:lnTo>
                  <a:lnTo>
                    <a:pt x="1737395" y="1449813"/>
                  </a:lnTo>
                  <a:lnTo>
                    <a:pt x="1629682" y="1469421"/>
                  </a:lnTo>
                  <a:lnTo>
                    <a:pt x="1519419" y="1483534"/>
                  </a:lnTo>
                  <a:lnTo>
                    <a:pt x="1407445" y="1492045"/>
                  </a:lnTo>
                  <a:lnTo>
                    <a:pt x="1294612" y="1494890"/>
                  </a:lnTo>
                  <a:lnTo>
                    <a:pt x="1181779" y="1492045"/>
                  </a:lnTo>
                  <a:lnTo>
                    <a:pt x="1069805" y="1483534"/>
                  </a:lnTo>
                  <a:lnTo>
                    <a:pt x="959542" y="1469421"/>
                  </a:lnTo>
                  <a:lnTo>
                    <a:pt x="851829" y="1449813"/>
                  </a:lnTo>
                  <a:lnTo>
                    <a:pt x="747485" y="1424860"/>
                  </a:lnTo>
                  <a:lnTo>
                    <a:pt x="647306" y="1394751"/>
                  </a:lnTo>
                  <a:lnTo>
                    <a:pt x="552053" y="1359716"/>
                  </a:lnTo>
                  <a:lnTo>
                    <a:pt x="462451" y="1320021"/>
                  </a:lnTo>
                  <a:lnTo>
                    <a:pt x="379183" y="1275968"/>
                  </a:lnTo>
                  <a:lnTo>
                    <a:pt x="302882" y="1227893"/>
                  </a:lnTo>
                  <a:lnTo>
                    <a:pt x="234128" y="1176162"/>
                  </a:lnTo>
                  <a:lnTo>
                    <a:pt x="173445" y="1121167"/>
                  </a:lnTo>
                  <a:lnTo>
                    <a:pt x="121295" y="1063329"/>
                  </a:lnTo>
                  <a:lnTo>
                    <a:pt x="78075" y="1003086"/>
                  </a:lnTo>
                  <a:lnTo>
                    <a:pt x="44113" y="940898"/>
                  </a:lnTo>
                  <a:lnTo>
                    <a:pt x="19668" y="877237"/>
                  </a:lnTo>
                  <a:lnTo>
                    <a:pt x="4926" y="812589"/>
                  </a:lnTo>
                  <a:lnTo>
                    <a:pt x="0" y="747445"/>
                  </a:lnTo>
                  <a:lnTo>
                    <a:pt x="4926" y="682301"/>
                  </a:lnTo>
                  <a:lnTo>
                    <a:pt x="19668" y="617653"/>
                  </a:lnTo>
                  <a:lnTo>
                    <a:pt x="44113" y="553992"/>
                  </a:lnTo>
                  <a:lnTo>
                    <a:pt x="78075" y="491804"/>
                  </a:lnTo>
                  <a:lnTo>
                    <a:pt x="121295" y="431561"/>
                  </a:lnTo>
                  <a:lnTo>
                    <a:pt x="173445" y="373723"/>
                  </a:lnTo>
                  <a:lnTo>
                    <a:pt x="234128" y="318728"/>
                  </a:lnTo>
                  <a:lnTo>
                    <a:pt x="302882" y="266997"/>
                  </a:lnTo>
                  <a:lnTo>
                    <a:pt x="379183" y="218922"/>
                  </a:lnTo>
                  <a:lnTo>
                    <a:pt x="462451" y="174869"/>
                  </a:lnTo>
                  <a:lnTo>
                    <a:pt x="552053" y="135174"/>
                  </a:lnTo>
                  <a:lnTo>
                    <a:pt x="647306" y="100139"/>
                  </a:lnTo>
                  <a:lnTo>
                    <a:pt x="747485" y="70030"/>
                  </a:lnTo>
                  <a:lnTo>
                    <a:pt x="851829" y="45077"/>
                  </a:lnTo>
                  <a:lnTo>
                    <a:pt x="959542" y="25469"/>
                  </a:lnTo>
                  <a:lnTo>
                    <a:pt x="1069805" y="11356"/>
                  </a:lnTo>
                  <a:lnTo>
                    <a:pt x="1181779" y="2845"/>
                  </a:lnTo>
                  <a:lnTo>
                    <a:pt x="1294612" y="0"/>
                  </a:lnTo>
                  <a:lnTo>
                    <a:pt x="1407445" y="2845"/>
                  </a:lnTo>
                  <a:lnTo>
                    <a:pt x="1519419" y="11356"/>
                  </a:lnTo>
                  <a:lnTo>
                    <a:pt x="1629682" y="25469"/>
                  </a:lnTo>
                  <a:lnTo>
                    <a:pt x="1737395" y="45077"/>
                  </a:lnTo>
                  <a:lnTo>
                    <a:pt x="1841739" y="70030"/>
                  </a:lnTo>
                  <a:lnTo>
                    <a:pt x="1941918" y="100139"/>
                  </a:lnTo>
                  <a:lnTo>
                    <a:pt x="2037171" y="135174"/>
                  </a:lnTo>
                  <a:lnTo>
                    <a:pt x="2126773" y="174869"/>
                  </a:lnTo>
                  <a:lnTo>
                    <a:pt x="2210041" y="218922"/>
                  </a:lnTo>
                  <a:lnTo>
                    <a:pt x="2286342" y="266997"/>
                  </a:lnTo>
                  <a:lnTo>
                    <a:pt x="2355096" y="318728"/>
                  </a:lnTo>
                  <a:lnTo>
                    <a:pt x="2415779" y="373723"/>
                  </a:lnTo>
                  <a:lnTo>
                    <a:pt x="2467929" y="431561"/>
                  </a:lnTo>
                  <a:lnTo>
                    <a:pt x="2511149" y="491804"/>
                  </a:lnTo>
                  <a:lnTo>
                    <a:pt x="2545111" y="553992"/>
                  </a:lnTo>
                  <a:lnTo>
                    <a:pt x="2569556" y="617653"/>
                  </a:lnTo>
                  <a:lnTo>
                    <a:pt x="2584298" y="682301"/>
                  </a:lnTo>
                  <a:lnTo>
                    <a:pt x="2589224" y="747445"/>
                  </a:lnTo>
                  <a:lnTo>
                    <a:pt x="2584298" y="812589"/>
                  </a:lnTo>
                  <a:lnTo>
                    <a:pt x="2569556" y="877237"/>
                  </a:lnTo>
                  <a:lnTo>
                    <a:pt x="2545111" y="940898"/>
                  </a:lnTo>
                  <a:lnTo>
                    <a:pt x="2511149" y="1003086"/>
                  </a:lnTo>
                  <a:lnTo>
                    <a:pt x="2467929" y="1063329"/>
                  </a:lnTo>
                  <a:lnTo>
                    <a:pt x="2415779" y="1121167"/>
                  </a:lnTo>
                  <a:lnTo>
                    <a:pt x="2355096" y="1176162"/>
                  </a:lnTo>
                  <a:lnTo>
                    <a:pt x="2286342" y="1227893"/>
                  </a:lnTo>
                  <a:close/>
                </a:path>
              </a:pathLst>
            </a:custGeom>
            <a:noFill/>
            <a:ln w="15240" cap="rnd">
              <a:solidFill>
                <a:srgbClr val="9D86FF">
                  <a:alpha val="2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Hub ring"/>
            <p:cNvSpPr/>
            <p:nvPr/>
          </p:nvSpPr>
          <p:spPr>
            <a:xfrm>
              <a:off x="7551999" y="3748088"/>
              <a:ext cx="1903842" cy="1099184"/>
            </a:xfrm>
            <a:custGeom>
              <a:avLst/>
              <a:gdLst/>
              <a:ahLst/>
              <a:cxnLst/>
              <a:rect l="l" t="t" r="r" b="b"/>
              <a:pathLst>
                <a:path w="1903842" h="1099184">
                  <a:moveTo>
                    <a:pt x="1625031" y="938212"/>
                  </a:moveTo>
                  <a:lnTo>
                    <a:pt x="1563804" y="970604"/>
                  </a:lnTo>
                  <a:lnTo>
                    <a:pt x="1497920" y="999791"/>
                  </a:lnTo>
                  <a:lnTo>
                    <a:pt x="1427881" y="1025552"/>
                  </a:lnTo>
                  <a:lnTo>
                    <a:pt x="1354220" y="1047691"/>
                  </a:lnTo>
                  <a:lnTo>
                    <a:pt x="1277497" y="1066039"/>
                  </a:lnTo>
                  <a:lnTo>
                    <a:pt x="1198296" y="1080457"/>
                  </a:lnTo>
                  <a:lnTo>
                    <a:pt x="1117220" y="1090834"/>
                  </a:lnTo>
                  <a:lnTo>
                    <a:pt x="1034886" y="1097092"/>
                  </a:lnTo>
                  <a:lnTo>
                    <a:pt x="951921" y="1099184"/>
                  </a:lnTo>
                  <a:lnTo>
                    <a:pt x="868956" y="1097092"/>
                  </a:lnTo>
                  <a:lnTo>
                    <a:pt x="786622" y="1090834"/>
                  </a:lnTo>
                  <a:lnTo>
                    <a:pt x="705546" y="1080457"/>
                  </a:lnTo>
                  <a:lnTo>
                    <a:pt x="626345" y="1066039"/>
                  </a:lnTo>
                  <a:lnTo>
                    <a:pt x="549622" y="1047691"/>
                  </a:lnTo>
                  <a:lnTo>
                    <a:pt x="475961" y="1025552"/>
                  </a:lnTo>
                  <a:lnTo>
                    <a:pt x="405922" y="999791"/>
                  </a:lnTo>
                  <a:lnTo>
                    <a:pt x="340038" y="970604"/>
                  </a:lnTo>
                  <a:lnTo>
                    <a:pt x="278811" y="938212"/>
                  </a:lnTo>
                  <a:lnTo>
                    <a:pt x="222707" y="902863"/>
                  </a:lnTo>
                  <a:lnTo>
                    <a:pt x="172153" y="864825"/>
                  </a:lnTo>
                  <a:lnTo>
                    <a:pt x="127533" y="824388"/>
                  </a:lnTo>
                  <a:lnTo>
                    <a:pt x="89188" y="781859"/>
                  </a:lnTo>
                  <a:lnTo>
                    <a:pt x="57408" y="737563"/>
                  </a:lnTo>
                  <a:lnTo>
                    <a:pt x="32436" y="691837"/>
                  </a:lnTo>
                  <a:lnTo>
                    <a:pt x="14462" y="645028"/>
                  </a:lnTo>
                  <a:lnTo>
                    <a:pt x="3623" y="597492"/>
                  </a:lnTo>
                  <a:lnTo>
                    <a:pt x="0" y="549592"/>
                  </a:lnTo>
                  <a:lnTo>
                    <a:pt x="3623" y="501692"/>
                  </a:lnTo>
                  <a:lnTo>
                    <a:pt x="14462" y="454156"/>
                  </a:lnTo>
                  <a:lnTo>
                    <a:pt x="32436" y="407347"/>
                  </a:lnTo>
                  <a:lnTo>
                    <a:pt x="57408" y="361621"/>
                  </a:lnTo>
                  <a:lnTo>
                    <a:pt x="89188" y="317325"/>
                  </a:lnTo>
                  <a:lnTo>
                    <a:pt x="127533" y="274796"/>
                  </a:lnTo>
                  <a:lnTo>
                    <a:pt x="172153" y="234359"/>
                  </a:lnTo>
                  <a:lnTo>
                    <a:pt x="222707" y="196321"/>
                  </a:lnTo>
                  <a:lnTo>
                    <a:pt x="278811" y="160972"/>
                  </a:lnTo>
                  <a:lnTo>
                    <a:pt x="340038" y="128580"/>
                  </a:lnTo>
                  <a:lnTo>
                    <a:pt x="405922" y="99393"/>
                  </a:lnTo>
                  <a:lnTo>
                    <a:pt x="475961" y="73632"/>
                  </a:lnTo>
                  <a:lnTo>
                    <a:pt x="549622" y="51493"/>
                  </a:lnTo>
                  <a:lnTo>
                    <a:pt x="626345" y="33145"/>
                  </a:lnTo>
                  <a:lnTo>
                    <a:pt x="705546" y="18727"/>
                  </a:lnTo>
                  <a:lnTo>
                    <a:pt x="786622" y="8350"/>
                  </a:lnTo>
                  <a:lnTo>
                    <a:pt x="868956" y="2092"/>
                  </a:lnTo>
                  <a:lnTo>
                    <a:pt x="951921" y="0"/>
                  </a:lnTo>
                  <a:lnTo>
                    <a:pt x="1034886" y="2092"/>
                  </a:lnTo>
                  <a:lnTo>
                    <a:pt x="1117220" y="8350"/>
                  </a:lnTo>
                  <a:lnTo>
                    <a:pt x="1198296" y="18727"/>
                  </a:lnTo>
                  <a:lnTo>
                    <a:pt x="1277497" y="33145"/>
                  </a:lnTo>
                  <a:lnTo>
                    <a:pt x="1354220" y="51493"/>
                  </a:lnTo>
                  <a:lnTo>
                    <a:pt x="1427881" y="73632"/>
                  </a:lnTo>
                  <a:lnTo>
                    <a:pt x="1497920" y="99393"/>
                  </a:lnTo>
                  <a:lnTo>
                    <a:pt x="1563804" y="128580"/>
                  </a:lnTo>
                  <a:lnTo>
                    <a:pt x="1625031" y="160972"/>
                  </a:lnTo>
                  <a:lnTo>
                    <a:pt x="1681135" y="196321"/>
                  </a:lnTo>
                  <a:lnTo>
                    <a:pt x="1731689" y="234359"/>
                  </a:lnTo>
                  <a:lnTo>
                    <a:pt x="1776309" y="274796"/>
                  </a:lnTo>
                  <a:lnTo>
                    <a:pt x="1814654" y="317325"/>
                  </a:lnTo>
                  <a:lnTo>
                    <a:pt x="1846434" y="361621"/>
                  </a:lnTo>
                  <a:lnTo>
                    <a:pt x="1871406" y="407347"/>
                  </a:lnTo>
                  <a:lnTo>
                    <a:pt x="1889380" y="454156"/>
                  </a:lnTo>
                  <a:lnTo>
                    <a:pt x="1900219" y="501692"/>
                  </a:lnTo>
                  <a:lnTo>
                    <a:pt x="1903842" y="549592"/>
                  </a:lnTo>
                  <a:lnTo>
                    <a:pt x="1900219" y="597492"/>
                  </a:lnTo>
                  <a:lnTo>
                    <a:pt x="1889380" y="645028"/>
                  </a:lnTo>
                  <a:lnTo>
                    <a:pt x="1871406" y="691837"/>
                  </a:lnTo>
                  <a:lnTo>
                    <a:pt x="1846434" y="737563"/>
                  </a:lnTo>
                  <a:lnTo>
                    <a:pt x="1814654" y="781859"/>
                  </a:lnTo>
                  <a:lnTo>
                    <a:pt x="1776309" y="824388"/>
                  </a:lnTo>
                  <a:lnTo>
                    <a:pt x="1731689" y="864825"/>
                  </a:lnTo>
                  <a:lnTo>
                    <a:pt x="1681135" y="902863"/>
                  </a:lnTo>
                  <a:close/>
                </a:path>
              </a:pathLst>
            </a:custGeom>
            <a:noFill/>
            <a:ln w="15240" cap="rnd">
              <a:solidFill>
                <a:srgbClr val="9D86FF">
                  <a:alpha val="3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ub ring"/>
            <p:cNvSpPr/>
            <p:nvPr/>
          </p:nvSpPr>
          <p:spPr>
            <a:xfrm>
              <a:off x="7894691" y="3945941"/>
              <a:ext cx="1218458" cy="703478"/>
            </a:xfrm>
            <a:custGeom>
              <a:avLst/>
              <a:gdLst/>
              <a:ahLst/>
              <a:cxnLst/>
              <a:rect l="l" t="t" r="r" b="b"/>
              <a:pathLst>
                <a:path w="1218458" h="703478">
                  <a:moveTo>
                    <a:pt x="1040019" y="600456"/>
                  </a:moveTo>
                  <a:lnTo>
                    <a:pt x="1000834" y="621186"/>
                  </a:lnTo>
                  <a:lnTo>
                    <a:pt x="958669" y="639866"/>
                  </a:lnTo>
                  <a:lnTo>
                    <a:pt x="913844" y="656354"/>
                  </a:lnTo>
                  <a:lnTo>
                    <a:pt x="866700" y="670522"/>
                  </a:lnTo>
                  <a:lnTo>
                    <a:pt x="817598" y="682265"/>
                  </a:lnTo>
                  <a:lnTo>
                    <a:pt x="766909" y="691492"/>
                  </a:lnTo>
                  <a:lnTo>
                    <a:pt x="715021" y="698134"/>
                  </a:lnTo>
                  <a:lnTo>
                    <a:pt x="662327" y="702139"/>
                  </a:lnTo>
                  <a:lnTo>
                    <a:pt x="609229" y="703478"/>
                  </a:lnTo>
                  <a:lnTo>
                    <a:pt x="556131" y="702139"/>
                  </a:lnTo>
                  <a:lnTo>
                    <a:pt x="503437" y="698134"/>
                  </a:lnTo>
                  <a:lnTo>
                    <a:pt x="451549" y="691492"/>
                  </a:lnTo>
                  <a:lnTo>
                    <a:pt x="400860" y="682265"/>
                  </a:lnTo>
                  <a:lnTo>
                    <a:pt x="351758" y="670522"/>
                  </a:lnTo>
                  <a:lnTo>
                    <a:pt x="304614" y="656354"/>
                  </a:lnTo>
                  <a:lnTo>
                    <a:pt x="259789" y="639866"/>
                  </a:lnTo>
                  <a:lnTo>
                    <a:pt x="217624" y="621186"/>
                  </a:lnTo>
                  <a:lnTo>
                    <a:pt x="178439" y="600456"/>
                  </a:lnTo>
                  <a:lnTo>
                    <a:pt x="142532" y="577832"/>
                  </a:lnTo>
                  <a:lnTo>
                    <a:pt x="110178" y="553488"/>
                  </a:lnTo>
                  <a:lnTo>
                    <a:pt x="81621" y="527608"/>
                  </a:lnTo>
                  <a:lnTo>
                    <a:pt x="57080" y="500390"/>
                  </a:lnTo>
                  <a:lnTo>
                    <a:pt x="36741" y="472041"/>
                  </a:lnTo>
                  <a:lnTo>
                    <a:pt x="20759" y="442776"/>
                  </a:lnTo>
                  <a:lnTo>
                    <a:pt x="9255" y="412818"/>
                  </a:lnTo>
                  <a:lnTo>
                    <a:pt x="2318" y="382395"/>
                  </a:lnTo>
                  <a:lnTo>
                    <a:pt x="0" y="351739"/>
                  </a:lnTo>
                  <a:lnTo>
                    <a:pt x="2318" y="321083"/>
                  </a:lnTo>
                  <a:lnTo>
                    <a:pt x="9255" y="290660"/>
                  </a:lnTo>
                  <a:lnTo>
                    <a:pt x="20759" y="260702"/>
                  </a:lnTo>
                  <a:lnTo>
                    <a:pt x="36741" y="231437"/>
                  </a:lnTo>
                  <a:lnTo>
                    <a:pt x="57080" y="203088"/>
                  </a:lnTo>
                  <a:lnTo>
                    <a:pt x="81621" y="175870"/>
                  </a:lnTo>
                  <a:lnTo>
                    <a:pt x="110178" y="149990"/>
                  </a:lnTo>
                  <a:lnTo>
                    <a:pt x="142532" y="125646"/>
                  </a:lnTo>
                  <a:lnTo>
                    <a:pt x="178439" y="103022"/>
                  </a:lnTo>
                  <a:lnTo>
                    <a:pt x="217624" y="82292"/>
                  </a:lnTo>
                  <a:lnTo>
                    <a:pt x="259789" y="63612"/>
                  </a:lnTo>
                  <a:lnTo>
                    <a:pt x="304614" y="47124"/>
                  </a:lnTo>
                  <a:lnTo>
                    <a:pt x="351758" y="32956"/>
                  </a:lnTo>
                  <a:lnTo>
                    <a:pt x="400860" y="21213"/>
                  </a:lnTo>
                  <a:lnTo>
                    <a:pt x="451549" y="11986"/>
                  </a:lnTo>
                  <a:lnTo>
                    <a:pt x="503437" y="5344"/>
                  </a:lnTo>
                  <a:lnTo>
                    <a:pt x="556131" y="1339"/>
                  </a:lnTo>
                  <a:lnTo>
                    <a:pt x="609229" y="0"/>
                  </a:lnTo>
                  <a:lnTo>
                    <a:pt x="662327" y="1339"/>
                  </a:lnTo>
                  <a:lnTo>
                    <a:pt x="715021" y="5344"/>
                  </a:lnTo>
                  <a:lnTo>
                    <a:pt x="766909" y="11986"/>
                  </a:lnTo>
                  <a:lnTo>
                    <a:pt x="817598" y="21213"/>
                  </a:lnTo>
                  <a:lnTo>
                    <a:pt x="866700" y="32956"/>
                  </a:lnTo>
                  <a:lnTo>
                    <a:pt x="913844" y="47124"/>
                  </a:lnTo>
                  <a:lnTo>
                    <a:pt x="958669" y="63612"/>
                  </a:lnTo>
                  <a:lnTo>
                    <a:pt x="1000834" y="82292"/>
                  </a:lnTo>
                  <a:lnTo>
                    <a:pt x="1040019" y="103022"/>
                  </a:lnTo>
                  <a:lnTo>
                    <a:pt x="1075926" y="125646"/>
                  </a:lnTo>
                  <a:lnTo>
                    <a:pt x="1108280" y="149990"/>
                  </a:lnTo>
                  <a:lnTo>
                    <a:pt x="1136837" y="175870"/>
                  </a:lnTo>
                  <a:lnTo>
                    <a:pt x="1161378" y="203088"/>
                  </a:lnTo>
                  <a:lnTo>
                    <a:pt x="1181717" y="231437"/>
                  </a:lnTo>
                  <a:lnTo>
                    <a:pt x="1197699" y="260702"/>
                  </a:lnTo>
                  <a:lnTo>
                    <a:pt x="1209203" y="290660"/>
                  </a:lnTo>
                  <a:lnTo>
                    <a:pt x="1216140" y="321083"/>
                  </a:lnTo>
                  <a:lnTo>
                    <a:pt x="1218458" y="351739"/>
                  </a:lnTo>
                  <a:lnTo>
                    <a:pt x="1216140" y="382395"/>
                  </a:lnTo>
                  <a:lnTo>
                    <a:pt x="1209203" y="412818"/>
                  </a:lnTo>
                  <a:lnTo>
                    <a:pt x="1197699" y="442776"/>
                  </a:lnTo>
                  <a:lnTo>
                    <a:pt x="1181717" y="472041"/>
                  </a:lnTo>
                  <a:lnTo>
                    <a:pt x="1161378" y="500390"/>
                  </a:lnTo>
                  <a:lnTo>
                    <a:pt x="1136837" y="527608"/>
                  </a:lnTo>
                  <a:lnTo>
                    <a:pt x="1108280" y="553488"/>
                  </a:lnTo>
                  <a:lnTo>
                    <a:pt x="1075926" y="577832"/>
                  </a:lnTo>
                  <a:close/>
                </a:path>
              </a:pathLst>
            </a:custGeom>
            <a:noFill/>
            <a:ln w="15240" cap="rnd">
              <a:solidFill>
                <a:srgbClr val="9D86FF">
                  <a:alpha val="6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ormula core · kiri"/>
            <p:cNvSpPr/>
            <p:nvPr/>
          </p:nvSpPr>
          <p:spPr>
            <a:xfrm>
              <a:off x="8126979" y="3577133"/>
              <a:ext cx="376941" cy="652881"/>
            </a:xfrm>
            <a:custGeom>
              <a:avLst/>
              <a:gdLst/>
              <a:ahLst/>
              <a:cxnLst/>
              <a:rect l="l" t="t" r="r" b="b"/>
              <a:pathLst>
                <a:path w="376941" h="652881">
                  <a:moveTo>
                    <a:pt x="0" y="435254"/>
                  </a:moveTo>
                  <a:lnTo>
                    <a:pt x="376941" y="652881"/>
                  </a:lnTo>
                  <a:lnTo>
                    <a:pt x="376941" y="217627"/>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ormula core · kanan"/>
            <p:cNvSpPr/>
            <p:nvPr/>
          </p:nvSpPr>
          <p:spPr>
            <a:xfrm>
              <a:off x="8503920" y="3577133"/>
              <a:ext cx="376941" cy="652881"/>
            </a:xfrm>
            <a:custGeom>
              <a:avLst/>
              <a:gdLst/>
              <a:ahLst/>
              <a:cxnLst/>
              <a:rect l="l" t="t" r="r" b="b"/>
              <a:pathLst>
                <a:path w="376941" h="652881">
                  <a:moveTo>
                    <a:pt x="376941" y="435254"/>
                  </a:moveTo>
                  <a:lnTo>
                    <a:pt x="0" y="652881"/>
                  </a:lnTo>
                  <a:lnTo>
                    <a:pt x="0" y="217627"/>
                  </a:lnTo>
                  <a:lnTo>
                    <a:pt x="376941"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ormula core · atas"/>
            <p:cNvSpPr/>
            <p:nvPr/>
          </p:nvSpPr>
          <p:spPr>
            <a:xfrm>
              <a:off x="8126979" y="3359506"/>
              <a:ext cx="753882" cy="435254"/>
            </a:xfrm>
            <a:custGeom>
              <a:avLst/>
              <a:gdLst/>
              <a:ahLst/>
              <a:cxnLst/>
              <a:rect l="l" t="t" r="r" b="b"/>
              <a:pathLst>
                <a:path w="753882" h="435254">
                  <a:moveTo>
                    <a:pt x="376941" y="0"/>
                  </a:moveTo>
                  <a:lnTo>
                    <a:pt x="753882" y="217627"/>
                  </a:lnTo>
                  <a:lnTo>
                    <a:pt x="376941" y="435254"/>
                  </a:lnTo>
                  <a:lnTo>
                    <a:pt x="0" y="21762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ower block 1 · kiri"/>
            <p:cNvSpPr/>
            <p:nvPr/>
          </p:nvSpPr>
          <p:spPr>
            <a:xfrm>
              <a:off x="9875005" y="502828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ower block 1 · kanan"/>
            <p:cNvSpPr/>
            <p:nvPr/>
          </p:nvSpPr>
          <p:spPr>
            <a:xfrm>
              <a:off x="10332720" y="502828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ower block 1 · atas"/>
            <p:cNvSpPr/>
            <p:nvPr/>
          </p:nvSpPr>
          <p:spPr>
            <a:xfrm>
              <a:off x="9875005" y="476402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ower block 2 · kiri"/>
            <p:cNvSpPr/>
            <p:nvPr/>
          </p:nvSpPr>
          <p:spPr>
            <a:xfrm>
              <a:off x="9875005" y="479511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ower block 2 · kanan"/>
            <p:cNvSpPr/>
            <p:nvPr/>
          </p:nvSpPr>
          <p:spPr>
            <a:xfrm>
              <a:off x="10332720" y="479511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ower block 2 · atas"/>
            <p:cNvSpPr/>
            <p:nvPr/>
          </p:nvSpPr>
          <p:spPr>
            <a:xfrm>
              <a:off x="9875005" y="453085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ower block 3 · kiri"/>
            <p:cNvSpPr/>
            <p:nvPr/>
          </p:nvSpPr>
          <p:spPr>
            <a:xfrm>
              <a:off x="9875005" y="4561942"/>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ower block 3 · kanan"/>
            <p:cNvSpPr/>
            <p:nvPr/>
          </p:nvSpPr>
          <p:spPr>
            <a:xfrm>
              <a:off x="10332720" y="4561942"/>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ower block 3 · atas"/>
            <p:cNvSpPr/>
            <p:nvPr/>
          </p:nvSpPr>
          <p:spPr>
            <a:xfrm>
              <a:off x="9875005" y="4297680"/>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ower block 4 · kiri"/>
            <p:cNvSpPr/>
            <p:nvPr/>
          </p:nvSpPr>
          <p:spPr>
            <a:xfrm>
              <a:off x="9875005" y="4328770"/>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ower block 4 · kanan"/>
            <p:cNvSpPr/>
            <p:nvPr/>
          </p:nvSpPr>
          <p:spPr>
            <a:xfrm>
              <a:off x="10332720" y="4328770"/>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ower block 4 · atas"/>
            <p:cNvSpPr/>
            <p:nvPr/>
          </p:nvSpPr>
          <p:spPr>
            <a:xfrm>
              <a:off x="9875005" y="4064508"/>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ower block 5 · kiri"/>
            <p:cNvSpPr/>
            <p:nvPr/>
          </p:nvSpPr>
          <p:spPr>
            <a:xfrm>
              <a:off x="9875005" y="4095598"/>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ower block 5 · kanan"/>
            <p:cNvSpPr/>
            <p:nvPr/>
          </p:nvSpPr>
          <p:spPr>
            <a:xfrm>
              <a:off x="10332720" y="4095598"/>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ower block 5 · atas"/>
            <p:cNvSpPr/>
            <p:nvPr/>
          </p:nvSpPr>
          <p:spPr>
            <a:xfrm>
              <a:off x="9875005" y="3831336"/>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ower block 6 · kiri"/>
            <p:cNvSpPr/>
            <p:nvPr/>
          </p:nvSpPr>
          <p:spPr>
            <a:xfrm>
              <a:off x="9875005" y="386242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ower block 6 · kanan"/>
            <p:cNvSpPr/>
            <p:nvPr/>
          </p:nvSpPr>
          <p:spPr>
            <a:xfrm>
              <a:off x="10332720" y="386242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ower block 6 · atas"/>
            <p:cNvSpPr/>
            <p:nvPr/>
          </p:nvSpPr>
          <p:spPr>
            <a:xfrm>
              <a:off x="9875005" y="359816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ower block 7 · kiri"/>
            <p:cNvSpPr/>
            <p:nvPr/>
          </p:nvSpPr>
          <p:spPr>
            <a:xfrm>
              <a:off x="9875005" y="362925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ower block 7 · kanan"/>
            <p:cNvSpPr/>
            <p:nvPr/>
          </p:nvSpPr>
          <p:spPr>
            <a:xfrm>
              <a:off x="10332720" y="362925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ower block 7 · atas"/>
            <p:cNvSpPr/>
            <p:nvPr/>
          </p:nvSpPr>
          <p:spPr>
            <a:xfrm>
              <a:off x="9875005" y="336499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ower block 8 · kiri"/>
            <p:cNvSpPr/>
            <p:nvPr/>
          </p:nvSpPr>
          <p:spPr>
            <a:xfrm>
              <a:off x="9875005" y="3396082"/>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ower block 8 · kanan"/>
            <p:cNvSpPr/>
            <p:nvPr/>
          </p:nvSpPr>
          <p:spPr>
            <a:xfrm>
              <a:off x="10332720" y="3396082"/>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ower block 8 · atas"/>
            <p:cNvSpPr/>
            <p:nvPr/>
          </p:nvSpPr>
          <p:spPr>
            <a:xfrm>
              <a:off x="9875005" y="3131820"/>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ower block 9 · kiri"/>
            <p:cNvSpPr/>
            <p:nvPr/>
          </p:nvSpPr>
          <p:spPr>
            <a:xfrm>
              <a:off x="9875005" y="3162910"/>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ower block 9 · kanan"/>
            <p:cNvSpPr/>
            <p:nvPr/>
          </p:nvSpPr>
          <p:spPr>
            <a:xfrm>
              <a:off x="10332720" y="3162910"/>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ower block 9 · atas"/>
            <p:cNvSpPr/>
            <p:nvPr/>
          </p:nvSpPr>
          <p:spPr>
            <a:xfrm>
              <a:off x="9875005" y="2898648"/>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ower block 10 · kiri"/>
            <p:cNvSpPr/>
            <p:nvPr/>
          </p:nvSpPr>
          <p:spPr>
            <a:xfrm>
              <a:off x="9875005" y="2929738"/>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ower block 10 · kanan"/>
            <p:cNvSpPr/>
            <p:nvPr/>
          </p:nvSpPr>
          <p:spPr>
            <a:xfrm>
              <a:off x="10332720" y="2929738"/>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ower block 10 · atas"/>
            <p:cNvSpPr/>
            <p:nvPr/>
          </p:nvSpPr>
          <p:spPr>
            <a:xfrm>
              <a:off x="9875005" y="2665476"/>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ower block 11 · kiri"/>
            <p:cNvSpPr/>
            <p:nvPr/>
          </p:nvSpPr>
          <p:spPr>
            <a:xfrm>
              <a:off x="9875005" y="269656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ower block 11 · kanan"/>
            <p:cNvSpPr/>
            <p:nvPr/>
          </p:nvSpPr>
          <p:spPr>
            <a:xfrm>
              <a:off x="10332720" y="269656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ower block 11 · atas"/>
            <p:cNvSpPr/>
            <p:nvPr/>
          </p:nvSpPr>
          <p:spPr>
            <a:xfrm>
              <a:off x="9875005" y="243230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ower block 12 · kiri"/>
            <p:cNvSpPr/>
            <p:nvPr/>
          </p:nvSpPr>
          <p:spPr>
            <a:xfrm>
              <a:off x="9875005" y="246339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ower block 12 · kanan"/>
            <p:cNvSpPr/>
            <p:nvPr/>
          </p:nvSpPr>
          <p:spPr>
            <a:xfrm>
              <a:off x="10332720" y="246339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ower block 12 · atas"/>
            <p:cNvSpPr/>
            <p:nvPr/>
          </p:nvSpPr>
          <p:spPr>
            <a:xfrm>
              <a:off x="9875005" y="219913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2" name="Flow bus"/>
          <p:cNvSpPr/>
          <p:nvPr/>
        </p:nvSpPr>
        <p:spPr>
          <a:xfrm>
            <a:off x="7498080" y="2359152"/>
            <a:ext cx="0" cy="2560320"/>
          </a:xfrm>
          <a:custGeom>
            <a:avLst/>
            <a:gdLst/>
            <a:ahLst/>
            <a:cxnLst/>
            <a:rect l="l" t="t" r="r" b="b"/>
            <a:pathLst>
              <a:path w="0" h="2560320">
                <a:moveTo>
                  <a:pt x="0" y="0"/>
                </a:moveTo>
                <a:lnTo>
                  <a:pt x="0" y="256032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low to formula"/>
          <p:cNvSpPr/>
          <p:nvPr/>
        </p:nvSpPr>
        <p:spPr>
          <a:xfrm>
            <a:off x="7498080" y="3977640"/>
            <a:ext cx="137160" cy="0"/>
          </a:xfrm>
          <a:custGeom>
            <a:avLst/>
            <a:gdLst/>
            <a:ahLst/>
            <a:cxnLst/>
            <a:rect l="l" t="t" r="r" b="b"/>
            <a:pathLst>
              <a:path w="137160" h="0">
                <a:moveTo>
                  <a:pt x="0" y="0"/>
                </a:moveTo>
                <a:lnTo>
                  <a:pt x="137160" y="0"/>
                </a:lnTo>
              </a:path>
            </a:pathLst>
          </a:custGeom>
          <a:noFill/>
          <a:ln w="17780" cap="rnd">
            <a:solidFill>
              <a:srgbClr val="9D86FF">
                <a:alpha val="7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low line 1"/>
          <p:cNvSpPr/>
          <p:nvPr/>
        </p:nvSpPr>
        <p:spPr>
          <a:xfrm>
            <a:off x="7132320" y="235915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nalyst name 1"/>
          <p:cNvSpPr txBox="1"/>
          <p:nvPr/>
        </p:nvSpPr>
        <p:spPr>
          <a:xfrm>
            <a:off x="5303520" y="278892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55" name="Analyst role 1"/>
          <p:cNvSpPr txBox="1"/>
          <p:nvPr/>
        </p:nvSpPr>
        <p:spPr>
          <a:xfrm>
            <a:off x="5303520" y="299923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56" name="Flow line 2"/>
          <p:cNvSpPr/>
          <p:nvPr/>
        </p:nvSpPr>
        <p:spPr>
          <a:xfrm>
            <a:off x="7132320" y="363931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nalyst name 2"/>
          <p:cNvSpPr txBox="1"/>
          <p:nvPr/>
        </p:nvSpPr>
        <p:spPr>
          <a:xfrm>
            <a:off x="5303520" y="406908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67" name="Analyst role 2"/>
          <p:cNvSpPr txBox="1"/>
          <p:nvPr/>
        </p:nvSpPr>
        <p:spPr>
          <a:xfrm>
            <a:off x="5303520" y="427939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68" name="Flow line 3"/>
          <p:cNvSpPr/>
          <p:nvPr/>
        </p:nvSpPr>
        <p:spPr>
          <a:xfrm>
            <a:off x="7132320" y="491947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nalyst name 3"/>
          <p:cNvSpPr txBox="1"/>
          <p:nvPr/>
        </p:nvSpPr>
        <p:spPr>
          <a:xfrm>
            <a:off x="5303520" y="534924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79" name="Analyst role 3"/>
          <p:cNvSpPr txBox="1"/>
          <p:nvPr/>
        </p:nvSpPr>
        <p:spPr>
          <a:xfrm>
            <a:off x="5303520" y="555955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86" name="Hub label"/>
          <p:cNvSpPr txBox="1"/>
          <p:nvPr/>
        </p:nvSpPr>
        <p:spPr>
          <a:xfrm>
            <a:off x="7315200" y="5029200"/>
            <a:ext cx="2377440" cy="219456"/>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FIXED FORMULA R4</a:t>
            </a:r>
          </a:p>
        </p:txBody>
      </p:sp>
      <p:sp>
        <p:nvSpPr>
          <p:cNvPr id="87" name="Commit line"/>
          <p:cNvSpPr/>
          <p:nvPr/>
        </p:nvSpPr>
        <p:spPr>
          <a:xfrm>
            <a:off x="9144000" y="3977640"/>
            <a:ext cx="365760" cy="594360"/>
          </a:xfrm>
          <a:custGeom>
            <a:avLst/>
            <a:gdLst/>
            <a:ahLst/>
            <a:cxnLst/>
            <a:rect l="l" t="t" r="r" b="b"/>
            <a:pathLst>
              <a:path w="365760" h="594360">
                <a:moveTo>
                  <a:pt x="0" y="0"/>
                </a:moveTo>
                <a:lnTo>
                  <a:pt x="365760" y="594360"/>
                </a:lnTo>
              </a:path>
            </a:pathLst>
          </a:custGeom>
          <a:noFill/>
          <a:ln w="16510" cap="rnd">
            <a:solidFill>
              <a:srgbClr val="9D86FF">
                <a:alpha val="6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ower label"/>
          <p:cNvSpPr txBox="1"/>
          <p:nvPr/>
        </p:nvSpPr>
        <p:spPr>
          <a:xfrm>
            <a:off x="8778240" y="5458968"/>
            <a:ext cx="3108960" cy="219456"/>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DESKANCHOR · LAST 12 CYCLES</a:t>
            </a:r>
          </a:p>
        </p:txBody>
      </p:sp>
      <p:sp>
        <p:nvSpPr>
          <p:cNvPr id="125" name="Chip · EVERY 5 MIN"/>
          <p:cNvSpPr/>
          <p:nvPr/>
        </p:nvSpPr>
        <p:spPr>
          <a:xfrm>
            <a:off x="594360" y="5961888"/>
            <a:ext cx="1323467"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hip text"/>
          <p:cNvSpPr txBox="1"/>
          <p:nvPr/>
        </p:nvSpPr>
        <p:spPr>
          <a:xfrm>
            <a:off x="731520" y="5961888"/>
            <a:ext cx="1049147"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EVERY 5 MIN</a:t>
            </a:r>
          </a:p>
        </p:txBody>
      </p:sp>
      <p:sp>
        <p:nvSpPr>
          <p:cNvPr id="127" name="Chip · ERC-8004 ANALYSTS"/>
          <p:cNvSpPr/>
          <p:nvPr/>
        </p:nvSpPr>
        <p:spPr>
          <a:xfrm>
            <a:off x="2027555" y="5961888"/>
            <a:ext cx="1895729"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hip text"/>
          <p:cNvSpPr txBox="1"/>
          <p:nvPr/>
        </p:nvSpPr>
        <p:spPr>
          <a:xfrm>
            <a:off x="2164715" y="5961888"/>
            <a:ext cx="1621409"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ERC-8004 ANALYSTS</a:t>
            </a:r>
          </a:p>
        </p:txBody>
      </p:sp>
      <p:sp>
        <p:nvSpPr>
          <p:cNvPr id="129" name="Chip · ONE PAPER BOOK · MAX 5 POSITIONS"/>
          <p:cNvSpPr/>
          <p:nvPr/>
        </p:nvSpPr>
        <p:spPr>
          <a:xfrm>
            <a:off x="4033012" y="5961888"/>
            <a:ext cx="332638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hip text"/>
          <p:cNvSpPr txBox="1"/>
          <p:nvPr/>
        </p:nvSpPr>
        <p:spPr>
          <a:xfrm>
            <a:off x="4170172" y="5961888"/>
            <a:ext cx="3052064"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ONE PAPER BOOK · MAX 5 POSITIONS</a:t>
            </a:r>
          </a:p>
        </p:txBody>
      </p:sp>
      <p:sp>
        <p:nvSpPr>
          <p:cNvPr id="131" name="Note"/>
          <p:cNvSpPr txBox="1"/>
          <p:nvPr/>
        </p:nvSpPr>
        <p:spPr>
          <a:xfrm>
            <a:off x="6400800" y="5961888"/>
            <a:ext cx="5212080" cy="274320"/>
          </a:xfrm>
          <a:prstGeom prst="rect">
            <a:avLst/>
          </a:prstGeom>
          <a:noFill/>
        </p:spPr>
        <p:txBody>
          <a:bodyPr wrap="square" lIns="0" rIns="0" tIns="0" bIns="0" anchor="ctr">
            <a:noAutofit/>
          </a:bodyPr>
          <a:lstStyle/>
          <a:p>
            <a:pPr algn="r">
              <a:lnSpc>
                <a:spcPct val="125000"/>
              </a:lnSpc>
              <a:spcBef>
                <a:spcPts val="0"/>
              </a:spcBef>
              <a:spcAft>
                <a:spcPts val="0"/>
              </a:spcAft>
            </a:pPr>
            <a:r>
              <a:rPr sz="1050" b="0" i="0" lang="en-US">
                <a:solidFill>
                  <a:srgbClr val="8B86A6"/>
                </a:solidFill>
                <a:latin typeface="JetBrains Mono" pitchFamily="49" charset="0"/>
              </a:rPr>
              <a:t>REAL DECISIONS · PAPER MONEY</a:t>
            </a:r>
          </a:p>
        </p:txBody>
      </p:sp>
      <p:sp>
        <p:nvSpPr>
          <p:cNvPr id="13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3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7498080" cy="1097280"/>
          </a:xfrm>
        </p:spPr>
        <p:txBody>
          <a:bodyPr wrap="square" lIns="0" rIns="0" tIns="0" bIns="0" anchor="t">
            <a:noAutofit/>
          </a:bodyPr>
          <a:lstStyle/>
          <a:p>
            <a:pPr algn="l">
              <a:lnSpc>
                <a:spcPct val="102000"/>
              </a:lnSpc>
              <a:spcBef>
                <a:spcPts val="0"/>
              </a:spcBef>
              <a:spcAft>
                <a:spcPts val="0"/>
              </a:spcAft>
            </a:pPr>
            <a:r>
              <a:rPr sz="3800" b="0" i="0" lang="en-US">
                <a:solidFill>
                  <a:srgbClr val="ECE8FA"/>
                </a:solidFill>
                <a:latin typeface="Archivo" pitchFamily="34" charset="0"/>
              </a:rPr>
              <a:t>Pay per call.</a:t>
            </a:r>
            <a:br>
              <a:rPr sz="3800"/>
            </a:br>
            <a:r>
              <a:rPr sz="3800" b="1" i="1" lang="en-US">
                <a:solidFill>
                  <a:srgbClr val="9D86FF"/>
                </a:solidFill>
                <a:latin typeface="Archivo" pitchFamily="34" charset="0"/>
              </a:rPr>
              <a:t>No subscription. No custody.</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07 — THE MARKET</a:t>
            </a:r>
          </a:p>
        </p:txBody>
      </p:sp>
      <p:sp>
        <p:nvSpPr>
          <p:cNvPr id="7" name="Chip · AGENT · MCP + x402"/>
          <p:cNvSpPr/>
          <p:nvPr/>
        </p:nvSpPr>
        <p:spPr>
          <a:xfrm>
            <a:off x="9423349" y="987552"/>
            <a:ext cx="1991106"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ip text"/>
          <p:cNvSpPr txBox="1"/>
          <p:nvPr/>
        </p:nvSpPr>
        <p:spPr>
          <a:xfrm>
            <a:off x="9560509" y="987552"/>
            <a:ext cx="1716786"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AGENT · MCP + X402</a:t>
            </a:r>
          </a:p>
        </p:txBody>
      </p:sp>
      <p:sp>
        <p:nvSpPr>
          <p:cNvPr id="9" name="Chip · HUMAN · web + Telegram"/>
          <p:cNvSpPr/>
          <p:nvPr/>
        </p:nvSpPr>
        <p:spPr>
          <a:xfrm>
            <a:off x="6758127" y="987552"/>
            <a:ext cx="237261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text"/>
          <p:cNvSpPr txBox="1"/>
          <p:nvPr/>
        </p:nvSpPr>
        <p:spPr>
          <a:xfrm>
            <a:off x="6895287" y="987552"/>
            <a:ext cx="2098294"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HUMAN · WEB + TELEGRAM</a:t>
            </a:r>
          </a:p>
        </p:txBody>
      </p:sp>
      <p:sp>
        <p:nvSpPr>
          <p:cNvPr id="11" name="Flow 1"/>
          <p:cNvSpPr/>
          <p:nvPr/>
        </p:nvSpPr>
        <p:spPr>
          <a:xfrm>
            <a:off x="594360"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low tag 1"/>
          <p:cNvSpPr txBox="1"/>
          <p:nvPr/>
        </p:nvSpPr>
        <p:spPr>
          <a:xfrm>
            <a:off x="777240"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01 · BUYER</a:t>
            </a:r>
          </a:p>
        </p:txBody>
      </p:sp>
      <p:sp>
        <p:nvSpPr>
          <p:cNvPr id="13" name="Flow title 1"/>
          <p:cNvSpPr txBox="1"/>
          <p:nvPr/>
        </p:nvSpPr>
        <p:spPr>
          <a:xfrm>
            <a:off x="777240"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Ask for a signal</a:t>
            </a:r>
          </a:p>
        </p:txBody>
      </p:sp>
      <p:sp>
        <p:nvSpPr>
          <p:cNvPr id="14" name="Flow text 1"/>
          <p:cNvSpPr txBox="1"/>
          <p:nvPr/>
        </p:nvSpPr>
        <p:spPr>
          <a:xfrm>
            <a:off x="777240"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A person on web or Telegram, or an agent via MCP, asks for today's signal.</a:t>
            </a:r>
          </a:p>
        </p:txBody>
      </p:sp>
      <p:sp>
        <p:nvSpPr>
          <p:cNvPr id="15" name="Flow arrow"/>
          <p:cNvSpPr/>
          <p:nvPr/>
        </p:nvSpPr>
        <p:spPr>
          <a:xfrm>
            <a:off x="2582814"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low 2"/>
          <p:cNvSpPr/>
          <p:nvPr/>
        </p:nvSpPr>
        <p:spPr>
          <a:xfrm>
            <a:off x="2857134"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tag 2"/>
          <p:cNvSpPr txBox="1"/>
          <p:nvPr/>
        </p:nvSpPr>
        <p:spPr>
          <a:xfrm>
            <a:off x="3040014"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02 · HTTP 402</a:t>
            </a:r>
          </a:p>
        </p:txBody>
      </p:sp>
      <p:sp>
        <p:nvSpPr>
          <p:cNvPr id="18" name="Flow title 2"/>
          <p:cNvSpPr txBox="1"/>
          <p:nvPr/>
        </p:nvSpPr>
        <p:spPr>
          <a:xfrm>
            <a:off x="3040014"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Price first</a:t>
            </a:r>
          </a:p>
        </p:txBody>
      </p:sp>
      <p:sp>
        <p:nvSpPr>
          <p:cNvPr id="19" name="Flow text 2"/>
          <p:cNvSpPr txBox="1"/>
          <p:nvPr/>
        </p:nvSpPr>
        <p:spPr>
          <a:xfrm>
            <a:off x="3040014"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The gate answers 402 Payment Required, with the price: 0.01 FAB today.</a:t>
            </a:r>
          </a:p>
        </p:txBody>
      </p:sp>
      <p:sp>
        <p:nvSpPr>
          <p:cNvPr id="20" name="Flow arrow"/>
          <p:cNvSpPr/>
          <p:nvPr/>
        </p:nvSpPr>
        <p:spPr>
          <a:xfrm>
            <a:off x="4845588"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low 3"/>
          <p:cNvSpPr/>
          <p:nvPr/>
        </p:nvSpPr>
        <p:spPr>
          <a:xfrm>
            <a:off x="5119908"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low tag 3"/>
          <p:cNvSpPr txBox="1"/>
          <p:nvPr/>
        </p:nvSpPr>
        <p:spPr>
          <a:xfrm>
            <a:off x="5302788"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03 · SIGN</a:t>
            </a:r>
          </a:p>
        </p:txBody>
      </p:sp>
      <p:sp>
        <p:nvSpPr>
          <p:cNvPr id="23" name="Flow title 3"/>
          <p:cNvSpPr txBox="1"/>
          <p:nvPr/>
        </p:nvSpPr>
        <p:spPr>
          <a:xfrm>
            <a:off x="5302788"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Sign, don't send</a:t>
            </a:r>
          </a:p>
        </p:txBody>
      </p:sp>
      <p:sp>
        <p:nvSpPr>
          <p:cNvPr id="24" name="Flow text 3"/>
          <p:cNvSpPr txBox="1"/>
          <p:nvPr/>
        </p:nvSpPr>
        <p:spPr>
          <a:xfrm>
            <a:off x="5302788"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The buyer signs a permit. No gas to hold, no deposit, no balance.</a:t>
            </a:r>
          </a:p>
        </p:txBody>
      </p:sp>
      <p:sp>
        <p:nvSpPr>
          <p:cNvPr id="25" name="Flow arrow"/>
          <p:cNvSpPr/>
          <p:nvPr/>
        </p:nvSpPr>
        <p:spPr>
          <a:xfrm>
            <a:off x="7108363"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low 4"/>
          <p:cNvSpPr/>
          <p:nvPr/>
        </p:nvSpPr>
        <p:spPr>
          <a:xfrm>
            <a:off x="7382683"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low tag 4"/>
          <p:cNvSpPr txBox="1"/>
          <p:nvPr/>
        </p:nvSpPr>
        <p:spPr>
          <a:xfrm>
            <a:off x="7565563"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04 · SETTLE</a:t>
            </a:r>
          </a:p>
        </p:txBody>
      </p:sp>
      <p:sp>
        <p:nvSpPr>
          <p:cNvPr id="28" name="Flow title 4"/>
          <p:cNvSpPr txBox="1"/>
          <p:nvPr/>
        </p:nvSpPr>
        <p:spPr>
          <a:xfrm>
            <a:off x="7565563"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The gate settles</a:t>
            </a:r>
          </a:p>
        </p:txBody>
      </p:sp>
      <p:sp>
        <p:nvSpPr>
          <p:cNvPr id="29" name="Flow text 4"/>
          <p:cNvSpPr txBox="1"/>
          <p:nvPr/>
        </p:nvSpPr>
        <p:spPr>
          <a:xfrm>
            <a:off x="7565563"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x402 and Permit2 move the token. The gate pays the gas.</a:t>
            </a:r>
          </a:p>
        </p:txBody>
      </p:sp>
      <p:sp>
        <p:nvSpPr>
          <p:cNvPr id="30" name="Flow arrow"/>
          <p:cNvSpPr/>
          <p:nvPr/>
        </p:nvSpPr>
        <p:spPr>
          <a:xfrm>
            <a:off x="9371137"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low 5"/>
          <p:cNvSpPr/>
          <p:nvPr/>
        </p:nvSpPr>
        <p:spPr>
          <a:xfrm>
            <a:off x="9645457" y="2286000"/>
            <a:ext cx="1951878" cy="1874520"/>
          </a:xfrm>
          <a:prstGeom prst="roundRect">
            <a:avLst>
              <a:gd name="adj" fmla="val 10731"/>
            </a:avLst>
          </a:prstGeom>
          <a:gradFill rotWithShape="1">
            <a:gsLst>
              <a:gs pos="0">
                <a:srgbClr val="6E4BFF">
                  <a:alpha val="30000"/>
                </a:srgbClr>
              </a:gs>
              <a:gs pos="100000">
                <a:srgbClr val="6E4BFF">
                  <a:alpha val="10000"/>
                </a:srgbClr>
              </a:gs>
            </a:gsLst>
            <a:lin ang="8100000" scaled="0"/>
          </a:gradFill>
          <a:ln w="9525" cap="rnd">
            <a:solidFill>
              <a:srgbClr val="9D86FF">
                <a:alpha val="7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low tag 5"/>
          <p:cNvSpPr txBox="1"/>
          <p:nvPr/>
        </p:nvSpPr>
        <p:spPr>
          <a:xfrm>
            <a:off x="9828337"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05 · DELIVER</a:t>
            </a:r>
          </a:p>
        </p:txBody>
      </p:sp>
      <p:sp>
        <p:nvSpPr>
          <p:cNvPr id="33" name="Flow title 5"/>
          <p:cNvSpPr txBox="1"/>
          <p:nvPr/>
        </p:nvSpPr>
        <p:spPr>
          <a:xfrm>
            <a:off x="9828337"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Signal + proof</a:t>
            </a:r>
          </a:p>
        </p:txBody>
      </p:sp>
      <p:sp>
        <p:nvSpPr>
          <p:cNvPr id="34" name="Flow text 5"/>
          <p:cNvSpPr txBox="1"/>
          <p:nvPr/>
        </p:nvSpPr>
        <p:spPr>
          <a:xfrm>
            <a:off x="9828337"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It arrives with its commit proof, so anyone can check it was sealed first.</a:t>
            </a:r>
          </a:p>
        </p:txBody>
      </p:sp>
      <p:grpSp>
        <p:nvGrpSpPr>
          <p:cNvPr id="35" name="Scene · business flow"/>
          <p:cNvGrpSpPr/>
          <p:nvPr/>
        </p:nvGrpSpPr>
        <p:grpSpPr>
          <a:xfrm>
            <a:off x="0" y="0"/>
            <a:ext cx="0" cy="0"/>
            <a:chOff x="0" y="0"/>
            <a:chExt cx="0" cy="0"/>
          </a:xfrm>
        </p:grpSpPr>
        <p:sp>
          <p:nvSpPr>
            <p:cNvPr id="36" name="Builders · kiri"/>
            <p:cNvSpPr/>
            <p:nvPr/>
          </p:nvSpPr>
          <p:spPr>
            <a:xfrm>
              <a:off x="1052629" y="4857293"/>
              <a:ext cx="456131" cy="790041"/>
            </a:xfrm>
            <a:custGeom>
              <a:avLst/>
              <a:gdLst/>
              <a:ahLst/>
              <a:cxnLst/>
              <a:rect l="l" t="t" r="r" b="b"/>
              <a:pathLst>
                <a:path w="456131" h="790041">
                  <a:moveTo>
                    <a:pt x="0" y="526694"/>
                  </a:moveTo>
                  <a:lnTo>
                    <a:pt x="456131" y="790041"/>
                  </a:lnTo>
                  <a:lnTo>
                    <a:pt x="456131" y="263347"/>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uilders · kanan"/>
            <p:cNvSpPr/>
            <p:nvPr/>
          </p:nvSpPr>
          <p:spPr>
            <a:xfrm>
              <a:off x="1508760" y="4857293"/>
              <a:ext cx="456131" cy="790041"/>
            </a:xfrm>
            <a:custGeom>
              <a:avLst/>
              <a:gdLst/>
              <a:ahLst/>
              <a:cxnLst/>
              <a:rect l="l" t="t" r="r" b="b"/>
              <a:pathLst>
                <a:path w="456131" h="790041">
                  <a:moveTo>
                    <a:pt x="456131" y="526694"/>
                  </a:moveTo>
                  <a:lnTo>
                    <a:pt x="0" y="790041"/>
                  </a:lnTo>
                  <a:lnTo>
                    <a:pt x="0" y="263347"/>
                  </a:lnTo>
                  <a:lnTo>
                    <a:pt x="456131"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uilders · atas"/>
            <p:cNvSpPr/>
            <p:nvPr/>
          </p:nvSpPr>
          <p:spPr>
            <a:xfrm>
              <a:off x="1052629" y="4593946"/>
              <a:ext cx="912262" cy="526694"/>
            </a:xfrm>
            <a:custGeom>
              <a:avLst/>
              <a:gdLst/>
              <a:ahLst/>
              <a:cxnLst/>
              <a:rect l="l" t="t" r="r" b="b"/>
              <a:pathLst>
                <a:path w="912262" h="526694">
                  <a:moveTo>
                    <a:pt x="456131" y="0"/>
                  </a:moveTo>
                  <a:lnTo>
                    <a:pt x="912262" y="263347"/>
                  </a:lnTo>
                  <a:lnTo>
                    <a:pt x="456131" y="526694"/>
                  </a:lnTo>
                  <a:lnTo>
                    <a:pt x="0" y="263347"/>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abius · kiri"/>
            <p:cNvSpPr/>
            <p:nvPr/>
          </p:nvSpPr>
          <p:spPr>
            <a:xfrm>
              <a:off x="3344545" y="4807915"/>
              <a:ext cx="541655" cy="938175"/>
            </a:xfrm>
            <a:custGeom>
              <a:avLst/>
              <a:gdLst/>
              <a:ahLst/>
              <a:cxnLst/>
              <a:rect l="l" t="t" r="r" b="b"/>
              <a:pathLst>
                <a:path w="541655" h="938175">
                  <a:moveTo>
                    <a:pt x="0" y="625450"/>
                  </a:moveTo>
                  <a:lnTo>
                    <a:pt x="541655" y="938175"/>
                  </a:lnTo>
                  <a:lnTo>
                    <a:pt x="541655" y="31272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abius · kanan"/>
            <p:cNvSpPr/>
            <p:nvPr/>
          </p:nvSpPr>
          <p:spPr>
            <a:xfrm>
              <a:off x="3886200" y="4807915"/>
              <a:ext cx="541655" cy="938175"/>
            </a:xfrm>
            <a:custGeom>
              <a:avLst/>
              <a:gdLst/>
              <a:ahLst/>
              <a:cxnLst/>
              <a:rect l="l" t="t" r="r" b="b"/>
              <a:pathLst>
                <a:path w="541655" h="938175">
                  <a:moveTo>
                    <a:pt x="541655" y="625450"/>
                  </a:moveTo>
                  <a:lnTo>
                    <a:pt x="0" y="938175"/>
                  </a:lnTo>
                  <a:lnTo>
                    <a:pt x="0" y="312725"/>
                  </a:lnTo>
                  <a:lnTo>
                    <a:pt x="54165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bius · atas"/>
            <p:cNvSpPr/>
            <p:nvPr/>
          </p:nvSpPr>
          <p:spPr>
            <a:xfrm>
              <a:off x="3344545" y="4495190"/>
              <a:ext cx="1083310" cy="625450"/>
            </a:xfrm>
            <a:custGeom>
              <a:avLst/>
              <a:gdLst/>
              <a:ahLst/>
              <a:cxnLst/>
              <a:rect l="l" t="t" r="r" b="b"/>
              <a:pathLst>
                <a:path w="1083310" h="625450">
                  <a:moveTo>
                    <a:pt x="541655" y="0"/>
                  </a:moveTo>
                  <a:lnTo>
                    <a:pt x="1083310" y="312725"/>
                  </a:lnTo>
                  <a:lnTo>
                    <a:pt x="541655" y="625450"/>
                  </a:lnTo>
                  <a:lnTo>
                    <a:pt x="0" y="312725"/>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uyers · kiri"/>
            <p:cNvSpPr/>
            <p:nvPr/>
          </p:nvSpPr>
          <p:spPr>
            <a:xfrm>
              <a:off x="5807509" y="4857293"/>
              <a:ext cx="456131" cy="790041"/>
            </a:xfrm>
            <a:custGeom>
              <a:avLst/>
              <a:gdLst/>
              <a:ahLst/>
              <a:cxnLst/>
              <a:rect l="l" t="t" r="r" b="b"/>
              <a:pathLst>
                <a:path w="456131" h="790041">
                  <a:moveTo>
                    <a:pt x="0" y="526694"/>
                  </a:moveTo>
                  <a:lnTo>
                    <a:pt x="456131" y="790041"/>
                  </a:lnTo>
                  <a:lnTo>
                    <a:pt x="456131" y="263347"/>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uyers · kanan"/>
            <p:cNvSpPr/>
            <p:nvPr/>
          </p:nvSpPr>
          <p:spPr>
            <a:xfrm>
              <a:off x="6263640" y="4857293"/>
              <a:ext cx="456131" cy="790041"/>
            </a:xfrm>
            <a:custGeom>
              <a:avLst/>
              <a:gdLst/>
              <a:ahLst/>
              <a:cxnLst/>
              <a:rect l="l" t="t" r="r" b="b"/>
              <a:pathLst>
                <a:path w="456131" h="790041">
                  <a:moveTo>
                    <a:pt x="456131" y="526694"/>
                  </a:moveTo>
                  <a:lnTo>
                    <a:pt x="0" y="790041"/>
                  </a:lnTo>
                  <a:lnTo>
                    <a:pt x="0" y="263347"/>
                  </a:lnTo>
                  <a:lnTo>
                    <a:pt x="456131"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uyers · atas"/>
            <p:cNvSpPr/>
            <p:nvPr/>
          </p:nvSpPr>
          <p:spPr>
            <a:xfrm>
              <a:off x="5807509" y="4593946"/>
              <a:ext cx="912262" cy="526694"/>
            </a:xfrm>
            <a:custGeom>
              <a:avLst/>
              <a:gdLst/>
              <a:ahLst/>
              <a:cxnLst/>
              <a:rect l="l" t="t" r="r" b="b"/>
              <a:pathLst>
                <a:path w="912262" h="526694">
                  <a:moveTo>
                    <a:pt x="456131" y="0"/>
                  </a:moveTo>
                  <a:lnTo>
                    <a:pt x="912262" y="263347"/>
                  </a:lnTo>
                  <a:lnTo>
                    <a:pt x="456131" y="526694"/>
                  </a:lnTo>
                  <a:lnTo>
                    <a:pt x="0" y="26334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5" name="PUBLISHERS label"/>
          <p:cNvSpPr txBox="1"/>
          <p:nvPr/>
        </p:nvSpPr>
        <p:spPr>
          <a:xfrm>
            <a:off x="45720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PUBLISHERS</a:t>
            </a:r>
          </a:p>
        </p:txBody>
      </p:sp>
      <p:sp>
        <p:nvSpPr>
          <p:cNvPr id="46" name="PUBLISHERS text"/>
          <p:cNvSpPr txBox="1"/>
          <p:nvPr/>
        </p:nvSpPr>
        <p:spPr>
          <a:xfrm>
            <a:off x="45720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bring bots and agents</a:t>
            </a:r>
          </a:p>
        </p:txBody>
      </p:sp>
      <p:sp>
        <p:nvSpPr>
          <p:cNvPr id="47" name="FABIUS label"/>
          <p:cNvSpPr txBox="1"/>
          <p:nvPr/>
        </p:nvSpPr>
        <p:spPr>
          <a:xfrm>
            <a:off x="283464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FABIUS</a:t>
            </a:r>
          </a:p>
        </p:txBody>
      </p:sp>
      <p:sp>
        <p:nvSpPr>
          <p:cNvPr id="48" name="FABIUS text"/>
          <p:cNvSpPr txBox="1"/>
          <p:nvPr/>
        </p:nvSpPr>
        <p:spPr>
          <a:xfrm>
            <a:off x="283464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gates · proof · checkout</a:t>
            </a:r>
          </a:p>
        </p:txBody>
      </p:sp>
      <p:sp>
        <p:nvSpPr>
          <p:cNvPr id="49" name="BUYERS label"/>
          <p:cNvSpPr txBox="1"/>
          <p:nvPr/>
        </p:nvSpPr>
        <p:spPr>
          <a:xfrm>
            <a:off x="521208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BUYERS</a:t>
            </a:r>
          </a:p>
        </p:txBody>
      </p:sp>
      <p:sp>
        <p:nvSpPr>
          <p:cNvPr id="50" name="BUYERS text"/>
          <p:cNvSpPr txBox="1"/>
          <p:nvPr/>
        </p:nvSpPr>
        <p:spPr>
          <a:xfrm>
            <a:off x="521208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humans and agents</a:t>
            </a:r>
          </a:p>
        </p:txBody>
      </p:sp>
      <p:sp>
        <p:nvSpPr>
          <p:cNvPr id="51" name="Business arrow"/>
          <p:cNvSpPr/>
          <p:nvPr/>
        </p:nvSpPr>
        <p:spPr>
          <a:xfrm>
            <a:off x="2221992" y="4956048"/>
            <a:ext cx="914400" cy="0"/>
          </a:xfrm>
          <a:custGeom>
            <a:avLst/>
            <a:gdLst/>
            <a:ahLst/>
            <a:cxnLst/>
            <a:rect l="l" t="t" r="r" b="b"/>
            <a:pathLst>
              <a:path w="914400" h="0">
                <a:moveTo>
                  <a:pt x="0" y="0"/>
                </a:moveTo>
                <a:lnTo>
                  <a:pt x="914400" y="0"/>
                </a:lnTo>
              </a:path>
            </a:pathLst>
          </a:custGeom>
          <a:noFill/>
          <a:ln w="2286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rrow label"/>
          <p:cNvSpPr txBox="1"/>
          <p:nvPr/>
        </p:nvSpPr>
        <p:spPr>
          <a:xfrm>
            <a:off x="1965960" y="4663440"/>
            <a:ext cx="1737360" cy="219456"/>
          </a:xfrm>
          <a:prstGeom prst="rect">
            <a:avLst/>
          </a:prstGeom>
          <a:noFill/>
        </p:spPr>
        <p:txBody>
          <a:bodyPr wrap="square" lIns="0" rIns="0" tIns="0" bIns="0" anchor="t">
            <a:noAutofit/>
          </a:bodyPr>
          <a:lstStyle/>
          <a:p>
            <a:pPr algn="ctr">
              <a:lnSpc>
                <a:spcPct val="125000"/>
              </a:lnSpc>
              <a:spcBef>
                <a:spcPts val="0"/>
              </a:spcBef>
              <a:spcAft>
                <a:spcPts val="0"/>
              </a:spcAft>
            </a:pPr>
            <a:r>
              <a:rPr sz="1000" b="0" i="0" lang="en-US">
                <a:solidFill>
                  <a:srgbClr val="C9BDF2"/>
                </a:solidFill>
                <a:latin typeface="JetBrains Mono" pitchFamily="49" charset="0"/>
              </a:rPr>
              <a:t>bots + signals</a:t>
            </a:r>
          </a:p>
        </p:txBody>
      </p:sp>
      <p:sp>
        <p:nvSpPr>
          <p:cNvPr id="53" name="Business arrow"/>
          <p:cNvSpPr/>
          <p:nvPr/>
        </p:nvSpPr>
        <p:spPr>
          <a:xfrm>
            <a:off x="4599432" y="4956048"/>
            <a:ext cx="914400" cy="0"/>
          </a:xfrm>
          <a:custGeom>
            <a:avLst/>
            <a:gdLst/>
            <a:ahLst/>
            <a:cxnLst/>
            <a:rect l="l" t="t" r="r" b="b"/>
            <a:pathLst>
              <a:path w="914400" h="0">
                <a:moveTo>
                  <a:pt x="0" y="0"/>
                </a:moveTo>
                <a:lnTo>
                  <a:pt x="914400" y="0"/>
                </a:lnTo>
              </a:path>
            </a:pathLst>
          </a:custGeom>
          <a:noFill/>
          <a:ln w="2286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rrow label"/>
          <p:cNvSpPr txBox="1"/>
          <p:nvPr/>
        </p:nvSpPr>
        <p:spPr>
          <a:xfrm>
            <a:off x="4343400" y="4663440"/>
            <a:ext cx="1737360" cy="219456"/>
          </a:xfrm>
          <a:prstGeom prst="rect">
            <a:avLst/>
          </a:prstGeom>
          <a:noFill/>
        </p:spPr>
        <p:txBody>
          <a:bodyPr wrap="square" lIns="0" rIns="0" tIns="0" bIns="0" anchor="t">
            <a:noAutofit/>
          </a:bodyPr>
          <a:lstStyle/>
          <a:p>
            <a:pPr algn="ctr">
              <a:lnSpc>
                <a:spcPct val="125000"/>
              </a:lnSpc>
              <a:spcBef>
                <a:spcPts val="0"/>
              </a:spcBef>
              <a:spcAft>
                <a:spcPts val="0"/>
              </a:spcAft>
            </a:pPr>
            <a:r>
              <a:rPr sz="1000" b="0" i="0" lang="en-US">
                <a:solidFill>
                  <a:srgbClr val="C9BDF2"/>
                </a:solidFill>
                <a:latin typeface="JetBrains Mono" pitchFamily="49" charset="0"/>
              </a:rPr>
              <a:t>signals + proof</a:t>
            </a:r>
          </a:p>
        </p:txBody>
      </p:sp>
      <p:sp>
        <p:nvSpPr>
          <p:cNvPr id="55" name="Payment arrow"/>
          <p:cNvSpPr/>
          <p:nvPr/>
        </p:nvSpPr>
        <p:spPr>
          <a:xfrm>
            <a:off x="4636008" y="5230368"/>
            <a:ext cx="914400" cy="0"/>
          </a:xfrm>
          <a:custGeom>
            <a:avLst/>
            <a:gdLst/>
            <a:ahLst/>
            <a:cxnLst/>
            <a:rect l="l" t="t" r="r" b="b"/>
            <a:pathLst>
              <a:path w="914400" h="0">
                <a:moveTo>
                  <a:pt x="914400" y="0"/>
                </a:moveTo>
                <a:lnTo>
                  <a:pt x="0" y="0"/>
                </a:lnTo>
              </a:path>
            </a:pathLst>
          </a:custGeom>
          <a:noFill/>
          <a:ln w="17780" cap="rnd">
            <a:solidFill>
              <a:srgbClr val="C9BDF2">
                <a:alpha val="7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hare arrow (built)"/>
          <p:cNvSpPr/>
          <p:nvPr/>
        </p:nvSpPr>
        <p:spPr>
          <a:xfrm>
            <a:off x="2221992" y="5230368"/>
            <a:ext cx="914400" cy="0"/>
          </a:xfrm>
          <a:custGeom>
            <a:avLst/>
            <a:gdLst/>
            <a:ahLst/>
            <a:cxnLst/>
            <a:rect l="l" t="t" r="r" b="b"/>
            <a:pathLst>
              <a:path w="914400" h="0">
                <a:moveTo>
                  <a:pt x="914400" y="0"/>
                </a:moveTo>
                <a:lnTo>
                  <a:pt x="0" y="0"/>
                </a:lnTo>
              </a:path>
            </a:pathLst>
          </a:custGeom>
          <a:noFill/>
          <a:ln w="17780" cap="rnd">
            <a:solidFill>
              <a:srgbClr val="C9BDF2">
                <a:alpha val="55000"/>
              </a:srgbClr>
            </a:solidFill>
            <a:prstDash val="dash"/>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atus 1"/>
          <p:cNvSpPr/>
          <p:nvPr/>
        </p:nvSpPr>
        <p:spPr>
          <a:xfrm>
            <a:off x="7269480" y="4389120"/>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ip · LIVE"/>
          <p:cNvSpPr/>
          <p:nvPr/>
        </p:nvSpPr>
        <p:spPr>
          <a:xfrm>
            <a:off x="7397496" y="4544568"/>
            <a:ext cx="822960"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hip dot"/>
          <p:cNvSpPr/>
          <p:nvPr/>
        </p:nvSpPr>
        <p:spPr>
          <a:xfrm>
            <a:off x="7534656" y="46382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hip text"/>
          <p:cNvSpPr txBox="1"/>
          <p:nvPr/>
        </p:nvSpPr>
        <p:spPr>
          <a:xfrm>
            <a:off x="7717536" y="4544568"/>
            <a:ext cx="36576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61" name="Status text 1"/>
          <p:cNvSpPr txBox="1"/>
          <p:nvPr/>
        </p:nvSpPr>
        <p:spPr>
          <a:xfrm>
            <a:off x="8348472" y="4425696"/>
            <a:ext cx="313913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x402 checkout on testnet, paid in a no-value token. No outside buyers yet.</a:t>
            </a:r>
          </a:p>
        </p:txBody>
      </p:sp>
      <p:sp>
        <p:nvSpPr>
          <p:cNvPr id="62" name="Status 2"/>
          <p:cNvSpPr/>
          <p:nvPr/>
        </p:nvSpPr>
        <p:spPr>
          <a:xfrm>
            <a:off x="7269480" y="5065776"/>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hip · BUILT"/>
          <p:cNvSpPr/>
          <p:nvPr/>
        </p:nvSpPr>
        <p:spPr>
          <a:xfrm>
            <a:off x="7397496" y="5221224"/>
            <a:ext cx="914400" cy="274320"/>
          </a:xfrm>
          <a:prstGeom prst="roundRect">
            <a:avLst>
              <a:gd name="adj" fmla="val 50000"/>
            </a:avLst>
          </a:prstGeom>
          <a:solidFill>
            <a:srgbClr val="2A1F7A">
              <a:alpha val="55000"/>
            </a:srgbClr>
          </a:solidFill>
          <a:ln w="11430" cap="rnd">
            <a:solidFill>
              <a:srgbClr val="C9BDF2">
                <a:alpha val="5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hip dot"/>
          <p:cNvSpPr/>
          <p:nvPr/>
        </p:nvSpPr>
        <p:spPr>
          <a:xfrm>
            <a:off x="7534656" y="5314950"/>
            <a:ext cx="86868" cy="86868"/>
          </a:xfrm>
          <a:prstGeom prst="ellipse">
            <a:avLst/>
          </a:prstGeom>
          <a:solidFill>
            <a:srgbClr val="4A38C8"/>
          </a:solidFill>
          <a:ln w="7620" cap="rnd">
            <a:solidFill>
              <a:srgbClr val="C9BDF2">
                <a:alpha val="8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hip text"/>
          <p:cNvSpPr txBox="1"/>
          <p:nvPr/>
        </p:nvSpPr>
        <p:spPr>
          <a:xfrm>
            <a:off x="7717536" y="5221224"/>
            <a:ext cx="45720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BUILT</a:t>
            </a:r>
          </a:p>
        </p:txBody>
      </p:sp>
      <p:sp>
        <p:nvSpPr>
          <p:cNvPr id="66" name="Status text 2"/>
          <p:cNvSpPr txBox="1"/>
          <p:nvPr/>
        </p:nvSpPr>
        <p:spPr>
          <a:xfrm>
            <a:off x="8439912" y="5102352"/>
            <a:ext cx="304769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Publisher revenue share, 60/40: written and tested, not deployed.</a:t>
            </a:r>
          </a:p>
        </p:txBody>
      </p:sp>
      <p:sp>
        <p:nvSpPr>
          <p:cNvPr id="67" name="Status 3"/>
          <p:cNvSpPr/>
          <p:nvPr/>
        </p:nvSpPr>
        <p:spPr>
          <a:xfrm>
            <a:off x="7269480" y="5742432"/>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hip · GATED"/>
          <p:cNvSpPr/>
          <p:nvPr/>
        </p:nvSpPr>
        <p:spPr>
          <a:xfrm>
            <a:off x="7397496" y="5897880"/>
            <a:ext cx="914400" cy="274320"/>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hip dot"/>
          <p:cNvSpPr/>
          <p:nvPr/>
        </p:nvSpPr>
        <p:spPr>
          <a:xfrm>
            <a:off x="7534656" y="599160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hip text"/>
          <p:cNvSpPr txBox="1"/>
          <p:nvPr/>
        </p:nvSpPr>
        <p:spPr>
          <a:xfrm>
            <a:off x="7717536" y="5897880"/>
            <a:ext cx="45720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C9BDF2"/>
                </a:solidFill>
                <a:latin typeface="JetBrains Mono" pitchFamily="49" charset="0"/>
              </a:rPr>
              <a:t>GATED</a:t>
            </a:r>
          </a:p>
        </p:txBody>
      </p:sp>
      <p:sp>
        <p:nvSpPr>
          <p:cNvPr id="71" name="Status text 3"/>
          <p:cNvSpPr txBox="1"/>
          <p:nvPr/>
        </p:nvSpPr>
        <p:spPr>
          <a:xfrm>
            <a:off x="8439912" y="5779008"/>
            <a:ext cx="304769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Real-time paid signals stay locked until the forward test and a legal review.</a:t>
            </a:r>
          </a:p>
        </p:txBody>
      </p:sp>
      <p:sp>
        <p:nvSpPr>
          <p:cNvPr id="7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7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Not a mockup. It is running.</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08 — LIVE PRODUCT</a:t>
            </a:r>
          </a:p>
        </p:txBody>
      </p:sp>
      <p:sp>
        <p:nvSpPr>
          <p:cNvPr id="7" name="Sub"/>
          <p:cNvSpPr txBox="1"/>
          <p:nvPr/>
        </p:nvSpPr>
        <p:spPr>
          <a:xfrm>
            <a:off x="594360" y="1554480"/>
            <a:ext cx="10515600"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Open it, sign in with Google, Telegram or email, and check any signal yourself.</a:t>
            </a:r>
          </a:p>
        </p:txBody>
      </p:sp>
      <p:grpSp>
        <p:nvGrpSpPr>
          <p:cNvPr id="8" name="Halo"/>
          <p:cNvGrpSpPr/>
          <p:nvPr/>
        </p:nvGrpSpPr>
        <p:grpSpPr>
          <a:xfrm>
            <a:off x="-274320" y="1645920"/>
            <a:ext cx="8412480" cy="4754880"/>
            <a:chOff x="-274320" y="1645920"/>
            <a:chExt cx="8412480" cy="4754880"/>
          </a:xfrm>
        </p:grpSpPr>
        <p:sp>
          <p:nvSpPr>
            <p:cNvPr id="9" name="Halo 1"/>
            <p:cNvSpPr/>
            <p:nvPr/>
          </p:nvSpPr>
          <p:spPr>
            <a:xfrm>
              <a:off x="-274320" y="1645920"/>
              <a:ext cx="8412480" cy="475488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2"/>
            <p:cNvSpPr/>
            <p:nvPr/>
          </p:nvSpPr>
          <p:spPr>
            <a:xfrm>
              <a:off x="-90047" y="1750075"/>
              <a:ext cx="8043933" cy="4546571"/>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3"/>
            <p:cNvSpPr/>
            <p:nvPr/>
          </p:nvSpPr>
          <p:spPr>
            <a:xfrm>
              <a:off x="94227" y="1854229"/>
              <a:ext cx="7675387" cy="4338262"/>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4"/>
            <p:cNvSpPr/>
            <p:nvPr/>
          </p:nvSpPr>
          <p:spPr>
            <a:xfrm>
              <a:off x="278500" y="1958384"/>
              <a:ext cx="7306840" cy="4129953"/>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5"/>
            <p:cNvSpPr/>
            <p:nvPr/>
          </p:nvSpPr>
          <p:spPr>
            <a:xfrm>
              <a:off x="462773" y="2062538"/>
              <a:ext cx="6938293" cy="3921644"/>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6"/>
            <p:cNvSpPr/>
            <p:nvPr/>
          </p:nvSpPr>
          <p:spPr>
            <a:xfrm>
              <a:off x="647047" y="2166693"/>
              <a:ext cx="6569746" cy="3713335"/>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7"/>
            <p:cNvSpPr/>
            <p:nvPr/>
          </p:nvSpPr>
          <p:spPr>
            <a:xfrm>
              <a:off x="831320" y="2270847"/>
              <a:ext cx="6201200" cy="3505026"/>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8"/>
            <p:cNvSpPr/>
            <p:nvPr/>
          </p:nvSpPr>
          <p:spPr>
            <a:xfrm>
              <a:off x="1015594" y="2375002"/>
              <a:ext cx="5832653" cy="329671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9"/>
            <p:cNvSpPr/>
            <p:nvPr/>
          </p:nvSpPr>
          <p:spPr>
            <a:xfrm>
              <a:off x="1199867" y="2479156"/>
              <a:ext cx="5464106" cy="3088408"/>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0"/>
            <p:cNvSpPr/>
            <p:nvPr/>
          </p:nvSpPr>
          <p:spPr>
            <a:xfrm>
              <a:off x="1384140" y="2583311"/>
              <a:ext cx="5095559" cy="2880099"/>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1"/>
            <p:cNvSpPr/>
            <p:nvPr/>
          </p:nvSpPr>
          <p:spPr>
            <a:xfrm>
              <a:off x="1568414" y="2687465"/>
              <a:ext cx="4727013" cy="267179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2"/>
            <p:cNvSpPr/>
            <p:nvPr/>
          </p:nvSpPr>
          <p:spPr>
            <a:xfrm>
              <a:off x="1752687" y="2791620"/>
              <a:ext cx="4358466" cy="2463481"/>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3"/>
            <p:cNvSpPr/>
            <p:nvPr/>
          </p:nvSpPr>
          <p:spPr>
            <a:xfrm>
              <a:off x="1936960" y="2895774"/>
              <a:ext cx="3989919" cy="2255172"/>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4"/>
            <p:cNvSpPr/>
            <p:nvPr/>
          </p:nvSpPr>
          <p:spPr>
            <a:xfrm>
              <a:off x="2121234" y="2999929"/>
              <a:ext cx="3621372" cy="2046863"/>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5"/>
            <p:cNvSpPr/>
            <p:nvPr/>
          </p:nvSpPr>
          <p:spPr>
            <a:xfrm>
              <a:off x="2305507" y="3104083"/>
              <a:ext cx="3252826" cy="1838554"/>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6"/>
            <p:cNvSpPr/>
            <p:nvPr/>
          </p:nvSpPr>
          <p:spPr>
            <a:xfrm>
              <a:off x="2489781" y="3208238"/>
              <a:ext cx="2884279" cy="1630245"/>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7"/>
            <p:cNvSpPr/>
            <p:nvPr/>
          </p:nvSpPr>
          <p:spPr>
            <a:xfrm>
              <a:off x="2674054" y="3312392"/>
              <a:ext cx="2515732" cy="1421936"/>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8"/>
            <p:cNvSpPr/>
            <p:nvPr/>
          </p:nvSpPr>
          <p:spPr>
            <a:xfrm>
              <a:off x="2858327" y="3416547"/>
              <a:ext cx="2147185" cy="121362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9"/>
            <p:cNvSpPr/>
            <p:nvPr/>
          </p:nvSpPr>
          <p:spPr>
            <a:xfrm>
              <a:off x="3042601" y="3520701"/>
              <a:ext cx="1778639" cy="100531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0"/>
            <p:cNvSpPr/>
            <p:nvPr/>
          </p:nvSpPr>
          <p:spPr>
            <a:xfrm>
              <a:off x="3226874" y="3624856"/>
              <a:ext cx="1410092" cy="797008"/>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1"/>
            <p:cNvSpPr/>
            <p:nvPr/>
          </p:nvSpPr>
          <p:spPr>
            <a:xfrm>
              <a:off x="3411147" y="3729010"/>
              <a:ext cx="1041545" cy="588699"/>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2"/>
            <p:cNvSpPr/>
            <p:nvPr/>
          </p:nvSpPr>
          <p:spPr>
            <a:xfrm>
              <a:off x="3595421" y="3833165"/>
              <a:ext cx="672998" cy="38039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1" name="desktop frame"/>
          <p:cNvSpPr/>
          <p:nvPr/>
        </p:nvSpPr>
        <p:spPr>
          <a:xfrm>
            <a:off x="594360" y="2103120"/>
            <a:ext cx="6400800" cy="3474720"/>
          </a:xfrm>
          <a:prstGeom prst="roundRect">
            <a:avLst>
              <a:gd name="adj" fmla="val 5789"/>
            </a:avLst>
          </a:prstGeom>
          <a:gradFill rotWithShape="1">
            <a:gsLst>
              <a:gs pos="0">
                <a:srgbClr val="FFFFFF">
                  <a:alpha val="14000"/>
                </a:srgbClr>
              </a:gs>
              <a:gs pos="100000">
                <a:srgbClr val="FFFFFF">
                  <a:alpha val="4000"/>
                </a:srgbClr>
              </a:gs>
            </a:gsLst>
            <a:lin ang="8100000" scaled="0"/>
          </a:gradFill>
          <a:ln w="9525" cap="rnd">
            <a:solidFill>
              <a:srgbClr val="FFFFFF">
                <a:alpha val="24000"/>
              </a:srgbClr>
            </a:solidFill>
            <a:round/>
          </a:ln>
          <a:effectLst>
            <a:outerShdw blurRad="508000" dist="228600" dir="5400000" algn="t" rotWithShape="0">
              <a:srgbClr val="07051A">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Window dot"/>
          <p:cNvSpPr/>
          <p:nvPr/>
        </p:nvSpPr>
        <p:spPr>
          <a:xfrm>
            <a:off x="770382" y="2233422"/>
            <a:ext cx="86868" cy="86868"/>
          </a:xfrm>
          <a:prstGeom prst="ellipse">
            <a:avLst/>
          </a:prstGeom>
          <a:solidFill>
            <a:srgbClr val="FF5A6E">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indow dot"/>
          <p:cNvSpPr/>
          <p:nvPr/>
        </p:nvSpPr>
        <p:spPr>
          <a:xfrm>
            <a:off x="925830" y="2233422"/>
            <a:ext cx="86868" cy="86868"/>
          </a:xfrm>
          <a:prstGeom prst="ellipse">
            <a:avLst/>
          </a:prstGeom>
          <a:solidFill>
            <a:srgbClr val="C9BDF2">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indow dot"/>
          <p:cNvSpPr/>
          <p:nvPr/>
        </p:nvSpPr>
        <p:spPr>
          <a:xfrm>
            <a:off x="1081278" y="2233422"/>
            <a:ext cx="86868" cy="86868"/>
          </a:xfrm>
          <a:prstGeom prst="ellipse">
            <a:avLst/>
          </a:prstGeom>
          <a:solidFill>
            <a:srgbClr val="9D86FF">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RL bar"/>
          <p:cNvSpPr txBox="1"/>
          <p:nvPr/>
        </p:nvSpPr>
        <p:spPr>
          <a:xfrm>
            <a:off x="1508760" y="2176272"/>
            <a:ext cx="4572000" cy="201168"/>
          </a:xfrm>
          <a:prstGeom prst="rect">
            <a:avLst/>
          </a:prstGeom>
          <a:noFill/>
        </p:spPr>
        <p:txBody>
          <a:bodyPr wrap="square" lIns="0" rIns="0" tIns="0" bIns="0" anchor="ctr">
            <a:noAutofit/>
          </a:bodyPr>
          <a:lstStyle/>
          <a:p>
            <a:pPr algn="ctr">
              <a:lnSpc>
                <a:spcPct val="125000"/>
              </a:lnSpc>
              <a:spcBef>
                <a:spcPts val="0"/>
              </a:spcBef>
              <a:spcAft>
                <a:spcPts val="0"/>
              </a:spcAft>
            </a:pPr>
            <a:r>
              <a:rPr sz="1000" b="0" i="0" lang="en-US">
                <a:solidFill>
                  <a:srgbClr val="8B86A6"/>
                </a:solidFill>
                <a:latin typeface="JetBrains Mono" pitchFamily="49" charset="0"/>
              </a:rPr>
              <a:t>fabius-one.vercel.app</a:t>
            </a:r>
          </a:p>
        </p:txBody>
      </p:sp>
      <p:pic>
        <p:nvPicPr>
          <p:cNvPr id="36" name="Desktop screen" descr="Fabius landing page: a glass cube and the headline Signals sealed before the outcome"/>
          <p:cNvPicPr>
            <a:picLocks noChangeAspect="1"/>
          </p:cNvPicPr>
          <p:nvPr/>
        </p:nvPicPr>
        <p:blipFill>
          <a:blip r:embed="rId2"/>
          <a:srcRect l="2278" t="25000" r="2278"/>
          <a:stretch>
            <a:fillRect/>
          </a:stretch>
        </p:blipFill>
        <p:spPr>
          <a:xfrm>
            <a:off x="704088" y="2432304"/>
            <a:ext cx="6181344" cy="3035808"/>
          </a:xfrm>
          <a:prstGeom prst="roundRect">
            <a:avLst>
              <a:gd name="adj" fmla="val 3012"/>
            </a:avLst>
          </a:prstGeom>
        </p:spPr>
      </p:pic>
      <p:sp>
        <p:nvSpPr>
          <p:cNvPr id="37" name="phone frame"/>
          <p:cNvSpPr/>
          <p:nvPr/>
        </p:nvSpPr>
        <p:spPr>
          <a:xfrm>
            <a:off x="6355080" y="2487168"/>
            <a:ext cx="1755648" cy="3639312"/>
          </a:xfrm>
          <a:prstGeom prst="roundRect">
            <a:avLst>
              <a:gd name="adj" fmla="val 14583"/>
            </a:avLst>
          </a:prstGeom>
          <a:gradFill rotWithShape="1">
            <a:gsLst>
              <a:gs pos="0">
                <a:srgbClr val="FFFFFF">
                  <a:alpha val="14000"/>
                </a:srgbClr>
              </a:gs>
              <a:gs pos="100000">
                <a:srgbClr val="FFFFFF">
                  <a:alpha val="4000"/>
                </a:srgbClr>
              </a:gs>
            </a:gsLst>
            <a:lin ang="8100000" scaled="0"/>
          </a:gradFill>
          <a:ln w="9525" cap="rnd">
            <a:solidFill>
              <a:srgbClr val="FFFFFF">
                <a:alpha val="24000"/>
              </a:srgbClr>
            </a:solidFill>
            <a:round/>
          </a:ln>
          <a:effectLst>
            <a:outerShdw blurRad="508000" dist="228600" dir="5400000" algn="t" rotWithShape="0">
              <a:srgbClr val="07051A">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hone screen" descr="Fabius bot page for B1 TREND on a phone: the rule as locked and the on-chain spec lock"/>
          <p:cNvPicPr>
            <a:picLocks noChangeAspect="1"/>
          </p:cNvPicPr>
          <p:nvPr/>
        </p:nvPicPr>
        <p:blipFill>
          <a:blip r:embed="rId3"/>
          <a:srcRect l="453" r="453"/>
          <a:stretch>
            <a:fillRect/>
          </a:stretch>
        </p:blipFill>
        <p:spPr>
          <a:xfrm>
            <a:off x="6437376" y="2569464"/>
            <a:ext cx="1591056" cy="3474720"/>
          </a:xfrm>
          <a:prstGeom prst="roundRect">
            <a:avLst>
              <a:gd name="adj" fmla="val 12643"/>
            </a:avLst>
          </a:prstGeom>
        </p:spPr>
      </p:pic>
      <p:sp>
        <p:nvSpPr>
          <p:cNvPr id="39" name="Stat 1"/>
          <p:cNvSpPr/>
          <p:nvPr/>
        </p:nvSpPr>
        <p:spPr>
          <a:xfrm>
            <a:off x="8366760" y="2103120"/>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at value 1"/>
          <p:cNvSpPr txBox="1"/>
          <p:nvPr/>
        </p:nvSpPr>
        <p:spPr>
          <a:xfrm>
            <a:off x="8567928" y="2103120"/>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22</a:t>
            </a:r>
          </a:p>
        </p:txBody>
      </p:sp>
      <p:sp>
        <p:nvSpPr>
          <p:cNvPr id="41" name="Stat label 1"/>
          <p:cNvSpPr txBox="1"/>
          <p:nvPr/>
        </p:nvSpPr>
        <p:spPr>
          <a:xfrm>
            <a:off x="9509760" y="2157984"/>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daily commits verified on-chain: 0 alarms, 0 missed</a:t>
            </a:r>
          </a:p>
        </p:txBody>
      </p:sp>
      <p:sp>
        <p:nvSpPr>
          <p:cNvPr id="42" name="Stat 2"/>
          <p:cNvSpPr/>
          <p:nvPr/>
        </p:nvSpPr>
        <p:spPr>
          <a:xfrm>
            <a:off x="8366760" y="3079242"/>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at value 2"/>
          <p:cNvSpPr txBox="1"/>
          <p:nvPr/>
        </p:nvSpPr>
        <p:spPr>
          <a:xfrm>
            <a:off x="8567928" y="3079242"/>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15</a:t>
            </a:r>
          </a:p>
        </p:txBody>
      </p:sp>
      <p:sp>
        <p:nvSpPr>
          <p:cNvPr id="44" name="Stat label 2"/>
          <p:cNvSpPr txBox="1"/>
          <p:nvPr/>
        </p:nvSpPr>
        <p:spPr>
          <a:xfrm>
            <a:off x="9509760" y="3134106"/>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silent days: the bot stayed put, and that was sealed too</a:t>
            </a:r>
          </a:p>
        </p:txBody>
      </p:sp>
      <p:sp>
        <p:nvSpPr>
          <p:cNvPr id="45" name="Stat 3"/>
          <p:cNvSpPr/>
          <p:nvPr/>
        </p:nvSpPr>
        <p:spPr>
          <a:xfrm>
            <a:off x="8366760" y="4055364"/>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at value 3"/>
          <p:cNvSpPr txBox="1"/>
          <p:nvPr/>
        </p:nvSpPr>
        <p:spPr>
          <a:xfrm>
            <a:off x="8567928" y="4055364"/>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6</a:t>
            </a:r>
          </a:p>
        </p:txBody>
      </p:sp>
      <p:sp>
        <p:nvSpPr>
          <p:cNvPr id="47" name="Stat label 3"/>
          <p:cNvSpPr txBox="1"/>
          <p:nvPr/>
        </p:nvSpPr>
        <p:spPr>
          <a:xfrm>
            <a:off x="9509760" y="4110228"/>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bots on public forward ledgers, written by machines</a:t>
            </a:r>
          </a:p>
        </p:txBody>
      </p:sp>
      <p:sp>
        <p:nvSpPr>
          <p:cNvPr id="48" name="Stat 4"/>
          <p:cNvSpPr/>
          <p:nvPr/>
        </p:nvSpPr>
        <p:spPr>
          <a:xfrm>
            <a:off x="8366760" y="5031486"/>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tat value 4"/>
          <p:cNvSpPr txBox="1"/>
          <p:nvPr/>
        </p:nvSpPr>
        <p:spPr>
          <a:xfrm>
            <a:off x="8567928" y="5031486"/>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11</a:t>
            </a:r>
          </a:p>
        </p:txBody>
      </p:sp>
      <p:sp>
        <p:nvSpPr>
          <p:cNvPr id="50" name="Stat label 4"/>
          <p:cNvSpPr txBox="1"/>
          <p:nvPr/>
        </p:nvSpPr>
        <p:spPr>
          <a:xfrm>
            <a:off x="9509760" y="5086350"/>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on-chain locks: bot rules and policies, stamped by block time</a:t>
            </a:r>
          </a:p>
        </p:txBody>
      </p:sp>
      <p:sp>
        <p:nvSpPr>
          <p:cNvPr id="51" name="As-of line"/>
          <p:cNvSpPr txBox="1"/>
          <p:nvPr/>
        </p:nvSpPr>
        <p:spPr>
          <a:xfrm>
            <a:off x="594360" y="6053328"/>
            <a:ext cx="11002975" cy="237744"/>
          </a:xfrm>
          <a:prstGeom prst="rect">
            <a:avLst/>
          </a:prstGeom>
          <a:noFill/>
        </p:spPr>
        <p:txBody>
          <a:bodyPr wrap="square" lIns="0" rIns="0" tIns="0" bIns="0" anchor="ctr">
            <a:noAutofit/>
          </a:bodyPr>
          <a:lstStyle/>
          <a:p>
            <a:pPr algn="l">
              <a:lnSpc>
                <a:spcPct val="125000"/>
              </a:lnSpc>
              <a:spcBef>
                <a:spcPts val="0"/>
              </a:spcBef>
              <a:spcAft>
                <a:spcPts val="0"/>
              </a:spcAft>
            </a:pPr>
            <a:r>
              <a:rPr sz="1050" b="0" i="0" lang="en-US">
                <a:solidFill>
                  <a:srgbClr val="8B86A6"/>
                </a:solidFill>
                <a:latin typeface="JetBrains Mono" pitchFamily="49" charset="0"/>
              </a:rPr>
              <a:t>SNAPSHOT 7 Oct 2026 · 10:08 UTC · BLOCK 135,379,370 · CHAIN 97 · PRINTED BY tools/web_snapshot.py</a:t>
            </a:r>
          </a:p>
        </p:txBody>
      </p:sp>
      <p:sp>
        <p:nvSpPr>
          <p:cNvPr id="5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5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Five contracts. </a:t>
            </a:r>
            <a:r>
              <a:rPr sz="4000" b="1" i="1" lang="en-US">
                <a:solidFill>
                  <a:srgbClr val="9D86FF"/>
                </a:solidFill>
                <a:latin typeface="Archivo" pitchFamily="34" charset="0"/>
              </a:rPr>
              <a:t>All ours.</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09 — ON-CHAIN</a:t>
            </a:r>
          </a:p>
        </p:txBody>
      </p:sp>
      <p:sp>
        <p:nvSpPr>
          <p:cNvPr id="7" name="Sub"/>
          <p:cNvSpPr txBox="1"/>
          <p:nvPr/>
        </p:nvSpPr>
        <p:spPr>
          <a:xfrm>
            <a:off x="594360" y="1554480"/>
            <a:ext cx="10515600"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Written and deployed by Fabius on BNB Smart Chain testnet. They carry the whole flow.</a:t>
            </a:r>
          </a:p>
        </p:txBody>
      </p:sp>
      <p:sp>
        <p:nvSpPr>
          <p:cNvPr id="8" name="Contract SignalAnchor"/>
          <p:cNvSpPr/>
          <p:nvPr/>
        </p:nvSpPr>
        <p:spPr>
          <a:xfrm>
            <a:off x="594360" y="2103120"/>
            <a:ext cx="7086600" cy="713232"/>
          </a:xfrm>
          <a:prstGeom prst="roundRect">
            <a:avLst>
              <a:gd name="adj" fmla="val 25641"/>
            </a:avLst>
          </a:prstGeom>
          <a:gradFill rotWithShape="1">
            <a:gsLst>
              <a:gs pos="0">
                <a:srgbClr val="6E4BFF">
                  <a:alpha val="30000"/>
                </a:srgbClr>
              </a:gs>
              <a:gs pos="100000">
                <a:srgbClr val="6E4BFF">
                  <a:alpha val="8000"/>
                </a:srgbClr>
              </a:gs>
            </a:gsLst>
            <a:lin ang="8100000" scaled="0"/>
          </a:gradFill>
          <a:ln w="9525" cap="rnd">
            <a:solidFill>
              <a:srgbClr val="9D86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Icon SignalAnchor"/>
          <p:cNvGrpSpPr/>
          <p:nvPr/>
        </p:nvGrpSpPr>
        <p:grpSpPr>
          <a:xfrm>
            <a:off x="0" y="0"/>
            <a:ext cx="0" cy="0"/>
            <a:chOff x="0" y="0"/>
            <a:chExt cx="0" cy="0"/>
          </a:xfrm>
        </p:grpSpPr>
        <p:sp>
          <p:nvSpPr>
            <p:cNvPr id="10" name="SignalAnchor slab · kiri"/>
            <p:cNvSpPr/>
            <p:nvPr/>
          </p:nvSpPr>
          <p:spPr>
            <a:xfrm>
              <a:off x="705293" y="2395042"/>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ignalAnchor slab · kanan"/>
            <p:cNvSpPr/>
            <p:nvPr/>
          </p:nvSpPr>
          <p:spPr>
            <a:xfrm>
              <a:off x="1097280" y="2395042"/>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ignalAnchor slab · atas"/>
            <p:cNvSpPr/>
            <p:nvPr/>
          </p:nvSpPr>
          <p:spPr>
            <a:xfrm>
              <a:off x="705293" y="2168728"/>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 name="SignalAnchor name"/>
          <p:cNvSpPr txBox="1"/>
          <p:nvPr/>
        </p:nvSpPr>
        <p:spPr>
          <a:xfrm>
            <a:off x="1600200" y="2194560"/>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SignalAnchor</a:t>
            </a:r>
          </a:p>
        </p:txBody>
      </p:sp>
      <p:sp>
        <p:nvSpPr>
          <p:cNvPr id="14" name="SignalAnchor role"/>
          <p:cNvSpPr txBox="1"/>
          <p:nvPr/>
        </p:nvSpPr>
        <p:spPr>
          <a:xfrm>
            <a:off x="1600200" y="2487168"/>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Per-bar Merkle commit of every signal; late ones revert.</a:t>
            </a:r>
          </a:p>
        </p:txBody>
      </p:sp>
      <p:sp>
        <p:nvSpPr>
          <p:cNvPr id="15" name="SignalAnchor address"/>
          <p:cNvSpPr txBox="1"/>
          <p:nvPr/>
        </p:nvSpPr>
        <p:spPr>
          <a:xfrm>
            <a:off x="5532120" y="2194560"/>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0x9B78…64f3</a:t>
            </a:r>
          </a:p>
        </p:txBody>
      </p:sp>
      <p:sp>
        <p:nvSpPr>
          <p:cNvPr id="16" name="Chip · MAIN FLOW"/>
          <p:cNvSpPr/>
          <p:nvPr/>
        </p:nvSpPr>
        <p:spPr>
          <a:xfrm>
            <a:off x="6199632" y="2487168"/>
            <a:ext cx="1061847" cy="237744"/>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ip text"/>
          <p:cNvSpPr txBox="1"/>
          <p:nvPr/>
        </p:nvSpPr>
        <p:spPr>
          <a:xfrm>
            <a:off x="6336792" y="2487168"/>
            <a:ext cx="787527" cy="237744"/>
          </a:xfrm>
          <a:prstGeom prst="rect">
            <a:avLst/>
          </a:prstGeom>
          <a:noFill/>
        </p:spPr>
        <p:txBody>
          <a:bodyPr wrap="square" lIns="0" rIns="0" tIns="0" bIns="0" anchor="ctr">
            <a:noAutofit/>
          </a:bodyPr>
          <a:lstStyle/>
          <a:p>
            <a:pPr algn="l">
              <a:lnSpc>
                <a:spcPct val="100000"/>
              </a:lnSpc>
              <a:spcBef>
                <a:spcPts val="0"/>
              </a:spcBef>
              <a:spcAft>
                <a:spcPts val="0"/>
              </a:spcAft>
            </a:pPr>
            <a:r>
              <a:rPr sz="950" b="0" i="0" lang="en-US" spc="100">
                <a:solidFill>
                  <a:srgbClr val="FFFFFF"/>
                </a:solidFill>
                <a:latin typeface="JetBrains Mono" pitchFamily="49" charset="0"/>
              </a:rPr>
              <a:t>MAIN FLOW</a:t>
            </a:r>
          </a:p>
        </p:txBody>
      </p:sp>
      <p:sp>
        <p:nvSpPr>
          <p:cNvPr id="18" name="Contract LockRegistry"/>
          <p:cNvSpPr/>
          <p:nvPr/>
        </p:nvSpPr>
        <p:spPr>
          <a:xfrm>
            <a:off x="594360" y="2907792"/>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Icon LockRegistry"/>
          <p:cNvGrpSpPr/>
          <p:nvPr/>
        </p:nvGrpSpPr>
        <p:grpSpPr>
          <a:xfrm>
            <a:off x="0" y="0"/>
            <a:ext cx="0" cy="0"/>
            <a:chOff x="0" y="0"/>
            <a:chExt cx="0" cy="0"/>
          </a:xfrm>
        </p:grpSpPr>
        <p:sp>
          <p:nvSpPr>
            <p:cNvPr id="20" name="LockRegistry slab · kiri"/>
            <p:cNvSpPr/>
            <p:nvPr/>
          </p:nvSpPr>
          <p:spPr>
            <a:xfrm>
              <a:off x="705293" y="3199714"/>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ockRegistry slab · kanan"/>
            <p:cNvSpPr/>
            <p:nvPr/>
          </p:nvSpPr>
          <p:spPr>
            <a:xfrm>
              <a:off x="1097280" y="3199714"/>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ockRegistry slab · atas"/>
            <p:cNvSpPr/>
            <p:nvPr/>
          </p:nvSpPr>
          <p:spPr>
            <a:xfrm>
              <a:off x="705293" y="2973400"/>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3" name="LockRegistry name"/>
          <p:cNvSpPr txBox="1"/>
          <p:nvPr/>
        </p:nvSpPr>
        <p:spPr>
          <a:xfrm>
            <a:off x="1600200" y="2999232"/>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LockRegistry</a:t>
            </a:r>
          </a:p>
        </p:txBody>
      </p:sp>
      <p:sp>
        <p:nvSpPr>
          <p:cNvPr id="24" name="LockRegistry role"/>
          <p:cNvSpPr txBox="1"/>
          <p:nvPr/>
        </p:nvSpPr>
        <p:spPr>
          <a:xfrm>
            <a:off x="1600200" y="3291840"/>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Write-once lock of each rule, with block time.</a:t>
            </a:r>
          </a:p>
        </p:txBody>
      </p:sp>
      <p:sp>
        <p:nvSpPr>
          <p:cNvPr id="25" name="LockRegistry address"/>
          <p:cNvSpPr txBox="1"/>
          <p:nvPr/>
        </p:nvSpPr>
        <p:spPr>
          <a:xfrm>
            <a:off x="5532120" y="2999232"/>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0xcF6f…bb0C</a:t>
            </a:r>
          </a:p>
        </p:txBody>
      </p:sp>
      <p:sp>
        <p:nvSpPr>
          <p:cNvPr id="26" name="Contract SelectionAnchor"/>
          <p:cNvSpPr/>
          <p:nvPr/>
        </p:nvSpPr>
        <p:spPr>
          <a:xfrm>
            <a:off x="594360" y="3712464"/>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7" name="Icon SelectionAnchor"/>
          <p:cNvGrpSpPr/>
          <p:nvPr/>
        </p:nvGrpSpPr>
        <p:grpSpPr>
          <a:xfrm>
            <a:off x="0" y="0"/>
            <a:ext cx="0" cy="0"/>
            <a:chOff x="0" y="0"/>
            <a:chExt cx="0" cy="0"/>
          </a:xfrm>
        </p:grpSpPr>
        <p:sp>
          <p:nvSpPr>
            <p:cNvPr id="28" name="SelectionAnchor slab · kiri"/>
            <p:cNvSpPr/>
            <p:nvPr/>
          </p:nvSpPr>
          <p:spPr>
            <a:xfrm>
              <a:off x="705293" y="4004386"/>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ectionAnchor slab · kanan"/>
            <p:cNvSpPr/>
            <p:nvPr/>
          </p:nvSpPr>
          <p:spPr>
            <a:xfrm>
              <a:off x="1097280" y="4004386"/>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ectionAnchor slab · atas"/>
            <p:cNvSpPr/>
            <p:nvPr/>
          </p:nvSpPr>
          <p:spPr>
            <a:xfrm>
              <a:off x="705293" y="3778072"/>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1" name="SelectionAnchor name"/>
          <p:cNvSpPr txBox="1"/>
          <p:nvPr/>
        </p:nvSpPr>
        <p:spPr>
          <a:xfrm>
            <a:off x="1600200" y="3803904"/>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SelectionAnchor</a:t>
            </a:r>
          </a:p>
        </p:txBody>
      </p:sp>
      <p:sp>
        <p:nvSpPr>
          <p:cNvPr id="32" name="SelectionAnchor role"/>
          <p:cNvSpPr txBox="1"/>
          <p:nvPr/>
        </p:nvSpPr>
        <p:spPr>
          <a:xfrm>
            <a:off x="1600200" y="4096512"/>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Analysts' daily bot pick, sealed before the bar closes.</a:t>
            </a:r>
          </a:p>
        </p:txBody>
      </p:sp>
      <p:sp>
        <p:nvSpPr>
          <p:cNvPr id="33" name="SelectionAnchor address"/>
          <p:cNvSpPr txBox="1"/>
          <p:nvPr/>
        </p:nvSpPr>
        <p:spPr>
          <a:xfrm>
            <a:off x="5532120" y="3803904"/>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0xc0c1…f3b1</a:t>
            </a:r>
          </a:p>
        </p:txBody>
      </p:sp>
      <p:sp>
        <p:nvSpPr>
          <p:cNvPr id="34" name="Contract DeskAnchor"/>
          <p:cNvSpPr/>
          <p:nvPr/>
        </p:nvSpPr>
        <p:spPr>
          <a:xfrm>
            <a:off x="594360" y="4517136"/>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Icon DeskAnchor"/>
          <p:cNvGrpSpPr/>
          <p:nvPr/>
        </p:nvGrpSpPr>
        <p:grpSpPr>
          <a:xfrm>
            <a:off x="0" y="0"/>
            <a:ext cx="0" cy="0"/>
            <a:chOff x="0" y="0"/>
            <a:chExt cx="0" cy="0"/>
          </a:xfrm>
        </p:grpSpPr>
        <p:sp>
          <p:nvSpPr>
            <p:cNvPr id="36" name="DeskAnchor slab · kiri"/>
            <p:cNvSpPr/>
            <p:nvPr/>
          </p:nvSpPr>
          <p:spPr>
            <a:xfrm>
              <a:off x="705293" y="4809058"/>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skAnchor slab · kanan"/>
            <p:cNvSpPr/>
            <p:nvPr/>
          </p:nvSpPr>
          <p:spPr>
            <a:xfrm>
              <a:off x="1097280" y="4809058"/>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skAnchor slab · atas"/>
            <p:cNvSpPr/>
            <p:nvPr/>
          </p:nvSpPr>
          <p:spPr>
            <a:xfrm>
              <a:off x="705293" y="4582744"/>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9" name="DeskAnchor name"/>
          <p:cNvSpPr txBox="1"/>
          <p:nvPr/>
        </p:nvSpPr>
        <p:spPr>
          <a:xfrm>
            <a:off x="1600200" y="4608576"/>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DeskAnchor</a:t>
            </a:r>
          </a:p>
        </p:txBody>
      </p:sp>
      <p:sp>
        <p:nvSpPr>
          <p:cNvPr id="40" name="DeskAnchor role"/>
          <p:cNvSpPr txBox="1"/>
          <p:nvPr/>
        </p:nvSpPr>
        <p:spPr>
          <a:xfrm>
            <a:off x="1600200" y="4901184"/>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Merkle root of each 5-minute cycle, only while it runs.</a:t>
            </a:r>
          </a:p>
        </p:txBody>
      </p:sp>
      <p:sp>
        <p:nvSpPr>
          <p:cNvPr id="41" name="DeskAnchor address"/>
          <p:cNvSpPr txBox="1"/>
          <p:nvPr/>
        </p:nvSpPr>
        <p:spPr>
          <a:xfrm>
            <a:off x="5532120" y="4608576"/>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0x706d…305f</a:t>
            </a:r>
          </a:p>
        </p:txBody>
      </p:sp>
      <p:sp>
        <p:nvSpPr>
          <p:cNvPr id="42" name="Contract FabiusCredit (FAB)"/>
          <p:cNvSpPr/>
          <p:nvPr/>
        </p:nvSpPr>
        <p:spPr>
          <a:xfrm>
            <a:off x="594360" y="5321808"/>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3" name="Icon FabiusCredit (FAB)"/>
          <p:cNvGrpSpPr/>
          <p:nvPr/>
        </p:nvGrpSpPr>
        <p:grpSpPr>
          <a:xfrm>
            <a:off x="0" y="0"/>
            <a:ext cx="0" cy="0"/>
            <a:chOff x="0" y="0"/>
            <a:chExt cx="0" cy="0"/>
          </a:xfrm>
        </p:grpSpPr>
        <p:sp>
          <p:nvSpPr>
            <p:cNvPr id="44" name="FabiusCredit (FAB) slab · kiri"/>
            <p:cNvSpPr/>
            <p:nvPr/>
          </p:nvSpPr>
          <p:spPr>
            <a:xfrm>
              <a:off x="705293" y="5613730"/>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abiusCredit (FAB) slab · kanan"/>
            <p:cNvSpPr/>
            <p:nvPr/>
          </p:nvSpPr>
          <p:spPr>
            <a:xfrm>
              <a:off x="1097280" y="5613730"/>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abiusCredit (FAB) slab · atas"/>
            <p:cNvSpPr/>
            <p:nvPr/>
          </p:nvSpPr>
          <p:spPr>
            <a:xfrm>
              <a:off x="705293" y="5387416"/>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7" name="FabiusCredit (FAB) name"/>
          <p:cNvSpPr txBox="1"/>
          <p:nvPr/>
        </p:nvSpPr>
        <p:spPr>
          <a:xfrm>
            <a:off x="1600200" y="5413248"/>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FabiusCredit (FAB)</a:t>
            </a:r>
          </a:p>
        </p:txBody>
      </p:sp>
      <p:sp>
        <p:nvSpPr>
          <p:cNvPr id="48" name="FabiusCredit (FAB) role"/>
          <p:cNvSpPr txBox="1"/>
          <p:nvPr/>
        </p:nvSpPr>
        <p:spPr>
          <a:xfrm>
            <a:off x="1600200" y="5705856"/>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Test token that pays for signals. No value.</a:t>
            </a:r>
          </a:p>
        </p:txBody>
      </p:sp>
      <p:sp>
        <p:nvSpPr>
          <p:cNvPr id="49" name="FabiusCredit (FAB) address"/>
          <p:cNvSpPr txBox="1"/>
          <p:nvPr/>
        </p:nvSpPr>
        <p:spPr>
          <a:xfrm>
            <a:off x="5532120" y="5413248"/>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0xc7b6…c881</a:t>
            </a:r>
          </a:p>
        </p:txBody>
      </p:sp>
      <p:sp>
        <p:nvSpPr>
          <p:cNvPr id="50" name="Enforced card"/>
          <p:cNvSpPr/>
          <p:nvPr/>
        </p:nvSpPr>
        <p:spPr>
          <a:xfrm>
            <a:off x="7955280" y="2103120"/>
            <a:ext cx="3642055"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forced tag"/>
          <p:cNvSpPr txBox="1"/>
          <p:nvPr/>
        </p:nvSpPr>
        <p:spPr>
          <a:xfrm>
            <a:off x="8183880" y="2286000"/>
            <a:ext cx="3184855"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ENFORCED BY THE CONTRACT</a:t>
            </a:r>
          </a:p>
        </p:txBody>
      </p:sp>
      <p:sp>
        <p:nvSpPr>
          <p:cNvPr id="52" name="Chip · TooLate"/>
          <p:cNvSpPr/>
          <p:nvPr/>
        </p:nvSpPr>
        <p:spPr>
          <a:xfrm>
            <a:off x="8183880" y="2633472"/>
            <a:ext cx="853059" cy="274320"/>
          </a:xfrm>
          <a:prstGeom prst="roundRect">
            <a:avLst>
              <a:gd name="adj" fmla="val 50000"/>
            </a:avLst>
          </a:prstGeom>
          <a:solidFill>
            <a:srgbClr val="FF5A6E">
              <a:alpha val="10000"/>
            </a:srgbClr>
          </a:solidFill>
          <a:ln w="11430" cap="rnd">
            <a:solidFill>
              <a:srgbClr val="FF5A6E">
                <a:alpha val="8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hip text"/>
          <p:cNvSpPr txBox="1"/>
          <p:nvPr/>
        </p:nvSpPr>
        <p:spPr>
          <a:xfrm>
            <a:off x="8321040" y="2633472"/>
            <a:ext cx="578739"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9AA7"/>
                </a:solidFill>
                <a:latin typeface="JetBrains Mono" pitchFamily="49" charset="0"/>
              </a:rPr>
              <a:t>TooLate</a:t>
            </a:r>
          </a:p>
        </p:txBody>
      </p:sp>
      <p:sp>
        <p:nvSpPr>
          <p:cNvPr id="54" name="Chip · LockedAfterBar"/>
          <p:cNvSpPr/>
          <p:nvPr/>
        </p:nvSpPr>
        <p:spPr>
          <a:xfrm>
            <a:off x="9128379" y="2633472"/>
            <a:ext cx="1431798" cy="274320"/>
          </a:xfrm>
          <a:prstGeom prst="roundRect">
            <a:avLst>
              <a:gd name="adj" fmla="val 50000"/>
            </a:avLst>
          </a:prstGeom>
          <a:solidFill>
            <a:srgbClr val="FF5A6E">
              <a:alpha val="10000"/>
            </a:srgbClr>
          </a:solidFill>
          <a:ln w="11430" cap="rnd">
            <a:solidFill>
              <a:srgbClr val="FF5A6E">
                <a:alpha val="8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hip text"/>
          <p:cNvSpPr txBox="1"/>
          <p:nvPr/>
        </p:nvSpPr>
        <p:spPr>
          <a:xfrm>
            <a:off x="9265539" y="2633472"/>
            <a:ext cx="1157478"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9AA7"/>
                </a:solidFill>
                <a:latin typeface="JetBrains Mono" pitchFamily="49" charset="0"/>
              </a:rPr>
              <a:t>LockedAfterBar</a:t>
            </a:r>
          </a:p>
        </p:txBody>
      </p:sp>
      <p:sp>
        <p:nvSpPr>
          <p:cNvPr id="56" name="Enforced text"/>
          <p:cNvSpPr txBox="1"/>
          <p:nvPr/>
        </p:nvSpPr>
        <p:spPr>
          <a:xfrm>
            <a:off x="8183880" y="3017520"/>
            <a:ext cx="3184855" cy="914400"/>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commit after the 12-hour window, or for a rule locked after the bar, reverts. The rule is code, not good intentions.</a:t>
            </a:r>
          </a:p>
        </p:txBody>
      </p:sp>
      <p:sp>
        <p:nvSpPr>
          <p:cNvPr id="57" name="External card"/>
          <p:cNvSpPr/>
          <p:nvPr/>
        </p:nvSpPr>
        <p:spPr>
          <a:xfrm>
            <a:off x="7955280" y="4114800"/>
            <a:ext cx="3642055" cy="1920240"/>
          </a:xfrm>
          <a:prstGeom prst="roundRect">
            <a:avLst>
              <a:gd name="adj" fmla="val 10476"/>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xternal tag"/>
          <p:cNvSpPr txBox="1"/>
          <p:nvPr/>
        </p:nvSpPr>
        <p:spPr>
          <a:xfrm>
            <a:off x="8183880" y="4297680"/>
            <a:ext cx="3184855"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8B86A6"/>
                </a:solidFill>
                <a:latin typeface="JetBrains Mono" pitchFamily="49" charset="0"/>
              </a:rPr>
              <a:t>STANDARD RAILS WE USE · NOT OURS</a:t>
            </a:r>
          </a:p>
        </p:txBody>
      </p:sp>
      <p:sp>
        <p:nvSpPr>
          <p:cNvPr id="59" name="External items"/>
          <p:cNvSpPr txBox="1"/>
          <p:nvPr/>
        </p:nvSpPr>
        <p:spPr>
          <a:xfrm>
            <a:off x="8183880" y="4617720"/>
            <a:ext cx="3184855" cy="1280160"/>
          </a:xfrm>
          <a:prstGeom prst="rect">
            <a:avLst/>
          </a:prstGeom>
          <a:noFill/>
        </p:spPr>
        <p:txBody>
          <a:bodyPr wrap="square" lIns="0" rIns="0" tIns="0" bIns="0" anchor="t">
            <a:noAutofit/>
          </a:bodyPr>
          <a:lstStyle/>
          <a:p>
            <a:pPr algn="l">
              <a:lnSpc>
                <a:spcPct val="130000"/>
              </a:lnSpc>
              <a:spcBef>
                <a:spcPts val="0"/>
              </a:spcBef>
              <a:spcAft>
                <a:spcPts val="500"/>
              </a:spcAft>
            </a:pPr>
            <a:r>
              <a:rPr sz="1250" b="0" i="0" lang="en-US">
                <a:solidFill>
                  <a:srgbClr val="C9BDF2"/>
                </a:solidFill>
                <a:latin typeface="Inter" pitchFamily="34" charset="0"/>
              </a:rPr>
              <a:t>ERC-8004 Identity Registry: home of Fabius agent #2494</a:t>
            </a:r>
          </a:p>
          <a:p>
            <a:pPr algn="l">
              <a:lnSpc>
                <a:spcPct val="130000"/>
              </a:lnSpc>
              <a:spcBef>
                <a:spcPts val="0"/>
              </a:spcBef>
              <a:spcAft>
                <a:spcPts val="0"/>
              </a:spcAft>
            </a:pPr>
            <a:r>
              <a:rPr sz="1250" b="0" i="0" lang="en-US">
                <a:solidFill>
                  <a:srgbClr val="C9BDF2"/>
                </a:solidFill>
                <a:latin typeface="Inter" pitchFamily="34" charset="0"/>
              </a:rPr>
              <a:t>x402 payment proxy and Permit2: settlement</a:t>
            </a:r>
          </a:p>
        </p:txBody>
      </p:sp>
      <p:sp>
        <p:nvSpPr>
          <p:cNvPr id="60" name="Foot"/>
          <p:cNvSpPr txBox="1"/>
          <p:nvPr/>
        </p:nvSpPr>
        <p:spPr>
          <a:xfrm>
            <a:off x="594360" y="6053328"/>
            <a:ext cx="11002975" cy="237744"/>
          </a:xfrm>
          <a:prstGeom prst="rect">
            <a:avLst/>
          </a:prstGeom>
          <a:noFill/>
        </p:spPr>
        <p:txBody>
          <a:bodyPr wrap="square" lIns="0" rIns="0" tIns="0" bIns="0" anchor="ctr">
            <a:noAutofit/>
          </a:bodyPr>
          <a:lstStyle/>
          <a:p>
            <a:pPr algn="l">
              <a:lnSpc>
                <a:spcPct val="125000"/>
              </a:lnSpc>
              <a:spcBef>
                <a:spcPts val="0"/>
              </a:spcBef>
              <a:spcAft>
                <a:spcPts val="0"/>
              </a:spcAft>
            </a:pPr>
            <a:r>
              <a:rPr sz="1050" b="0" i="0" lang="en-US">
                <a:solidFill>
                  <a:srgbClr val="8B86A6"/>
                </a:solidFill>
                <a:latin typeface="JetBrains Mono" pitchFamily="49" charset="0"/>
              </a:rPr>
              <a:t>BNB SMART CHAIN TESTNET · CHAIN ID 97 · FULL ADDRESSES IN deployments/97.json · EARLIER DEPLOYMENTS LISTED THERE TOO</a:t>
            </a:r>
          </a:p>
        </p:txBody>
      </p:sp>
      <p:sp>
        <p:nvSpPr>
          <p:cNvPr id="61"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62"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A desk built to be doubted</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10 — BUILT TO BE DOUBTED</a:t>
            </a:r>
          </a:p>
        </p:txBody>
      </p:sp>
      <p:grpSp>
        <p:nvGrpSpPr>
          <p:cNvPr id="7" name="Halo"/>
          <p:cNvGrpSpPr/>
          <p:nvPr/>
        </p:nvGrpSpPr>
        <p:grpSpPr>
          <a:xfrm>
            <a:off x="-274320" y="1554480"/>
            <a:ext cx="5486400" cy="3474720"/>
            <a:chOff x="-274320" y="1554480"/>
            <a:chExt cx="5486400" cy="3474720"/>
          </a:xfrm>
        </p:grpSpPr>
        <p:sp>
          <p:nvSpPr>
            <p:cNvPr id="8" name="Halo 1"/>
            <p:cNvSpPr/>
            <p:nvPr/>
          </p:nvSpPr>
          <p:spPr>
            <a:xfrm>
              <a:off x="-274320" y="1554480"/>
              <a:ext cx="5486400" cy="3474720"/>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alo 2"/>
            <p:cNvSpPr/>
            <p:nvPr/>
          </p:nvSpPr>
          <p:spPr>
            <a:xfrm>
              <a:off x="-154142" y="1630593"/>
              <a:ext cx="5246043" cy="3322494"/>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3"/>
            <p:cNvSpPr/>
            <p:nvPr/>
          </p:nvSpPr>
          <p:spPr>
            <a:xfrm>
              <a:off x="-33963" y="1706706"/>
              <a:ext cx="5005687" cy="317026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4"/>
            <p:cNvSpPr/>
            <p:nvPr/>
          </p:nvSpPr>
          <p:spPr>
            <a:xfrm>
              <a:off x="86215" y="1782819"/>
              <a:ext cx="4765330" cy="301804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5"/>
            <p:cNvSpPr/>
            <p:nvPr/>
          </p:nvSpPr>
          <p:spPr>
            <a:xfrm>
              <a:off x="206393" y="1858932"/>
              <a:ext cx="4524974" cy="2865817"/>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6"/>
            <p:cNvSpPr/>
            <p:nvPr/>
          </p:nvSpPr>
          <p:spPr>
            <a:xfrm>
              <a:off x="326571" y="1935045"/>
              <a:ext cx="4284617" cy="2713591"/>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7"/>
            <p:cNvSpPr/>
            <p:nvPr/>
          </p:nvSpPr>
          <p:spPr>
            <a:xfrm>
              <a:off x="446750" y="2011157"/>
              <a:ext cx="4044261" cy="2561365"/>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8"/>
            <p:cNvSpPr/>
            <p:nvPr/>
          </p:nvSpPr>
          <p:spPr>
            <a:xfrm>
              <a:off x="566928" y="2087270"/>
              <a:ext cx="3803904" cy="2409139"/>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9"/>
            <p:cNvSpPr/>
            <p:nvPr/>
          </p:nvSpPr>
          <p:spPr>
            <a:xfrm>
              <a:off x="687106" y="2163383"/>
              <a:ext cx="3563547" cy="225691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10"/>
            <p:cNvSpPr/>
            <p:nvPr/>
          </p:nvSpPr>
          <p:spPr>
            <a:xfrm>
              <a:off x="807285" y="2239496"/>
              <a:ext cx="3323191" cy="210468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1"/>
            <p:cNvSpPr/>
            <p:nvPr/>
          </p:nvSpPr>
          <p:spPr>
            <a:xfrm>
              <a:off x="927463" y="2315609"/>
              <a:ext cx="3082834" cy="1952462"/>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2"/>
            <p:cNvSpPr/>
            <p:nvPr/>
          </p:nvSpPr>
          <p:spPr>
            <a:xfrm>
              <a:off x="1047641" y="2391722"/>
              <a:ext cx="2842478" cy="1800236"/>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3"/>
            <p:cNvSpPr/>
            <p:nvPr/>
          </p:nvSpPr>
          <p:spPr>
            <a:xfrm>
              <a:off x="1167819" y="2467835"/>
              <a:ext cx="2602121" cy="1648010"/>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4"/>
            <p:cNvSpPr/>
            <p:nvPr/>
          </p:nvSpPr>
          <p:spPr>
            <a:xfrm>
              <a:off x="1287998" y="2543948"/>
              <a:ext cx="2361765" cy="1495784"/>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5"/>
            <p:cNvSpPr/>
            <p:nvPr/>
          </p:nvSpPr>
          <p:spPr>
            <a:xfrm>
              <a:off x="1408176" y="2620061"/>
              <a:ext cx="2121408" cy="134355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6"/>
            <p:cNvSpPr/>
            <p:nvPr/>
          </p:nvSpPr>
          <p:spPr>
            <a:xfrm>
              <a:off x="1528354" y="2696174"/>
              <a:ext cx="1881051" cy="119133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7"/>
            <p:cNvSpPr/>
            <p:nvPr/>
          </p:nvSpPr>
          <p:spPr>
            <a:xfrm>
              <a:off x="1648533" y="2772287"/>
              <a:ext cx="1640695" cy="1039107"/>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8"/>
            <p:cNvSpPr/>
            <p:nvPr/>
          </p:nvSpPr>
          <p:spPr>
            <a:xfrm>
              <a:off x="1768711" y="2848400"/>
              <a:ext cx="1400338" cy="886881"/>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9"/>
            <p:cNvSpPr/>
            <p:nvPr/>
          </p:nvSpPr>
          <p:spPr>
            <a:xfrm>
              <a:off x="1888889" y="2924512"/>
              <a:ext cx="1159982" cy="734655"/>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20"/>
            <p:cNvSpPr/>
            <p:nvPr/>
          </p:nvSpPr>
          <p:spPr>
            <a:xfrm>
              <a:off x="2009067" y="3000625"/>
              <a:ext cx="919625" cy="582429"/>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1"/>
            <p:cNvSpPr/>
            <p:nvPr/>
          </p:nvSpPr>
          <p:spPr>
            <a:xfrm>
              <a:off x="2129246" y="3076738"/>
              <a:ext cx="679269" cy="43020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2"/>
            <p:cNvSpPr/>
            <p:nvPr/>
          </p:nvSpPr>
          <p:spPr>
            <a:xfrm>
              <a:off x="2249424" y="3152851"/>
              <a:ext cx="438912" cy="27797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0" name="Big number"/>
          <p:cNvSpPr txBox="1"/>
          <p:nvPr/>
        </p:nvSpPr>
        <p:spPr>
          <a:xfrm>
            <a:off x="594360" y="1828800"/>
            <a:ext cx="3931920" cy="1554480"/>
          </a:xfrm>
          <a:prstGeom prst="rect">
            <a:avLst/>
          </a:prstGeom>
          <a:noFill/>
        </p:spPr>
        <p:txBody>
          <a:bodyPr wrap="square" lIns="0" rIns="0" tIns="0" bIns="0" anchor="t">
            <a:noAutofit/>
          </a:bodyPr>
          <a:lstStyle/>
          <a:p>
            <a:pPr algn="l">
              <a:lnSpc>
                <a:spcPct val="90000"/>
              </a:lnSpc>
              <a:spcBef>
                <a:spcPts val="0"/>
              </a:spcBef>
              <a:spcAft>
                <a:spcPts val="0"/>
              </a:spcAft>
            </a:pPr>
            <a:r>
              <a:rPr sz="11200" b="1" i="0" lang="en-US">
                <a:solidFill>
                  <a:srgbClr val="FFFFFF"/>
                </a:solidFill>
                <a:latin typeface="Archivo" pitchFamily="34" charset="0"/>
              </a:rPr>
              <a:t>0 / 6</a:t>
            </a:r>
          </a:p>
        </p:txBody>
      </p:sp>
      <p:sp>
        <p:nvSpPr>
          <p:cNvPr id="31" name="Big label"/>
          <p:cNvSpPr txBox="1"/>
          <p:nvPr/>
        </p:nvSpPr>
        <p:spPr>
          <a:xfrm>
            <a:off x="594360" y="3456432"/>
            <a:ext cx="3657600" cy="566928"/>
          </a:xfrm>
          <a:prstGeom prst="rect">
            <a:avLst/>
          </a:prstGeom>
          <a:noFill/>
        </p:spPr>
        <p:txBody>
          <a:bodyPr wrap="square" lIns="0" rIns="0" tIns="0" bIns="0" anchor="t">
            <a:noAutofit/>
          </a:bodyPr>
          <a:lstStyle/>
          <a:p>
            <a:pPr algn="l">
              <a:lnSpc>
                <a:spcPct val="115000"/>
              </a:lnSpc>
              <a:spcBef>
                <a:spcPts val="0"/>
              </a:spcBef>
              <a:spcAft>
                <a:spcPts val="0"/>
              </a:spcAft>
            </a:pPr>
            <a:r>
              <a:rPr sz="1800" b="1" i="0" lang="en-US">
                <a:solidFill>
                  <a:srgbClr val="FFFFFF"/>
                </a:solidFill>
                <a:latin typeface="Archivo" pitchFamily="34" charset="0"/>
              </a:rPr>
              <a:t>bots have passed the forward test</a:t>
            </a:r>
          </a:p>
        </p:txBody>
      </p:sp>
      <p:sp>
        <p:nvSpPr>
          <p:cNvPr id="32" name="Big sub"/>
          <p:cNvSpPr txBox="1"/>
          <p:nvPr/>
        </p:nvSpPr>
        <p:spPr>
          <a:xfrm>
            <a:off x="594360" y="4114800"/>
            <a:ext cx="3931920" cy="566928"/>
          </a:xfrm>
          <a:prstGeom prst="rect">
            <a:avLst/>
          </a:prstGeom>
          <a:noFill/>
        </p:spPr>
        <p:txBody>
          <a:bodyPr wrap="square" lIns="0" rIns="0" tIns="0" bIns="0" anchor="t">
            <a:noAutofit/>
          </a:bodyPr>
          <a:lstStyle/>
          <a:p>
            <a:pPr algn="l">
              <a:lnSpc>
                <a:spcPct val="135000"/>
              </a:lnSpc>
              <a:spcBef>
                <a:spcPts val="0"/>
              </a:spcBef>
              <a:spcAft>
                <a:spcPts val="0"/>
              </a:spcAft>
            </a:pPr>
            <a:r>
              <a:rPr sz="1100" b="0" i="0" lang="en-US">
                <a:solidFill>
                  <a:srgbClr val="8B86A6"/>
                </a:solidFill>
                <a:latin typeface="JetBrains Mono" pitchFamily="49" charset="0"/>
              </a:rPr>
              <a:t>needs 20 signals · 20 settled days · 2 months</a:t>
            </a:r>
          </a:p>
        </p:txBody>
      </p:sp>
      <p:sp>
        <p:nvSpPr>
          <p:cNvPr id="33" name="Column 1"/>
          <p:cNvSpPr/>
          <p:nvPr/>
        </p:nvSpPr>
        <p:spPr>
          <a:xfrm>
            <a:off x="4572000" y="1828800"/>
            <a:ext cx="3398368" cy="2834640"/>
          </a:xfrm>
          <a:prstGeom prst="roundRect">
            <a:avLst>
              <a:gd name="adj" fmla="val 7096"/>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lumn 1 tag"/>
          <p:cNvSpPr txBox="1"/>
          <p:nvPr/>
        </p:nvSpPr>
        <p:spPr>
          <a:xfrm>
            <a:off x="4800600" y="2011680"/>
            <a:ext cx="29411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WHAT THE CHAIN PROVES</a:t>
            </a:r>
          </a:p>
        </p:txBody>
      </p:sp>
      <p:sp>
        <p:nvSpPr>
          <p:cNvPr id="35" name="Glyph"/>
          <p:cNvSpPr txBox="1"/>
          <p:nvPr/>
        </p:nvSpPr>
        <p:spPr>
          <a:xfrm>
            <a:off x="4800600" y="237744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36" name="Item"/>
          <p:cNvSpPr txBox="1"/>
          <p:nvPr/>
        </p:nvSpPr>
        <p:spPr>
          <a:xfrm>
            <a:off x="5138928" y="237744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ECE8FA"/>
                </a:solidFill>
                <a:latin typeface="Inter" pitchFamily="34" charset="0"/>
              </a:rPr>
              <a:t>The signal existed before the outcome</a:t>
            </a:r>
          </a:p>
        </p:txBody>
      </p:sp>
      <p:sp>
        <p:nvSpPr>
          <p:cNvPr id="37" name="Glyph"/>
          <p:cNvSpPr txBox="1"/>
          <p:nvPr/>
        </p:nvSpPr>
        <p:spPr>
          <a:xfrm>
            <a:off x="4800600" y="303911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38" name="Item"/>
          <p:cNvSpPr txBox="1"/>
          <p:nvPr/>
        </p:nvSpPr>
        <p:spPr>
          <a:xfrm>
            <a:off x="5138928" y="303911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450" b="0" i="0" lang="en-US">
                <a:solidFill>
                  <a:srgbClr val="ECE8FA"/>
                </a:solidFill>
                <a:latin typeface="Inter" pitchFamily="34" charset="0"/>
              </a:rPr>
              <a:t>It was not changed afterwards</a:t>
            </a:r>
          </a:p>
        </p:txBody>
      </p:sp>
      <p:sp>
        <p:nvSpPr>
          <p:cNvPr id="39" name="Glyph"/>
          <p:cNvSpPr txBox="1"/>
          <p:nvPr/>
        </p:nvSpPr>
        <p:spPr>
          <a:xfrm>
            <a:off x="4800600" y="370078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40" name="Item"/>
          <p:cNvSpPr txBox="1"/>
          <p:nvPr/>
        </p:nvSpPr>
        <p:spPr>
          <a:xfrm>
            <a:off x="5138928" y="370078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ECE8FA"/>
                </a:solidFill>
                <a:latin typeface="Inter" pitchFamily="34" charset="0"/>
              </a:rPr>
              <a:t>Which rule produced it, and when that rule was locked</a:t>
            </a:r>
          </a:p>
        </p:txBody>
      </p:sp>
      <p:sp>
        <p:nvSpPr>
          <p:cNvPr id="41" name="Column 2"/>
          <p:cNvSpPr/>
          <p:nvPr/>
        </p:nvSpPr>
        <p:spPr>
          <a:xfrm>
            <a:off x="8198968" y="1828800"/>
            <a:ext cx="3398368" cy="2834640"/>
          </a:xfrm>
          <a:prstGeom prst="roundRect">
            <a:avLst>
              <a:gd name="adj" fmla="val 7096"/>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lumn 2 tag"/>
          <p:cNvSpPr txBox="1"/>
          <p:nvPr/>
        </p:nvSpPr>
        <p:spPr>
          <a:xfrm>
            <a:off x="8427568" y="2011680"/>
            <a:ext cx="29411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C9BDF2"/>
                </a:solidFill>
                <a:latin typeface="JetBrains Mono" pitchFamily="49" charset="0"/>
              </a:rPr>
              <a:t>WHAT IT DOES NOT PROVE</a:t>
            </a:r>
          </a:p>
        </p:txBody>
      </p:sp>
      <p:sp>
        <p:nvSpPr>
          <p:cNvPr id="43" name="Glyph"/>
          <p:cNvSpPr txBox="1"/>
          <p:nvPr/>
        </p:nvSpPr>
        <p:spPr>
          <a:xfrm>
            <a:off x="8427568" y="237744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4" name="Item"/>
          <p:cNvSpPr txBox="1"/>
          <p:nvPr/>
        </p:nvSpPr>
        <p:spPr>
          <a:xfrm>
            <a:off x="8765896" y="237744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C9BDF2"/>
                </a:solidFill>
                <a:latin typeface="Inter" pitchFamily="34" charset="0"/>
              </a:rPr>
              <a:t>That a call was right or profitable</a:t>
            </a:r>
          </a:p>
        </p:txBody>
      </p:sp>
      <p:sp>
        <p:nvSpPr>
          <p:cNvPr id="45" name="Glyph"/>
          <p:cNvSpPr txBox="1"/>
          <p:nvPr/>
        </p:nvSpPr>
        <p:spPr>
          <a:xfrm>
            <a:off x="8427568" y="303911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6" name="Item"/>
          <p:cNvSpPr txBox="1"/>
          <p:nvPr/>
        </p:nvSpPr>
        <p:spPr>
          <a:xfrm>
            <a:off x="8765896" y="303911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C9BDF2"/>
                </a:solidFill>
                <a:latin typeface="Inter" pitchFamily="34" charset="0"/>
              </a:rPr>
              <a:t>That a particular model produced it</a:t>
            </a:r>
          </a:p>
        </p:txBody>
      </p:sp>
      <p:sp>
        <p:nvSpPr>
          <p:cNvPr id="47" name="Glyph"/>
          <p:cNvSpPr txBox="1"/>
          <p:nvPr/>
        </p:nvSpPr>
        <p:spPr>
          <a:xfrm>
            <a:off x="8427568" y="370078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8" name="Item"/>
          <p:cNvSpPr txBox="1"/>
          <p:nvPr/>
        </p:nvSpPr>
        <p:spPr>
          <a:xfrm>
            <a:off x="8765896" y="3700780"/>
            <a:ext cx="2575408" cy="285115"/>
          </a:xfrm>
          <a:prstGeom prst="rect">
            <a:avLst/>
          </a:prstGeom>
          <a:noFill/>
        </p:spPr>
        <p:txBody>
          <a:bodyPr wrap="square" lIns="0" rIns="0" tIns="0" bIns="0" anchor="t">
            <a:noAutofit/>
          </a:bodyPr>
          <a:lstStyle/>
          <a:p>
            <a:pPr algn="l">
              <a:lnSpc>
                <a:spcPct val="125000"/>
              </a:lnSpc>
              <a:spcBef>
                <a:spcPts val="0"/>
              </a:spcBef>
              <a:spcAft>
                <a:spcPts val="0"/>
              </a:spcAft>
            </a:pPr>
            <a:r>
              <a:rPr sz="1450" b="0" i="0" lang="en-US">
                <a:solidFill>
                  <a:srgbClr val="C9BDF2"/>
                </a:solidFill>
                <a:latin typeface="Inter" pitchFamily="34" charset="0"/>
              </a:rPr>
              <a:t>Any edge. None is claimed.</a:t>
            </a:r>
          </a:p>
        </p:txBody>
      </p:sp>
      <p:sp>
        <p:nvSpPr>
          <p:cNvPr id="49" name="Evidence 1"/>
          <p:cNvSpPr/>
          <p:nvPr/>
        </p:nvSpPr>
        <p:spPr>
          <a:xfrm>
            <a:off x="594360"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vidence 1 title"/>
          <p:cNvSpPr txBox="1"/>
          <p:nvPr/>
        </p:nvSpPr>
        <p:spPr>
          <a:xfrm>
            <a:off x="795528"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We reject our own bots</a:t>
            </a:r>
          </a:p>
        </p:txBody>
      </p:sp>
      <p:sp>
        <p:nvSpPr>
          <p:cNvPr id="51" name="Evidence 1 text"/>
          <p:cNvSpPr txBox="1"/>
          <p:nvPr/>
        </p:nvSpPr>
        <p:spPr>
          <a:xfrm>
            <a:off x="795528"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4 of 6 house bots fail our entry gates; 1 cannot be measured; 1 runs in shadow.</a:t>
            </a:r>
          </a:p>
        </p:txBody>
      </p:sp>
      <p:sp>
        <p:nvSpPr>
          <p:cNvPr id="52" name="Evidence 2"/>
          <p:cNvSpPr/>
          <p:nvPr/>
        </p:nvSpPr>
        <p:spPr>
          <a:xfrm>
            <a:off x="4329074"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vidence 2 title"/>
          <p:cNvSpPr txBox="1"/>
          <p:nvPr/>
        </p:nvSpPr>
        <p:spPr>
          <a:xfrm>
            <a:off x="4530242"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Our reviewer failed, so it is off</a:t>
            </a:r>
          </a:p>
        </p:txBody>
      </p:sp>
      <p:sp>
        <p:nvSpPr>
          <p:cNvPr id="54" name="Evidence 2 text"/>
          <p:cNvSpPr txBox="1"/>
          <p:nvPr/>
        </p:nvSpPr>
        <p:spPr>
          <a:xfrm>
            <a:off x="4530242"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250" b="0" i="0" lang="en-US">
                <a:solidFill>
                  <a:srgbClr val="C9BDF2"/>
                </a:solidFill>
                <a:latin typeface="Inter" pitchFamily="34" charset="0"/>
              </a:rPr>
              <a:t>The LLM reviewer missed its calibration, so it stays off. The result is public.</a:t>
            </a:r>
          </a:p>
        </p:txBody>
      </p:sp>
      <p:sp>
        <p:nvSpPr>
          <p:cNvPr id="55" name="Evidence 3"/>
          <p:cNvSpPr/>
          <p:nvPr/>
        </p:nvSpPr>
        <p:spPr>
          <a:xfrm>
            <a:off x="8063789"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vidence 3 title"/>
          <p:cNvSpPr txBox="1"/>
          <p:nvPr/>
        </p:nvSpPr>
        <p:spPr>
          <a:xfrm>
            <a:off x="8264957"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Gates tested on noise</a:t>
            </a:r>
          </a:p>
        </p:txBody>
      </p:sp>
      <p:sp>
        <p:nvSpPr>
          <p:cNvPr id="57" name="Evidence 3 text"/>
          <p:cNvSpPr txBox="1"/>
          <p:nvPr/>
        </p:nvSpPr>
        <p:spPr>
          <a:xfrm>
            <a:off x="8264957"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Synthetic test: no-edge strategies pass about 1% (budget 5%).</a:t>
            </a:r>
          </a:p>
        </p:txBody>
      </p:sp>
      <p:sp>
        <p:nvSpPr>
          <p:cNvPr id="58" name="Ribbon"/>
          <p:cNvSpPr txBox="1"/>
          <p:nvPr/>
        </p:nvSpPr>
        <p:spPr>
          <a:xfrm>
            <a:off x="594360" y="6053328"/>
            <a:ext cx="11002975" cy="237744"/>
          </a:xfrm>
          <a:prstGeom prst="rect">
            <a:avLst/>
          </a:prstGeom>
          <a:noFill/>
        </p:spPr>
        <p:txBody>
          <a:bodyPr wrap="square" lIns="0" rIns="0" tIns="0" bIns="0" anchor="ctr">
            <a:noAutofit/>
          </a:bodyPr>
          <a:lstStyle/>
          <a:p>
            <a:pPr algn="l">
              <a:lnSpc>
                <a:spcPct val="120000"/>
              </a:lnSpc>
              <a:spcBef>
                <a:spcPts val="0"/>
              </a:spcBef>
              <a:spcAft>
                <a:spcPts val="0"/>
              </a:spcAft>
            </a:pPr>
            <a:r>
              <a:rPr sz="1050" b="0" i="0" lang="en-US" spc="140">
                <a:solidFill>
                  <a:srgbClr val="9D86FF"/>
                </a:solidFill>
                <a:latin typeface="JetBrains Mono" pitchFamily="49" charset="0"/>
              </a:rPr>
              <a:t>PAPER ONLY · NO EDGE CLAIMED · EVERY RULE LOCKED BEFORE THE DATA · VERIFY, DON'T TRUST</a:t>
            </a:r>
          </a:p>
        </p:txBody>
      </p:sp>
      <p:sp>
        <p:nvSpPr>
          <p:cNvPr id="59"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60"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Live. Built. </a:t>
            </a:r>
            <a:r>
              <a:rPr sz="4000" b="1" i="1" lang="en-US">
                <a:solidFill>
                  <a:srgbClr val="9D86FF"/>
                </a:solidFill>
                <a:latin typeface="Archivo" pitchFamily="34" charset="0"/>
              </a:rPr>
              <a:t>Gated.</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11 — WHAT IS NEXT</a:t>
            </a:r>
          </a:p>
        </p:txBody>
      </p:sp>
      <p:sp>
        <p:nvSpPr>
          <p:cNvPr id="7" name="Column live"/>
          <p:cNvSpPr/>
          <p:nvPr/>
        </p:nvSpPr>
        <p:spPr>
          <a:xfrm>
            <a:off x="594360"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8" name="Icon live"/>
          <p:cNvGrpSpPr/>
          <p:nvPr/>
        </p:nvGrpSpPr>
        <p:grpSpPr>
          <a:xfrm>
            <a:off x="0" y="0"/>
            <a:ext cx="0" cy="0"/>
            <a:chOff x="0" y="0"/>
            <a:chExt cx="0" cy="0"/>
          </a:xfrm>
        </p:grpSpPr>
        <p:sp>
          <p:nvSpPr>
            <p:cNvPr id="9" name="live block · kiri"/>
            <p:cNvSpPr/>
            <p:nvPr/>
          </p:nvSpPr>
          <p:spPr>
            <a:xfrm>
              <a:off x="812198" y="2093976"/>
              <a:ext cx="285082" cy="493776"/>
            </a:xfrm>
            <a:custGeom>
              <a:avLst/>
              <a:gdLst/>
              <a:ahLst/>
              <a:cxnLst/>
              <a:rect l="l" t="t" r="r" b="b"/>
              <a:pathLst>
                <a:path w="285082" h="493776">
                  <a:moveTo>
                    <a:pt x="0" y="329184"/>
                  </a:moveTo>
                  <a:lnTo>
                    <a:pt x="285082" y="493776"/>
                  </a:lnTo>
                  <a:lnTo>
                    <a:pt x="285082" y="164592"/>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ive block · kanan"/>
            <p:cNvSpPr/>
            <p:nvPr/>
          </p:nvSpPr>
          <p:spPr>
            <a:xfrm>
              <a:off x="1097280"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ive block · atas"/>
            <p:cNvSpPr/>
            <p:nvPr/>
          </p:nvSpPr>
          <p:spPr>
            <a:xfrm>
              <a:off x="812198" y="1929384"/>
              <a:ext cx="570164" cy="329184"/>
            </a:xfrm>
            <a:custGeom>
              <a:avLst/>
              <a:gdLst/>
              <a:ahLst/>
              <a:cxnLst/>
              <a:rect l="l" t="t" r="r" b="b"/>
              <a:pathLst>
                <a:path w="570164" h="329184">
                  <a:moveTo>
                    <a:pt x="285082" y="0"/>
                  </a:moveTo>
                  <a:lnTo>
                    <a:pt x="570164" y="164592"/>
                  </a:lnTo>
                  <a:lnTo>
                    <a:pt x="285082" y="329184"/>
                  </a:lnTo>
                  <a:lnTo>
                    <a:pt x="0" y="16459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2" name="Chip · LIVE"/>
          <p:cNvSpPr/>
          <p:nvPr/>
        </p:nvSpPr>
        <p:spPr>
          <a:xfrm>
            <a:off x="1508760" y="1984248"/>
            <a:ext cx="838708"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dot"/>
          <p:cNvSpPr/>
          <p:nvPr/>
        </p:nvSpPr>
        <p:spPr>
          <a:xfrm>
            <a:off x="1645920" y="207797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ip text"/>
          <p:cNvSpPr txBox="1"/>
          <p:nvPr/>
        </p:nvSpPr>
        <p:spPr>
          <a:xfrm>
            <a:off x="1828800" y="1984248"/>
            <a:ext cx="381508"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FFFFFF"/>
                </a:solidFill>
                <a:latin typeface="JetBrains Mono" pitchFamily="49" charset="0"/>
              </a:rPr>
              <a:t>LIVE</a:t>
            </a:r>
          </a:p>
        </p:txBody>
      </p:sp>
      <p:sp>
        <p:nvSpPr>
          <p:cNvPr id="15" name="Column 1 title"/>
          <p:cNvSpPr txBox="1"/>
          <p:nvPr/>
        </p:nvSpPr>
        <p:spPr>
          <a:xfrm>
            <a:off x="1508760"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Running on BNB testnet</a:t>
            </a:r>
          </a:p>
        </p:txBody>
      </p:sp>
      <p:sp>
        <p:nvSpPr>
          <p:cNvPr id="16" name="Column 1 items"/>
          <p:cNvSpPr txBox="1"/>
          <p:nvPr/>
        </p:nvSpPr>
        <p:spPr>
          <a:xfrm>
            <a:off x="850392"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200" b="0" i="0" lang="en-US">
                <a:solidFill>
                  <a:srgbClr val="ECE8FA"/>
                </a:solidFill>
                <a:latin typeface="Inter" pitchFamily="34" charset="0"/>
              </a:rPr>
              <a:t>Proof feed and /verify: no key, no gas</a:t>
            </a:r>
          </a:p>
          <a:p>
            <a:pPr algn="l">
              <a:lnSpc>
                <a:spcPct val="122000"/>
              </a:lnSpc>
              <a:spcBef>
                <a:spcPts val="0"/>
              </a:spcBef>
              <a:spcAft>
                <a:spcPts val="500"/>
              </a:spcAft>
            </a:pPr>
            <a:r>
              <a:rPr sz="1200" b="0" i="0" lang="en-US">
                <a:solidFill>
                  <a:srgbClr val="ECE8FA"/>
                </a:solidFill>
                <a:latin typeface="Inter" pitchFamily="34" charset="0"/>
              </a:rPr>
              <a:t>6 bots on public forward ledgers</a:t>
            </a:r>
          </a:p>
          <a:p>
            <a:pPr algn="l">
              <a:lnSpc>
                <a:spcPct val="122000"/>
              </a:lnSpc>
              <a:spcBef>
                <a:spcPts val="0"/>
              </a:spcBef>
              <a:spcAft>
                <a:spcPts val="500"/>
              </a:spcAft>
            </a:pPr>
            <a:r>
              <a:rPr sz="1200" b="0" i="0" lang="en-US">
                <a:solidFill>
                  <a:srgbClr val="ECE8FA"/>
                </a:solidFill>
                <a:latin typeface="Inter" pitchFamily="34" charset="0"/>
              </a:rPr>
              <a:t>AI desk every 5 minutes, one paper book</a:t>
            </a:r>
          </a:p>
          <a:p>
            <a:pPr algn="l">
              <a:lnSpc>
                <a:spcPct val="122000"/>
              </a:lnSpc>
              <a:spcBef>
                <a:spcPts val="0"/>
              </a:spcBef>
              <a:spcAft>
                <a:spcPts val="500"/>
              </a:spcAft>
            </a:pPr>
            <a:r>
              <a:rPr sz="1200" b="0" i="0" lang="en-US">
                <a:solidFill>
                  <a:srgbClr val="ECE8FA"/>
                </a:solidFill>
                <a:latin typeface="Inter" pitchFamily="34" charset="0"/>
              </a:rPr>
              <a:t>Open submissions: rule, feed and AI agent</a:t>
            </a:r>
          </a:p>
          <a:p>
            <a:pPr algn="l">
              <a:lnSpc>
                <a:spcPct val="122000"/>
              </a:lnSpc>
              <a:spcBef>
                <a:spcPts val="0"/>
              </a:spcBef>
              <a:spcAft>
                <a:spcPts val="0"/>
              </a:spcAft>
            </a:pPr>
            <a:r>
              <a:rPr sz="1200" b="0" i="0" lang="en-US">
                <a:solidFill>
                  <a:srgbClr val="ECE8FA"/>
                </a:solidFill>
                <a:latin typeface="Inter" pitchFamily="34" charset="0"/>
              </a:rPr>
              <a:t>x402 checkout with a no-value token; free MCP server</a:t>
            </a:r>
          </a:p>
        </p:txBody>
      </p:sp>
      <p:sp>
        <p:nvSpPr>
          <p:cNvPr id="17" name="Column built"/>
          <p:cNvSpPr/>
          <p:nvPr/>
        </p:nvSpPr>
        <p:spPr>
          <a:xfrm>
            <a:off x="4335170"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8" name="Icon built"/>
          <p:cNvGrpSpPr/>
          <p:nvPr/>
        </p:nvGrpSpPr>
        <p:grpSpPr>
          <a:xfrm>
            <a:off x="0" y="0"/>
            <a:ext cx="0" cy="0"/>
            <a:chOff x="0" y="0"/>
            <a:chExt cx="0" cy="0"/>
          </a:xfrm>
        </p:grpSpPr>
        <p:sp>
          <p:nvSpPr>
            <p:cNvPr id="19" name="built block · kiri"/>
            <p:cNvSpPr/>
            <p:nvPr/>
          </p:nvSpPr>
          <p:spPr>
            <a:xfrm>
              <a:off x="4553009" y="2093976"/>
              <a:ext cx="285081" cy="493776"/>
            </a:xfrm>
            <a:custGeom>
              <a:avLst/>
              <a:gdLst/>
              <a:ahLst/>
              <a:cxnLst/>
              <a:rect l="l" t="t" r="r" b="b"/>
              <a:pathLst>
                <a:path w="285081" h="493776">
                  <a:moveTo>
                    <a:pt x="0" y="329184"/>
                  </a:moveTo>
                  <a:lnTo>
                    <a:pt x="285081" y="493776"/>
                  </a:lnTo>
                  <a:lnTo>
                    <a:pt x="285081" y="164592"/>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t block · kanan"/>
            <p:cNvSpPr/>
            <p:nvPr/>
          </p:nvSpPr>
          <p:spPr>
            <a:xfrm>
              <a:off x="4838090"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t block · atas"/>
            <p:cNvSpPr/>
            <p:nvPr/>
          </p:nvSpPr>
          <p:spPr>
            <a:xfrm>
              <a:off x="4553009" y="1929384"/>
              <a:ext cx="570163" cy="329184"/>
            </a:xfrm>
            <a:custGeom>
              <a:avLst/>
              <a:gdLst/>
              <a:ahLst/>
              <a:cxnLst/>
              <a:rect l="l" t="t" r="r" b="b"/>
              <a:pathLst>
                <a:path w="570163" h="329184">
                  <a:moveTo>
                    <a:pt x="285081" y="0"/>
                  </a:moveTo>
                  <a:lnTo>
                    <a:pt x="570163" y="164592"/>
                  </a:lnTo>
                  <a:lnTo>
                    <a:pt x="285081" y="329184"/>
                  </a:lnTo>
                  <a:lnTo>
                    <a:pt x="0" y="16459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2" name="Chip · BUILT"/>
          <p:cNvSpPr/>
          <p:nvPr/>
        </p:nvSpPr>
        <p:spPr>
          <a:xfrm>
            <a:off x="5249570" y="1984248"/>
            <a:ext cx="934085" cy="274320"/>
          </a:xfrm>
          <a:prstGeom prst="roundRect">
            <a:avLst>
              <a:gd name="adj" fmla="val 50000"/>
            </a:avLst>
          </a:prstGeom>
          <a:solidFill>
            <a:srgbClr val="2A1F7A">
              <a:alpha val="55000"/>
            </a:srgbClr>
          </a:solidFill>
          <a:ln w="11430" cap="rnd">
            <a:solidFill>
              <a:srgbClr val="C9BDF2">
                <a:alpha val="5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dot"/>
          <p:cNvSpPr/>
          <p:nvPr/>
        </p:nvSpPr>
        <p:spPr>
          <a:xfrm>
            <a:off x="5386730" y="2077974"/>
            <a:ext cx="86868" cy="86868"/>
          </a:xfrm>
          <a:prstGeom prst="ellipse">
            <a:avLst/>
          </a:prstGeom>
          <a:solidFill>
            <a:srgbClr val="4A38C8"/>
          </a:solidFill>
          <a:ln w="7620" cap="rnd">
            <a:solidFill>
              <a:srgbClr val="C9BDF2">
                <a:alpha val="8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ip text"/>
          <p:cNvSpPr txBox="1"/>
          <p:nvPr/>
        </p:nvSpPr>
        <p:spPr>
          <a:xfrm>
            <a:off x="5569610" y="1984248"/>
            <a:ext cx="476885"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BUILT</a:t>
            </a:r>
          </a:p>
        </p:txBody>
      </p:sp>
      <p:sp>
        <p:nvSpPr>
          <p:cNvPr id="25" name="Column 2 title"/>
          <p:cNvSpPr txBox="1"/>
          <p:nvPr/>
        </p:nvSpPr>
        <p:spPr>
          <a:xfrm>
            <a:off x="5249570"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Written, waiting on a switch</a:t>
            </a:r>
          </a:p>
        </p:txBody>
      </p:sp>
      <p:sp>
        <p:nvSpPr>
          <p:cNvPr id="26" name="Column 2 items"/>
          <p:cNvSpPr txBox="1"/>
          <p:nvPr/>
        </p:nvSpPr>
        <p:spPr>
          <a:xfrm>
            <a:off x="4591202"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300" b="0" i="0" lang="en-US">
                <a:solidFill>
                  <a:srgbClr val="C9BDF2"/>
                </a:solidFill>
                <a:latin typeface="Inter" pitchFamily="34" charset="0"/>
              </a:rPr>
              <a:t>Publisher revenue share (BotRegistry + RevenueSplitter)</a:t>
            </a:r>
          </a:p>
          <a:p>
            <a:pPr algn="l">
              <a:lnSpc>
                <a:spcPct val="122000"/>
              </a:lnSpc>
              <a:spcBef>
                <a:spcPts val="0"/>
              </a:spcBef>
              <a:spcAft>
                <a:spcPts val="500"/>
              </a:spcAft>
            </a:pPr>
            <a:r>
              <a:rPr sz="1300" b="0" i="0" lang="en-US">
                <a:solidFill>
                  <a:srgbClr val="C9BDF2"/>
                </a:solidFill>
                <a:latin typeface="Inter" pitchFamily="34" charset="0"/>
              </a:rPr>
              <a:t>Private code submissions</a:t>
            </a:r>
          </a:p>
          <a:p>
            <a:pPr algn="l">
              <a:lnSpc>
                <a:spcPct val="122000"/>
              </a:lnSpc>
              <a:spcBef>
                <a:spcPts val="0"/>
              </a:spcBef>
              <a:spcAft>
                <a:spcPts val="500"/>
              </a:spcAft>
            </a:pPr>
            <a:r>
              <a:rPr sz="1300" b="0" i="0" lang="en-US">
                <a:solidFill>
                  <a:srgbClr val="C9BDF2"/>
                </a:solidFill>
                <a:latin typeface="Inter" pitchFamily="34" charset="0"/>
              </a:rPr>
              <a:t>Paid MCP access to the desk</a:t>
            </a:r>
          </a:p>
          <a:p>
            <a:pPr algn="l">
              <a:lnSpc>
                <a:spcPct val="122000"/>
              </a:lnSpc>
              <a:spcBef>
                <a:spcPts val="0"/>
              </a:spcBef>
              <a:spcAft>
                <a:spcPts val="0"/>
              </a:spcAft>
            </a:pPr>
            <a:r>
              <a:rPr sz="1300" b="0" i="0" lang="en-US">
                <a:solidFill>
                  <a:srgbClr val="C9BDF2"/>
                </a:solidFill>
                <a:latin typeface="Inter" pitchFamily="34" charset="0"/>
              </a:rPr>
              <a:t>Desk evaluation shadow</a:t>
            </a:r>
          </a:p>
        </p:txBody>
      </p:sp>
      <p:sp>
        <p:nvSpPr>
          <p:cNvPr id="27" name="Column gated"/>
          <p:cNvSpPr/>
          <p:nvPr/>
        </p:nvSpPr>
        <p:spPr>
          <a:xfrm>
            <a:off x="8075981"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Icon gated"/>
          <p:cNvGrpSpPr/>
          <p:nvPr/>
        </p:nvGrpSpPr>
        <p:grpSpPr>
          <a:xfrm>
            <a:off x="0" y="0"/>
            <a:ext cx="0" cy="0"/>
            <a:chOff x="0" y="0"/>
            <a:chExt cx="0" cy="0"/>
          </a:xfrm>
        </p:grpSpPr>
        <p:sp>
          <p:nvSpPr>
            <p:cNvPr id="29" name="gated block · kiri"/>
            <p:cNvSpPr/>
            <p:nvPr/>
          </p:nvSpPr>
          <p:spPr>
            <a:xfrm>
              <a:off x="8293819" y="2093976"/>
              <a:ext cx="285082" cy="493776"/>
            </a:xfrm>
            <a:custGeom>
              <a:avLst/>
              <a:gdLst/>
              <a:ahLst/>
              <a:cxnLst/>
              <a:rect l="l" t="t" r="r" b="b"/>
              <a:pathLst>
                <a:path w="285082" h="493776">
                  <a:moveTo>
                    <a:pt x="0" y="329184"/>
                  </a:moveTo>
                  <a:lnTo>
                    <a:pt x="285082" y="493776"/>
                  </a:lnTo>
                  <a:lnTo>
                    <a:pt x="285082" y="164592"/>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ated block · kanan"/>
            <p:cNvSpPr/>
            <p:nvPr/>
          </p:nvSpPr>
          <p:spPr>
            <a:xfrm>
              <a:off x="8578901"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ated block · atas"/>
            <p:cNvSpPr/>
            <p:nvPr/>
          </p:nvSpPr>
          <p:spPr>
            <a:xfrm>
              <a:off x="8293819" y="1929384"/>
              <a:ext cx="570164" cy="329184"/>
            </a:xfrm>
            <a:custGeom>
              <a:avLst/>
              <a:gdLst/>
              <a:ahLst/>
              <a:cxnLst/>
              <a:rect l="l" t="t" r="r" b="b"/>
              <a:pathLst>
                <a:path w="570164" h="329184">
                  <a:moveTo>
                    <a:pt x="285082" y="0"/>
                  </a:moveTo>
                  <a:lnTo>
                    <a:pt x="570164" y="164592"/>
                  </a:lnTo>
                  <a:lnTo>
                    <a:pt x="285082" y="329184"/>
                  </a:lnTo>
                  <a:lnTo>
                    <a:pt x="0" y="164592"/>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2" name="Chip · GATED"/>
          <p:cNvSpPr/>
          <p:nvPr/>
        </p:nvSpPr>
        <p:spPr>
          <a:xfrm>
            <a:off x="8990381" y="1984248"/>
            <a:ext cx="934085" cy="274320"/>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hip dot"/>
          <p:cNvSpPr/>
          <p:nvPr/>
        </p:nvSpPr>
        <p:spPr>
          <a:xfrm>
            <a:off x="9127541" y="2077974"/>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ip text"/>
          <p:cNvSpPr txBox="1"/>
          <p:nvPr/>
        </p:nvSpPr>
        <p:spPr>
          <a:xfrm>
            <a:off x="9310421" y="1984248"/>
            <a:ext cx="476885"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C9BDF2"/>
                </a:solidFill>
                <a:latin typeface="JetBrains Mono" pitchFamily="49" charset="0"/>
              </a:rPr>
              <a:t>GATED</a:t>
            </a:r>
          </a:p>
        </p:txBody>
      </p:sp>
      <p:sp>
        <p:nvSpPr>
          <p:cNvPr id="35" name="Column 3 title"/>
          <p:cNvSpPr txBox="1"/>
          <p:nvPr/>
        </p:nvSpPr>
        <p:spPr>
          <a:xfrm>
            <a:off x="8990381"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Locked until the evidence exists</a:t>
            </a:r>
          </a:p>
        </p:txBody>
      </p:sp>
      <p:sp>
        <p:nvSpPr>
          <p:cNvPr id="36" name="Column 3 items"/>
          <p:cNvSpPr txBox="1"/>
          <p:nvPr/>
        </p:nvSpPr>
        <p:spPr>
          <a:xfrm>
            <a:off x="8332013"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300" b="0" i="0" lang="en-US">
                <a:solidFill>
                  <a:srgbClr val="C9BDF2"/>
                </a:solidFill>
                <a:latin typeface="Inter" pitchFamily="34" charset="0"/>
              </a:rPr>
              <a:t>Real-time paid signals: a bot must pass the forward test, then a legal review</a:t>
            </a:r>
          </a:p>
          <a:p>
            <a:pPr algn="l">
              <a:lnSpc>
                <a:spcPct val="122000"/>
              </a:lnSpc>
              <a:spcBef>
                <a:spcPts val="0"/>
              </a:spcBef>
              <a:spcAft>
                <a:spcPts val="0"/>
              </a:spcAft>
            </a:pPr>
            <a:r>
              <a:rPr sz="1300" b="0" i="0" lang="en-US">
                <a:solidFill>
                  <a:srgbClr val="C9BDF2"/>
                </a:solidFill>
                <a:latin typeface="Inter" pitchFamily="34" charset="0"/>
              </a:rPr>
              <a:t>Real money and mainnet: off the table until then</a:t>
            </a:r>
          </a:p>
        </p:txBody>
      </p:sp>
      <p:sp>
        <p:nvSpPr>
          <p:cNvPr id="37" name="Closing band"/>
          <p:cNvSpPr/>
          <p:nvPr/>
        </p:nvSpPr>
        <p:spPr>
          <a:xfrm>
            <a:off x="594360" y="4828032"/>
            <a:ext cx="11002975" cy="1371600"/>
          </a:xfrm>
          <a:prstGeom prst="roundRect">
            <a:avLst>
              <a:gd name="adj" fmla="val 17333"/>
            </a:avLst>
          </a:prstGeom>
          <a:gradFill rotWithShape="1">
            <a:gsLst>
              <a:gs pos="0">
                <a:srgbClr val="6E4BFF">
                  <a:alpha val="34000"/>
                </a:srgbClr>
              </a:gs>
              <a:gs pos="100000">
                <a:srgbClr val="6E4BFF">
                  <a:alpha val="10000"/>
                </a:srgbClr>
              </a:gs>
            </a:gsLst>
            <a:lin ang="8100000" scaled="0"/>
          </a:gradFill>
          <a:ln w="9525" cap="rnd">
            <a:solidFill>
              <a:srgbClr val="9D86FF">
                <a:alpha val="6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sing line"/>
          <p:cNvSpPr txBox="1"/>
          <p:nvPr/>
        </p:nvSpPr>
        <p:spPr>
          <a:xfrm>
            <a:off x="914400" y="4937760"/>
            <a:ext cx="6583680" cy="731520"/>
          </a:xfrm>
          <a:prstGeom prst="rect">
            <a:avLst/>
          </a:prstGeom>
          <a:noFill/>
        </p:spPr>
        <p:txBody>
          <a:bodyPr wrap="square" lIns="0" rIns="0" tIns="0" bIns="0" anchor="t">
            <a:noAutofit/>
          </a:bodyPr>
          <a:lstStyle/>
          <a:p>
            <a:pPr algn="l">
              <a:lnSpc>
                <a:spcPct val="108000"/>
              </a:lnSpc>
              <a:spcBef>
                <a:spcPts val="0"/>
              </a:spcBef>
              <a:spcAft>
                <a:spcPts val="0"/>
              </a:spcAft>
            </a:pPr>
            <a:r>
              <a:rPr sz="2500" b="0" i="0" lang="en-US">
                <a:solidFill>
                  <a:srgbClr val="FFFFFF"/>
                </a:solidFill>
                <a:latin typeface="Archivo" pitchFamily="34" charset="0"/>
              </a:rPr>
              <a:t>Fabius refuses the battle until the proof exists.</a:t>
            </a:r>
          </a:p>
        </p:txBody>
      </p:sp>
      <p:sp>
        <p:nvSpPr>
          <p:cNvPr id="39" name="Tagline"/>
          <p:cNvSpPr txBox="1"/>
          <p:nvPr/>
        </p:nvSpPr>
        <p:spPr>
          <a:xfrm>
            <a:off x="914400" y="5705856"/>
            <a:ext cx="6035040" cy="457200"/>
          </a:xfrm>
          <a:prstGeom prst="rect">
            <a:avLst/>
          </a:prstGeom>
          <a:noFill/>
        </p:spPr>
        <p:txBody>
          <a:bodyPr wrap="square" lIns="0" rIns="0" tIns="0" bIns="0" anchor="t">
            <a:noAutofit/>
          </a:bodyPr>
          <a:lstStyle/>
          <a:p>
            <a:pPr algn="l">
              <a:lnSpc>
                <a:spcPct val="110000"/>
              </a:lnSpc>
              <a:spcBef>
                <a:spcPts val="0"/>
              </a:spcBef>
              <a:spcAft>
                <a:spcPts val="0"/>
              </a:spcAft>
            </a:pPr>
            <a:r>
              <a:rPr sz="1250" b="0" i="0" lang="en-US">
                <a:solidFill>
                  <a:srgbClr val="C9BDF2"/>
                </a:solidFill>
                <a:latin typeface="Inter" pitchFamily="34" charset="0"/>
              </a:rPr>
              <a:t>Plug in your bot or agent, prove every call</a:t>
            </a:r>
            <a:br>
              <a:rPr sz="1250"/>
            </a:br>
            <a:r>
              <a:rPr sz="1250" b="0" i="0" lang="en-US">
                <a:solidFill>
                  <a:srgbClr val="C9BDF2"/>
                </a:solidFill>
                <a:latin typeface="Inter" pitchFamily="34" charset="0"/>
              </a:rPr>
              <a:t>on-chain, sell it to humans and AI via x402 + MCP.</a:t>
            </a:r>
          </a:p>
        </p:txBody>
      </p:sp>
      <p:sp>
        <p:nvSpPr>
          <p:cNvPr id="40" name="Chip · fabius-one.vercel.app"/>
          <p:cNvSpPr/>
          <p:nvPr/>
        </p:nvSpPr>
        <p:spPr>
          <a:xfrm>
            <a:off x="9001201" y="5084064"/>
            <a:ext cx="2321814" cy="310896"/>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hip dot"/>
          <p:cNvSpPr/>
          <p:nvPr/>
        </p:nvSpPr>
        <p:spPr>
          <a:xfrm>
            <a:off x="9138361" y="5196078"/>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hip text"/>
          <p:cNvSpPr txBox="1"/>
          <p:nvPr/>
        </p:nvSpPr>
        <p:spPr>
          <a:xfrm>
            <a:off x="9321241" y="5084064"/>
            <a:ext cx="1864614"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FFFF"/>
                </a:solidFill>
                <a:latin typeface="JetBrains Mono" pitchFamily="49" charset="0"/>
              </a:rPr>
              <a:t>fabius-one.vercel.app</a:t>
            </a:r>
          </a:p>
        </p:txBody>
      </p:sp>
      <p:sp>
        <p:nvSpPr>
          <p:cNvPr id="43" name="Chip · github.com/Shenhan01-sys/Fabius"/>
          <p:cNvSpPr/>
          <p:nvPr/>
        </p:nvSpPr>
        <p:spPr>
          <a:xfrm>
            <a:off x="8135061" y="5468112"/>
            <a:ext cx="3187954" cy="310896"/>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ip text"/>
          <p:cNvSpPr txBox="1"/>
          <p:nvPr/>
        </p:nvSpPr>
        <p:spPr>
          <a:xfrm>
            <a:off x="8272221" y="5468112"/>
            <a:ext cx="2913634"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ECE8FA"/>
                </a:solidFill>
                <a:latin typeface="JetBrains Mono" pitchFamily="49" charset="0"/>
              </a:rPr>
              <a:t>github.com/Shenhan01-sys/Fabius</a:t>
            </a:r>
          </a:p>
        </p:txBody>
      </p:sp>
      <p:sp>
        <p:nvSpPr>
          <p:cNvPr id="45" name="Chip · python -X utf8 tools/verify_signals.py"/>
          <p:cNvSpPr/>
          <p:nvPr/>
        </p:nvSpPr>
        <p:spPr>
          <a:xfrm>
            <a:off x="7528763" y="5852160"/>
            <a:ext cx="3794252" cy="310896"/>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hip text"/>
          <p:cNvSpPr txBox="1"/>
          <p:nvPr/>
        </p:nvSpPr>
        <p:spPr>
          <a:xfrm>
            <a:off x="7665923" y="5852160"/>
            <a:ext cx="3519932"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ECE8FA"/>
                </a:solidFill>
                <a:latin typeface="JetBrains Mono" pitchFamily="49" charset="0"/>
              </a:rPr>
              <a:t>python -X utf8 tools/verify_signals.py</a:t>
            </a:r>
          </a:p>
        </p:txBody>
      </p:sp>
      <p:sp>
        <p:nvSpPr>
          <p:cNvPr id="47"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48"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theme/theme1.xml><?xml version="1.0" encoding="utf-8"?>
<a:theme xmlns:a="http://schemas.openxmlformats.org/drawingml/2006/main" name="Fabius">
  <a:themeElements>
    <a:clrScheme name="Fabius">
      <a:dk1>
        <a:srgbClr val="0F0B26"/>
      </a:dk1>
      <a:lt1>
        <a:srgbClr val="ECE8FA"/>
      </a:lt1>
      <a:dk2>
        <a:srgbClr val="1A1442"/>
      </a:dk2>
      <a:lt2>
        <a:srgbClr val="DDD5F6"/>
      </a:lt2>
      <a:accent1>
        <a:srgbClr val="6E4BFF"/>
      </a:accent1>
      <a:accent2>
        <a:srgbClr val="9D86FF"/>
      </a:accent2>
      <a:accent3>
        <a:srgbClr val="C9BDF2"/>
      </a:accent3>
      <a:accent4>
        <a:srgbClr val="8B86A6"/>
      </a:accent4>
      <a:accent5>
        <a:srgbClr val="FF5A6E"/>
      </a:accent5>
      <a:accent6>
        <a:srgbClr val="2A1F7A"/>
      </a:accent6>
      <a:hlink>
        <a:srgbClr val="9D86FF"/>
      </a:hlink>
      <a:folHlink>
        <a:srgbClr val="C9BDF2"/>
      </a:folHlink>
    </a:clrScheme>
    <a:fontScheme name="Fabius">
      <a:majorFont>
        <a:latin typeface="Archiv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Fabius: Submission Deck</dc:title>
  <dc:subject>Open platform for bots and AI agents: every signal committed on BNB Chain before the outcome, sold per call over x402 and MCP.</dc:subject>
  <dc:creator>Fabius</dc:creator>
  <cp:keywords>Fabius, BNB Chain, x402, MCP, ERC-8004, commit-reveal, AI agents, paper trading</cp:keywords>
  <dc:description>Generated from vault/13-SubmmisionsDocs (one markdown file per slide) by build/build_deck.py</dc:description>
  <cp:lastModifiedBy>Fabius</cp:lastModifiedBy>
  <cp:revision>1</cp:revision>
  <dcterms:created xsi:type="dcterms:W3CDTF">2026-10-07T12:00:00Z</dcterms:created>
  <dcterms:modified xsi:type="dcterms:W3CDTF">2026-10-07T12:00:00Z</dcterms:modified>
  <cp:category/>
  <dc:language>en-US</dc:language>
</cp:coreProperties>
</file>